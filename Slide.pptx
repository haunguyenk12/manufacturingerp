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Bold" charset="1" panose="00000000000000000000"/>
      <p:regular r:id="rId16"/>
    </p:embeddedFont>
    <p:embeddedFont>
      <p:font typeface="DM Sans" charset="1" panose="00000000000000000000"/>
      <p:regular r:id="rId17"/>
    </p:embeddedFont>
    <p:embeddedFont>
      <p:font typeface="Libre Baskerville Italics" charset="1" panose="02000000000000000000"/>
      <p:regular r:id="rId18"/>
    </p:embeddedFont>
    <p:embeddedFont>
      <p:font typeface="Libre Baskerville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1508" y="0"/>
            <a:ext cx="5116492" cy="10287000"/>
            <a:chOff x="0" y="0"/>
            <a:chExt cx="13475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75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7554">
                  <a:moveTo>
                    <a:pt x="0" y="0"/>
                  </a:moveTo>
                  <a:lnTo>
                    <a:pt x="1347554" y="0"/>
                  </a:lnTo>
                  <a:lnTo>
                    <a:pt x="13475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40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755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64133" y="1267935"/>
            <a:ext cx="731242" cy="1075355"/>
          </a:xfrm>
          <a:custGeom>
            <a:avLst/>
            <a:gdLst/>
            <a:ahLst/>
            <a:cxnLst/>
            <a:rect r="r" b="b" t="t" l="l"/>
            <a:pathLst>
              <a:path h="1075355" w="731242">
                <a:moveTo>
                  <a:pt x="0" y="0"/>
                </a:moveTo>
                <a:lnTo>
                  <a:pt x="731242" y="0"/>
                </a:lnTo>
                <a:lnTo>
                  <a:pt x="731242" y="1075355"/>
                </a:lnTo>
                <a:lnTo>
                  <a:pt x="0" y="107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4450" y="1736564"/>
            <a:ext cx="8453101" cy="220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02"/>
              </a:lnSpc>
            </a:pPr>
            <a:r>
              <a:rPr lang="en-US" sz="12787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7921942"/>
            <a:ext cx="6230943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Solutions for Southeast Asia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1568" y="8692198"/>
            <a:ext cx="332773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31568" y="8026735"/>
            <a:ext cx="332773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Jakarta, Indonesia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00208" y="2381390"/>
            <a:ext cx="305909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Company Name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1172685"/>
            <a:ext cx="9083970" cy="82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Small Business Empowerment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314450" y="3961620"/>
            <a:ext cx="11207532" cy="0"/>
          </a:xfrm>
          <a:prstGeom prst="line">
            <a:avLst/>
          </a:prstGeom>
          <a:ln cap="flat" w="38100">
            <a:solidFill>
              <a:srgbClr val="13407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450" y="654877"/>
            <a:ext cx="10931351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Vision and Mission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25693" y="2247756"/>
            <a:ext cx="3377916" cy="177827"/>
            <a:chOff x="0" y="0"/>
            <a:chExt cx="889657" cy="46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4450" y="2872814"/>
            <a:ext cx="409177" cy="4091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4450" y="5617699"/>
            <a:ext cx="409177" cy="4091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4011" y="9830140"/>
            <a:ext cx="18312011" cy="460672"/>
            <a:chOff x="0" y="0"/>
            <a:chExt cx="4822917" cy="1213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22916" cy="121329"/>
            </a:xfrm>
            <a:custGeom>
              <a:avLst/>
              <a:gdLst/>
              <a:ahLst/>
              <a:cxnLst/>
              <a:rect r="r" b="b" t="t" l="l"/>
              <a:pathLst>
                <a:path h="121329" w="4822916">
                  <a:moveTo>
                    <a:pt x="0" y="0"/>
                  </a:moveTo>
                  <a:lnTo>
                    <a:pt x="4822916" y="0"/>
                  </a:lnTo>
                  <a:lnTo>
                    <a:pt x="4822916" y="121329"/>
                  </a:lnTo>
                  <a:lnTo>
                    <a:pt x="0" y="121329"/>
                  </a:lnTo>
                  <a:close/>
                </a:path>
              </a:pathLst>
            </a:custGeom>
            <a:solidFill>
              <a:srgbClr val="13407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822917" cy="168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09564" y="2716087"/>
            <a:ext cx="143425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Vision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9564" y="5460973"/>
            <a:ext cx="152310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Mision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450" y="3540009"/>
            <a:ext cx="15944850" cy="1471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To become the leading digital platform that transforms how small businesses in Southeast Asia operate, helping them achieve long-term sustainability, independence, and inclusive economic growth.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4450" y="6288378"/>
            <a:ext cx="5465676" cy="48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We pursue this vision by: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4450" y="7122131"/>
            <a:ext cx="533400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02" indent="-23750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Providing user-friendly digital tools that simplify daily operations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35601" y="7122131"/>
            <a:ext cx="5334000" cy="1163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02" indent="-23750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Offering affordable subscription models for micro and small businesses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60101" y="7122131"/>
            <a:ext cx="533400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02" indent="-23750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Delivering real-time analytics to support strategic decisions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4450" y="8432803"/>
            <a:ext cx="533400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02" indent="-23750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Building mobile-first, offline-accessible systems for remote areas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35601" y="8432803"/>
            <a:ext cx="5334000" cy="77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002" indent="-23750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Partnering with financial and telecom institutions to expand access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8596" y="3241363"/>
            <a:ext cx="2849637" cy="284963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114300" cap="sq">
              <a:solidFill>
                <a:srgbClr val="8DA9C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48180" y="3241363"/>
            <a:ext cx="2849637" cy="284963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00" t="0" r="-25000" b="0"/>
              </a:stretch>
            </a:blipFill>
            <a:ln w="114300" cap="sq">
              <a:solidFill>
                <a:srgbClr val="8DA9C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64359" y="3241363"/>
            <a:ext cx="2849637" cy="28496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06" r="0" b="-24906"/>
              </a:stretch>
            </a:blipFill>
            <a:ln w="114300" cap="sq">
              <a:solidFill>
                <a:srgbClr val="8DA9C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680538" y="3241363"/>
            <a:ext cx="2849637" cy="284963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25000" t="0" r="-25000" b="0"/>
              </a:stretch>
            </a:blipFill>
            <a:ln w="114300" cap="sq">
              <a:solidFill>
                <a:srgbClr val="8DA9C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14450" y="654877"/>
            <a:ext cx="8786812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Meet the Team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63693" y="2247756"/>
            <a:ext cx="3377916" cy="177827"/>
            <a:chOff x="0" y="0"/>
            <a:chExt cx="889657" cy="468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740086" y="829086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6" y="0"/>
                </a:lnTo>
                <a:lnTo>
                  <a:pt x="4402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6531954"/>
            <a:ext cx="344942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J</a:t>
            </a: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ohn Doe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48284" y="6531954"/>
            <a:ext cx="344942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Brandon Gen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1859" y="7128940"/>
            <a:ext cx="3043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(C</a:t>
            </a: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hief Executive Officer)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51442" y="7128940"/>
            <a:ext cx="3043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(C</a:t>
            </a: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hief Technology Officer)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804141"/>
            <a:ext cx="344942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Over 10 y</a:t>
            </a: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ears of experience in business operations and digital consulting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48284" y="7804141"/>
            <a:ext cx="344942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Expert in scalabl</a:t>
            </a: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e cloud architecture and mobile-first development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64463" y="6531954"/>
            <a:ext cx="344942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Sarah J</a:t>
            </a: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ohnson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67622" y="7128940"/>
            <a:ext cx="3043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(H</a:t>
            </a: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ead of Marketing)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64463" y="7804141"/>
            <a:ext cx="344942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Track r</a:t>
            </a: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ecord in growth marketing, user acquisition, and brand development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80642" y="6531954"/>
            <a:ext cx="344942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A</a:t>
            </a:r>
            <a:r>
              <a:rPr lang="en-US" b="true" sz="2600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hmad Fauzi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83801" y="7128940"/>
            <a:ext cx="3043112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(Head of Product Design)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80642" y="7804141"/>
            <a:ext cx="3449429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Specializ</a:t>
            </a:r>
            <a:r>
              <a:rPr lang="en-US" sz="1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es in user-centered design, UX strategy, and cross-functional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450" y="3518092"/>
            <a:ext cx="3377916" cy="177827"/>
            <a:chOff x="0" y="0"/>
            <a:chExt cx="889657" cy="46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14450" y="5114925"/>
            <a:ext cx="848480" cy="864819"/>
          </a:xfrm>
          <a:custGeom>
            <a:avLst/>
            <a:gdLst/>
            <a:ahLst/>
            <a:cxnLst/>
            <a:rect r="r" b="b" t="t" l="l"/>
            <a:pathLst>
              <a:path h="864819" w="848480">
                <a:moveTo>
                  <a:pt x="0" y="0"/>
                </a:moveTo>
                <a:lnTo>
                  <a:pt x="848480" y="0"/>
                </a:lnTo>
                <a:lnTo>
                  <a:pt x="848480" y="864819"/>
                </a:lnTo>
                <a:lnTo>
                  <a:pt x="0" y="86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60928" y="5114925"/>
            <a:ext cx="848480" cy="864819"/>
          </a:xfrm>
          <a:custGeom>
            <a:avLst/>
            <a:gdLst/>
            <a:ahLst/>
            <a:cxnLst/>
            <a:rect r="r" b="b" t="t" l="l"/>
            <a:pathLst>
              <a:path h="864819" w="848480">
                <a:moveTo>
                  <a:pt x="0" y="0"/>
                </a:moveTo>
                <a:lnTo>
                  <a:pt x="848480" y="0"/>
                </a:lnTo>
                <a:lnTo>
                  <a:pt x="848480" y="864819"/>
                </a:lnTo>
                <a:lnTo>
                  <a:pt x="0" y="86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4450" y="1016827"/>
            <a:ext cx="8721557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Products and Services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6477000"/>
            <a:ext cx="318191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Point</a:t>
            </a: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 of Sale and Inventory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60928" y="6477000"/>
            <a:ext cx="31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Mobile</a:t>
            </a: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 Application for Field Agents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450" y="7735027"/>
            <a:ext cx="318191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Manages stock and transactions for small businesses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60928" y="8154127"/>
            <a:ext cx="318191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Enables order-taking, client tracking, and offline operations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809644" y="5114925"/>
            <a:ext cx="848480" cy="864819"/>
          </a:xfrm>
          <a:custGeom>
            <a:avLst/>
            <a:gdLst/>
            <a:ahLst/>
            <a:cxnLst/>
            <a:rect r="r" b="b" t="t" l="l"/>
            <a:pathLst>
              <a:path h="864819" w="848480">
                <a:moveTo>
                  <a:pt x="0" y="0"/>
                </a:moveTo>
                <a:lnTo>
                  <a:pt x="848479" y="0"/>
                </a:lnTo>
                <a:lnTo>
                  <a:pt x="848479" y="864819"/>
                </a:lnTo>
                <a:lnTo>
                  <a:pt x="0" y="86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09644" y="6477000"/>
            <a:ext cx="31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Busin</a:t>
            </a: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ess Intelligence 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9644" y="8154127"/>
            <a:ext cx="318191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Real-time insights on revenue, trends, and performance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58359" y="5114925"/>
            <a:ext cx="848480" cy="864819"/>
          </a:xfrm>
          <a:custGeom>
            <a:avLst/>
            <a:gdLst/>
            <a:ahLst/>
            <a:cxnLst/>
            <a:rect r="r" b="b" t="t" l="l"/>
            <a:pathLst>
              <a:path h="864819" w="848480">
                <a:moveTo>
                  <a:pt x="0" y="0"/>
                </a:moveTo>
                <a:lnTo>
                  <a:pt x="848480" y="0"/>
                </a:lnTo>
                <a:lnTo>
                  <a:pt x="848480" y="864819"/>
                </a:lnTo>
                <a:lnTo>
                  <a:pt x="0" y="86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4058359" y="6477000"/>
            <a:ext cx="318191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P</a:t>
            </a: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ayment System Integration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58359" y="7735027"/>
            <a:ext cx="318191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Works with regional digital wallets and payment gateways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649317" y="-2057400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6" y="0"/>
                </a:lnTo>
                <a:lnTo>
                  <a:pt x="4402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569391" y="3392804"/>
          <a:ext cx="15148412" cy="5331112"/>
        </p:xfrm>
        <a:graphic>
          <a:graphicData uri="http://schemas.openxmlformats.org/drawingml/2006/table">
            <a:tbl>
              <a:tblPr/>
              <a:tblGrid>
                <a:gridCol w="5049471"/>
                <a:gridCol w="5049471"/>
                <a:gridCol w="5049471"/>
              </a:tblGrid>
              <a:tr h="1332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Solution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Weaknesses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0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60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Our Strengths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9C4"/>
                    </a:solidFill>
                  </a:tcPr>
                </a:tc>
              </a:tr>
              <a:tr h="1332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Enterprise Systems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 setup, high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Easy onboarding, budget-friendly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2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Local ERP Tools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Urban-focused, internet-dependent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Rural-optimized, offline capability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2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Urban Platforms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Poor mobile experience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134074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Mobile-first, intuitive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344E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3087181" y="1016827"/>
            <a:ext cx="12113639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Competitor Analysis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049000" y="2298892"/>
            <a:ext cx="3377916" cy="177827"/>
            <a:chOff x="0" y="0"/>
            <a:chExt cx="889657" cy="468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-1502751" y="9402398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6" y="0"/>
                </a:lnTo>
                <a:lnTo>
                  <a:pt x="4402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48075" y="1016827"/>
            <a:ext cx="11591851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Market Opportunities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55042" y="3581256"/>
            <a:ext cx="3377916" cy="177827"/>
            <a:chOff x="0" y="0"/>
            <a:chExt cx="889657" cy="46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30468" y="7355936"/>
            <a:ext cx="1548754" cy="1607198"/>
          </a:xfrm>
          <a:custGeom>
            <a:avLst/>
            <a:gdLst/>
            <a:ahLst/>
            <a:cxnLst/>
            <a:rect r="r" b="b" t="t" l="l"/>
            <a:pathLst>
              <a:path h="1607198" w="1548754">
                <a:moveTo>
                  <a:pt x="0" y="0"/>
                </a:moveTo>
                <a:lnTo>
                  <a:pt x="1548754" y="0"/>
                </a:lnTo>
                <a:lnTo>
                  <a:pt x="1548754" y="1607198"/>
                </a:lnTo>
                <a:lnTo>
                  <a:pt x="0" y="1607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70734" y="7352222"/>
            <a:ext cx="1605818" cy="1614625"/>
          </a:xfrm>
          <a:custGeom>
            <a:avLst/>
            <a:gdLst/>
            <a:ahLst/>
            <a:cxnLst/>
            <a:rect r="r" b="b" t="t" l="l"/>
            <a:pathLst>
              <a:path h="1614625" w="1605818">
                <a:moveTo>
                  <a:pt x="0" y="0"/>
                </a:moveTo>
                <a:lnTo>
                  <a:pt x="1605818" y="0"/>
                </a:lnTo>
                <a:lnTo>
                  <a:pt x="1605818" y="1614625"/>
                </a:lnTo>
                <a:lnTo>
                  <a:pt x="0" y="1614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330468" y="4880594"/>
            <a:ext cx="2021458" cy="140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8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60+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0734" y="4880594"/>
            <a:ext cx="2302594" cy="140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8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80%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5562" y="5022199"/>
            <a:ext cx="47625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60+ million small businesses in Southeast Asia remain underserved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5032" y="5022199"/>
            <a:ext cx="47625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Tier 2 and Tier 3 regions have over 80% smartphone adoption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25562" y="7298786"/>
            <a:ext cx="4762500" cy="97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Digital transformation is a regional government priority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5032" y="7298786"/>
            <a:ext cx="4762500" cy="147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34074"/>
                </a:solidFill>
                <a:latin typeface="DM Sans"/>
                <a:ea typeface="DM Sans"/>
                <a:cs typeface="DM Sans"/>
                <a:sym typeface="DM Sans"/>
              </a:rPr>
              <a:t>Growing demand for automation, digital finance, and analytics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-1523774" y="-2387259"/>
            <a:ext cx="4402996" cy="4114800"/>
          </a:xfrm>
          <a:custGeom>
            <a:avLst/>
            <a:gdLst/>
            <a:ahLst/>
            <a:cxnLst/>
            <a:rect r="r" b="b" t="t" l="l"/>
            <a:pathLst>
              <a:path h="4114800" w="4402996">
                <a:moveTo>
                  <a:pt x="0" y="0"/>
                </a:moveTo>
                <a:lnTo>
                  <a:pt x="4402996" y="0"/>
                </a:lnTo>
                <a:lnTo>
                  <a:pt x="44029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450" y="654877"/>
            <a:ext cx="679340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Market Size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58693" y="2247756"/>
            <a:ext cx="3377916" cy="177827"/>
            <a:chOff x="0" y="0"/>
            <a:chExt cx="889657" cy="46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4450" y="3704781"/>
            <a:ext cx="7829550" cy="782955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407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52099" y="5780079"/>
            <a:ext cx="5754252" cy="575425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A9C4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9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89748" y="7855376"/>
            <a:ext cx="3678955" cy="367895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407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290571" y="8943173"/>
            <a:ext cx="1877308" cy="78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3"/>
              </a:lnSpc>
              <a:spcBef>
                <a:spcPct val="0"/>
              </a:spcBef>
            </a:pPr>
            <a:r>
              <a:rPr lang="en-US" sz="463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200 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90571" y="6613694"/>
            <a:ext cx="1877308" cy="78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3"/>
              </a:lnSpc>
              <a:spcBef>
                <a:spcPct val="0"/>
              </a:spcBef>
            </a:pPr>
            <a:r>
              <a:rPr lang="en-US" sz="463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3.5 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90571" y="4280473"/>
            <a:ext cx="1877308" cy="78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3"/>
              </a:lnSpc>
              <a:spcBef>
                <a:spcPct val="0"/>
              </a:spcBef>
            </a:pPr>
            <a:r>
              <a:rPr lang="en-US" sz="463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 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44688" y="3277161"/>
            <a:ext cx="3741782" cy="11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Total Addressable Market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8160" y="1057275"/>
            <a:ext cx="3741782" cy="547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Revenue Model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44688" y="5364406"/>
            <a:ext cx="3741782" cy="11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Serviceable Available Market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44688" y="4589245"/>
            <a:ext cx="48057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12 billi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 United States dollars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48160" y="1805189"/>
            <a:ext cx="480570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Monthly subscripti</a:t>
            </a:r>
            <a:r>
              <a:rPr lang="en-US" sz="2199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ons, paid features, and API integrations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44688" y="6676490"/>
            <a:ext cx="48057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3.5 billi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 United States dollars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44688" y="7449286"/>
            <a:ext cx="3741782" cy="110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Serviceable Obtainable Market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44688" y="8761370"/>
            <a:ext cx="480570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200 milli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 United States dollars within 3 years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450" y="835852"/>
            <a:ext cx="8660958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14450" y="3729689"/>
            <a:ext cx="3377916" cy="177827"/>
            <a:chOff x="0" y="0"/>
            <a:chExt cx="889657" cy="4683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642771" y="1146717"/>
            <a:ext cx="8352809" cy="8835368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14450" y="4652327"/>
            <a:ext cx="393285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150K USD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83054" y="4652327"/>
            <a:ext cx="393285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4.60 USD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450" y="6269330"/>
            <a:ext cx="393285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7,200+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83054" y="6269330"/>
            <a:ext cx="393285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92.10 USD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4450" y="5575597"/>
            <a:ext cx="39328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onthly recurring revenue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3054" y="5575597"/>
            <a:ext cx="39328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Cus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tomer acquisition cost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4450" y="7192601"/>
            <a:ext cx="39328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tive paying users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83054" y="7192601"/>
            <a:ext cx="39328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tive paying users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450" y="7886334"/>
            <a:ext cx="393285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45%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4450" y="8809604"/>
            <a:ext cx="393285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onthly user growth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986" y="2343006"/>
            <a:ext cx="3377916" cy="177827"/>
            <a:chOff x="0" y="0"/>
            <a:chExt cx="889657" cy="468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7800" y="5319638"/>
            <a:ext cx="2667186" cy="152400"/>
            <a:chOff x="0" y="0"/>
            <a:chExt cx="702469" cy="40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2469" cy="40138"/>
            </a:xfrm>
            <a:custGeom>
              <a:avLst/>
              <a:gdLst/>
              <a:ahLst/>
              <a:cxnLst/>
              <a:rect r="r" b="b" t="t" l="l"/>
              <a:pathLst>
                <a:path h="40138" w="702469">
                  <a:moveTo>
                    <a:pt x="0" y="0"/>
                  </a:moveTo>
                  <a:lnTo>
                    <a:pt x="702469" y="0"/>
                  </a:lnTo>
                  <a:lnTo>
                    <a:pt x="702469" y="40138"/>
                  </a:lnTo>
                  <a:lnTo>
                    <a:pt x="0" y="40138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2469" cy="78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24717" y="5319638"/>
            <a:ext cx="2667186" cy="152400"/>
            <a:chOff x="0" y="0"/>
            <a:chExt cx="702469" cy="40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2469" cy="40138"/>
            </a:xfrm>
            <a:custGeom>
              <a:avLst/>
              <a:gdLst/>
              <a:ahLst/>
              <a:cxnLst/>
              <a:rect r="r" b="b" t="t" l="l"/>
              <a:pathLst>
                <a:path h="40138" w="702469">
                  <a:moveTo>
                    <a:pt x="0" y="0"/>
                  </a:moveTo>
                  <a:lnTo>
                    <a:pt x="702469" y="0"/>
                  </a:lnTo>
                  <a:lnTo>
                    <a:pt x="702469" y="40138"/>
                  </a:lnTo>
                  <a:lnTo>
                    <a:pt x="0" y="40138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02469" cy="78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4011402"/>
            <a:ext cx="16087437" cy="0"/>
          </a:xfrm>
          <a:prstGeom prst="line">
            <a:avLst/>
          </a:prstGeom>
          <a:ln cap="flat" w="38100">
            <a:solidFill>
              <a:srgbClr val="134074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1314450" y="3882939"/>
            <a:ext cx="266700" cy="266700"/>
            <a:chOff x="0" y="0"/>
            <a:chExt cx="679954" cy="6799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9954" cy="679954"/>
            </a:xfrm>
            <a:custGeom>
              <a:avLst/>
              <a:gdLst/>
              <a:ahLst/>
              <a:cxnLst/>
              <a:rect r="r" b="b" t="t" l="l"/>
              <a:pathLst>
                <a:path h="679954" w="679954">
                  <a:moveTo>
                    <a:pt x="339977" y="0"/>
                  </a:moveTo>
                  <a:cubicBezTo>
                    <a:pt x="152213" y="0"/>
                    <a:pt x="0" y="152213"/>
                    <a:pt x="0" y="339977"/>
                  </a:cubicBezTo>
                  <a:cubicBezTo>
                    <a:pt x="0" y="527741"/>
                    <a:pt x="152213" y="679954"/>
                    <a:pt x="339977" y="679954"/>
                  </a:cubicBezTo>
                  <a:cubicBezTo>
                    <a:pt x="527741" y="679954"/>
                    <a:pt x="679954" y="527741"/>
                    <a:pt x="679954" y="339977"/>
                  </a:cubicBezTo>
                  <a:cubicBezTo>
                    <a:pt x="679954" y="152213"/>
                    <a:pt x="527741" y="0"/>
                    <a:pt x="339977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63746" y="16121"/>
              <a:ext cx="552463" cy="600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991367" y="3882939"/>
            <a:ext cx="266700" cy="266700"/>
            <a:chOff x="0" y="0"/>
            <a:chExt cx="679954" cy="6799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9954" cy="679954"/>
            </a:xfrm>
            <a:custGeom>
              <a:avLst/>
              <a:gdLst/>
              <a:ahLst/>
              <a:cxnLst/>
              <a:rect r="r" b="b" t="t" l="l"/>
              <a:pathLst>
                <a:path h="679954" w="679954">
                  <a:moveTo>
                    <a:pt x="339977" y="0"/>
                  </a:moveTo>
                  <a:cubicBezTo>
                    <a:pt x="152213" y="0"/>
                    <a:pt x="0" y="152213"/>
                    <a:pt x="0" y="339977"/>
                  </a:cubicBezTo>
                  <a:cubicBezTo>
                    <a:pt x="0" y="527741"/>
                    <a:pt x="152213" y="679954"/>
                    <a:pt x="339977" y="679954"/>
                  </a:cubicBezTo>
                  <a:cubicBezTo>
                    <a:pt x="527741" y="679954"/>
                    <a:pt x="679954" y="527741"/>
                    <a:pt x="679954" y="339977"/>
                  </a:cubicBezTo>
                  <a:cubicBezTo>
                    <a:pt x="679954" y="152213"/>
                    <a:pt x="527741" y="0"/>
                    <a:pt x="339977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63746" y="16121"/>
              <a:ext cx="552463" cy="600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70358" y="3882939"/>
            <a:ext cx="266700" cy="266700"/>
            <a:chOff x="0" y="0"/>
            <a:chExt cx="679954" cy="6799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9954" cy="679954"/>
            </a:xfrm>
            <a:custGeom>
              <a:avLst/>
              <a:gdLst/>
              <a:ahLst/>
              <a:cxnLst/>
              <a:rect r="r" b="b" t="t" l="l"/>
              <a:pathLst>
                <a:path h="679954" w="679954">
                  <a:moveTo>
                    <a:pt x="339977" y="0"/>
                  </a:moveTo>
                  <a:cubicBezTo>
                    <a:pt x="152213" y="0"/>
                    <a:pt x="0" y="152213"/>
                    <a:pt x="0" y="339977"/>
                  </a:cubicBezTo>
                  <a:cubicBezTo>
                    <a:pt x="0" y="527741"/>
                    <a:pt x="152213" y="679954"/>
                    <a:pt x="339977" y="679954"/>
                  </a:cubicBezTo>
                  <a:cubicBezTo>
                    <a:pt x="527741" y="679954"/>
                    <a:pt x="679954" y="527741"/>
                    <a:pt x="679954" y="339977"/>
                  </a:cubicBezTo>
                  <a:cubicBezTo>
                    <a:pt x="679954" y="152213"/>
                    <a:pt x="527741" y="0"/>
                    <a:pt x="339977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63746" y="16121"/>
              <a:ext cx="552463" cy="600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9349" y="3882939"/>
            <a:ext cx="266700" cy="266700"/>
            <a:chOff x="0" y="0"/>
            <a:chExt cx="679954" cy="6799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9954" cy="679954"/>
            </a:xfrm>
            <a:custGeom>
              <a:avLst/>
              <a:gdLst/>
              <a:ahLst/>
              <a:cxnLst/>
              <a:rect r="r" b="b" t="t" l="l"/>
              <a:pathLst>
                <a:path h="679954" w="679954">
                  <a:moveTo>
                    <a:pt x="339977" y="0"/>
                  </a:moveTo>
                  <a:cubicBezTo>
                    <a:pt x="152213" y="0"/>
                    <a:pt x="0" y="152213"/>
                    <a:pt x="0" y="339977"/>
                  </a:cubicBezTo>
                  <a:cubicBezTo>
                    <a:pt x="0" y="527741"/>
                    <a:pt x="152213" y="679954"/>
                    <a:pt x="339977" y="679954"/>
                  </a:cubicBezTo>
                  <a:cubicBezTo>
                    <a:pt x="527741" y="679954"/>
                    <a:pt x="679954" y="527741"/>
                    <a:pt x="679954" y="339977"/>
                  </a:cubicBezTo>
                  <a:cubicBezTo>
                    <a:pt x="679954" y="152213"/>
                    <a:pt x="527741" y="0"/>
                    <a:pt x="339977" y="0"/>
                  </a:cubicBez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63746" y="16121"/>
              <a:ext cx="552463" cy="600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0" y="9622291"/>
            <a:ext cx="18288000" cy="760105"/>
            <a:chOff x="0" y="0"/>
            <a:chExt cx="4816593" cy="2001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16592" cy="200192"/>
            </a:xfrm>
            <a:custGeom>
              <a:avLst/>
              <a:gdLst/>
              <a:ahLst/>
              <a:cxnLst/>
              <a:rect r="r" b="b" t="t" l="l"/>
              <a:pathLst>
                <a:path h="20019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0192"/>
                  </a:lnTo>
                  <a:lnTo>
                    <a:pt x="0" y="200192"/>
                  </a:lnTo>
                  <a:close/>
                </a:path>
              </a:pathLst>
            </a:custGeom>
            <a:solidFill>
              <a:srgbClr val="134074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816593" cy="247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14450" y="654877"/>
            <a:ext cx="5601072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Roadmap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47800" y="4688947"/>
            <a:ext cx="18121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uarter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24717" y="4688947"/>
            <a:ext cx="18121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uarter 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7800" y="5764165"/>
            <a:ext cx="230739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2025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24717" y="5764165"/>
            <a:ext cx="230739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2025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7800" y="6416186"/>
            <a:ext cx="230739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Launch AI-based inventory and sales forecasting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24717" y="6416186"/>
            <a:ext cx="230739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Expand to Malaysia and the Philippines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03708" y="4688947"/>
            <a:ext cx="18121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ear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803708" y="5764165"/>
            <a:ext cx="230739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2026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03708" y="6416186"/>
            <a:ext cx="2307391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Reach 100,000 users and 5 million United States dollars in annual revenue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82699" y="4688947"/>
            <a:ext cx="181219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Ye</a:t>
            </a:r>
            <a:r>
              <a:rPr lang="en-US" sz="2199">
                <a:solidFill>
                  <a:srgbClr val="13407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82699" y="5764165"/>
            <a:ext cx="230739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2027–2028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82699" y="6416186"/>
            <a:ext cx="230739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Prepare for public listing or acquisition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801634" y="5319638"/>
            <a:ext cx="2667186" cy="152400"/>
            <a:chOff x="0" y="0"/>
            <a:chExt cx="702469" cy="401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2469" cy="40138"/>
            </a:xfrm>
            <a:custGeom>
              <a:avLst/>
              <a:gdLst/>
              <a:ahLst/>
              <a:cxnLst/>
              <a:rect r="r" b="b" t="t" l="l"/>
              <a:pathLst>
                <a:path h="40138" w="702469">
                  <a:moveTo>
                    <a:pt x="0" y="0"/>
                  </a:moveTo>
                  <a:lnTo>
                    <a:pt x="702469" y="0"/>
                  </a:lnTo>
                  <a:lnTo>
                    <a:pt x="702469" y="40138"/>
                  </a:lnTo>
                  <a:lnTo>
                    <a:pt x="0" y="40138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02469" cy="78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78551" y="5319638"/>
            <a:ext cx="2667186" cy="152400"/>
            <a:chOff x="0" y="0"/>
            <a:chExt cx="702469" cy="4013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2469" cy="40138"/>
            </a:xfrm>
            <a:custGeom>
              <a:avLst/>
              <a:gdLst/>
              <a:ahLst/>
              <a:cxnLst/>
              <a:rect r="r" b="b" t="t" l="l"/>
              <a:pathLst>
                <a:path h="40138" w="702469">
                  <a:moveTo>
                    <a:pt x="0" y="0"/>
                  </a:moveTo>
                  <a:lnTo>
                    <a:pt x="702469" y="0"/>
                  </a:lnTo>
                  <a:lnTo>
                    <a:pt x="702469" y="40138"/>
                  </a:lnTo>
                  <a:lnTo>
                    <a:pt x="0" y="40138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702469" cy="78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1508" y="0"/>
            <a:ext cx="5116492" cy="10287000"/>
            <a:chOff x="0" y="0"/>
            <a:chExt cx="13475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7554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47554">
                  <a:moveTo>
                    <a:pt x="0" y="0"/>
                  </a:moveTo>
                  <a:lnTo>
                    <a:pt x="1347554" y="0"/>
                  </a:lnTo>
                  <a:lnTo>
                    <a:pt x="134755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3407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755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64133" y="1267935"/>
            <a:ext cx="731242" cy="1075355"/>
          </a:xfrm>
          <a:custGeom>
            <a:avLst/>
            <a:gdLst/>
            <a:ahLst/>
            <a:cxnLst/>
            <a:rect r="r" b="b" t="t" l="l"/>
            <a:pathLst>
              <a:path h="1075355" w="731242">
                <a:moveTo>
                  <a:pt x="0" y="0"/>
                </a:moveTo>
                <a:lnTo>
                  <a:pt x="731242" y="0"/>
                </a:lnTo>
                <a:lnTo>
                  <a:pt x="731242" y="1075355"/>
                </a:lnTo>
                <a:lnTo>
                  <a:pt x="0" y="107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4450" y="1736564"/>
            <a:ext cx="6436074" cy="2206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02"/>
              </a:lnSpc>
            </a:pPr>
            <a:r>
              <a:rPr lang="en-US" sz="12787" b="true">
                <a:solidFill>
                  <a:srgbClr val="134074"/>
                </a:solidFill>
                <a:latin typeface="DM Sans Bold"/>
                <a:ea typeface="DM Sans Bold"/>
                <a:cs typeface="DM Sans Bold"/>
                <a:sym typeface="DM Sans Bold"/>
              </a:rPr>
              <a:t>Contact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08190" y="3764742"/>
            <a:ext cx="3377916" cy="177827"/>
            <a:chOff x="0" y="0"/>
            <a:chExt cx="889657" cy="468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657" cy="46835"/>
            </a:xfrm>
            <a:custGeom>
              <a:avLst/>
              <a:gdLst/>
              <a:ahLst/>
              <a:cxnLst/>
              <a:rect r="r" b="b" t="t" l="l"/>
              <a:pathLst>
                <a:path h="46835" w="889657">
                  <a:moveTo>
                    <a:pt x="0" y="0"/>
                  </a:moveTo>
                  <a:lnTo>
                    <a:pt x="889657" y="0"/>
                  </a:lnTo>
                  <a:lnTo>
                    <a:pt x="889657" y="46835"/>
                  </a:lnTo>
                  <a:lnTo>
                    <a:pt x="0" y="46835"/>
                  </a:lnTo>
                  <a:close/>
                </a:path>
              </a:pathLst>
            </a:custGeom>
            <a:solidFill>
              <a:srgbClr val="8DA9C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89657" cy="84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931568" y="8692198"/>
            <a:ext cx="332773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May 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31568" y="8026735"/>
            <a:ext cx="332773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Jakarta, Indonesia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00208" y="2381390"/>
            <a:ext cx="3059092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Company Name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4450" y="1172685"/>
            <a:ext cx="9083970" cy="82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i="true">
                <a:solidFill>
                  <a:srgbClr val="134074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Information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450" y="5077008"/>
            <a:ext cx="2469133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3315C"/>
                </a:solidFill>
                <a:latin typeface="DM Sans Bold"/>
                <a:ea typeface="DM Sans Bold"/>
                <a:cs typeface="DM Sans Bold"/>
                <a:sym typeface="DM Sans Bold"/>
              </a:rPr>
              <a:t>+123-456-7890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450" y="6096700"/>
            <a:ext cx="396091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3315C"/>
                </a:solidFill>
                <a:latin typeface="DM Sans Bold"/>
                <a:ea typeface="DM Sans Bold"/>
                <a:cs typeface="DM Sans Bold"/>
                <a:sym typeface="DM Sans Bold"/>
              </a:rPr>
              <a:t>www.reallygreatsite.com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4450" y="7115113"/>
            <a:ext cx="4207892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3315C"/>
                </a:solidFill>
                <a:latin typeface="DM Sans Bold"/>
                <a:ea typeface="DM Sans Bold"/>
                <a:cs typeface="DM Sans Bold"/>
                <a:sym typeface="DM Sans Bold"/>
              </a:rPr>
              <a:t>hello@reallygreatsite.com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450" y="4740966"/>
            <a:ext cx="162996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13315C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Mobile Number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4450" y="5760659"/>
            <a:ext cx="792584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13315C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Website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4450" y="6779071"/>
            <a:ext cx="150762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13315C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Email Address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4450" y="8133525"/>
            <a:ext cx="265174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3315C"/>
                </a:solidFill>
                <a:latin typeface="DM Sans Bold"/>
                <a:ea typeface="DM Sans Bold"/>
                <a:cs typeface="DM Sans Bold"/>
                <a:sym typeface="DM Sans Bold"/>
              </a:rPr>
              <a:t>@reallygreatsite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4450" y="9151938"/>
            <a:ext cx="572512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13315C"/>
                </a:solidFill>
                <a:latin typeface="DM Sans Bold"/>
                <a:ea typeface="DM Sans Bold"/>
                <a:cs typeface="DM Sans Bold"/>
                <a:sym typeface="DM Sans Bold"/>
              </a:rPr>
              <a:t>123 Anywhere St., Any City, ST 12345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4450" y="7797484"/>
            <a:ext cx="220741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13315C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Social Media Handle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4450" y="8815896"/>
            <a:ext cx="1727076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i="true">
                <a:solidFill>
                  <a:srgbClr val="13315C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Physical Address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DAHR28g6FoA</dc:identifier>
  <dcterms:modified xsi:type="dcterms:W3CDTF">2011-08-01T06:04:30Z</dcterms:modified>
  <cp:revision>1</cp:revision>
</cp:coreProperties>
</file>