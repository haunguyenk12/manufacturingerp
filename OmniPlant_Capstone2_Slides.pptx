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20s. Good morning. We present OmniPlant, a manufacturing ERP for small and medium factories. In Capstone 1 we produced the analysis and the UI prototype. In Capstone 2 we turned it into a production loop that actually runs - from a customer order through to a finished lot cleared by quality control.
Add one sentence about the structure: 'The talk is about 15 minutes, then we would like to play a 5-minute demo clip so you can see the system running.'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25s. Each person says ONE sentence about themselves.
BE: 'I am Hau, backend developer - I build the APIs, the business rules, the database design and the security and authorization layer.'
The panel very often asks 'who did this part?'. State roles clearly up front so nobody stumbles later. If two people worked on a feature together, say so plainly.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min. Open with the pain, not with a definition of ERP.
1) The pain: a small factory asks a very simple question - 'do we have enough stock to accept this order?' - and usually cannot answer it. Stock says 100, but 60 is reserved and 20 is on quality hold. Really usable: 20.
2) The solution, one sentence: OmniPlant links order to planning to production to quality to inventory into one controlled document chain. Every step has an owner, a permission, a check, and is traceable backwards.
3) Users, fast: admin configures, production manager decides, warehouse and shop floor execute. Target scale: small and medium assembly plants that need tight control but cannot afford SAP.
4) The comparison - the punchline of this slide: SAP, Odoo and ERPNext all do this well. We are NOT competing on breadth. The gap is not 'no ERP exists', it is 'a huge platform is hard to adopt for a small team that needs transparency'. So OmniPlant picks fewer concepts and makes each concept's rules explicit: which stock may be used, when a work order may run, who approves what, and how quality affects availability.
If asked 'why not just use ERPNext?': it is a general-purpose ERP; using it for one specific plant still needs significant customization - and once you customize, a small team loses control of its business rules. We deliberately follow standard industry concepts (BOM, work order, stock documents) so users do not have to learn a strange model, but we wrote it ourselves so every rule is explainable.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In Capstone 2 we completed ONE full production loop rather than half-building many things. From a confirmed order the system works out how much to produce, what materials are missing, and whether to make or buy. The proposal becomes a work order; materials are reserved, issued, output is reported, goods are received - and the goods must pass a quality gate before they count as usable AND before they are credited to the customer's order.
Push the right column - this earns goodwill: the right column is what we deliberately left out. We chose depth on one loop over breadth. In particular we do NOT simulate machine data.
Only if asked, the proof numbers: the demo dataset covers 8 work-order states, 4 receipt states and 6 sales-order states. One real planning run: 2 demands -&gt; 8 requirement lines -&gt; 6 shortages -&gt; 3 MAKE plus 3 BUY proposals.
Hand over: 'For that chain to have no gaps, the architecture has to put authority in the right place. I would like to hand over to Hau for the system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for this slide (architecture + authority).
ARCHITECTURE (60s): the backend uses a modular monolith - one deployable application, but internally split into business modules with hard boundaries. A module that wants another module's data must go through a defined service layer; it may not touch the other's database directly.
Why not microservices? Because an action like 'release a work order' must be simultaneously correct for material reservation and for stock. In a monolith that is one real ACID transaction - one thing wrong and the whole thing rolls back. With microservices that becomes a distributed transaction: far more complex, while the benefit of independent scaling is not yet needed at SME scale.
AUTHORITY (60s) - this is the point-scoring line: the most important principle is that the backend is the final authority. The UI blocks things early so users do not misclick, but every important rule is re-checked by the backend: plant-scoped permissions, work-order release conditions, available stock, approval rights, quality decisions. So if someone bypasses the UI and calls the API directly, they still cannot break any rule. The UI owns the experience; the backend owns correctness.
If asked 'is modular monolith just a monolith with a nicer name?': the difference is that the boundary is ENFORCED - a module never calls another module's database, only its public service. If we later need to split into microservices, the cut lines already exist.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Tell it as a story, following diagram 2.
A customer places an order. The order must be CONFIRMED before its demand enters planning - drafts do not take part.
Run planning: the system explodes the multi-level bill of material, subtracts available stock and goods already inbound, arrives at a shortage figure, then proposes either make-it-ourselves or buy-it.
A make proposal becomes a work order. At that moment the BOM and the routing are frozen as a snapshot into the order - so if engineering later edits the BOM, the old order is still explainable.
Materials must be 100% reserved before the order may be released. If short, the system puts the order into BLOCKED and states exactly how much is missing - it does not fail silently.
Materials are issued, the shop floor reports output and submits a goods receipt. When the manager approves it the goods enter the warehouse BUT on HOLD - not usable yet. Only when quality rules AVAILABLE do the goods become usable stock - and at that same moment they are credited to the original sales order. The loop closes.
BACKUP ANSWERS: concurrent edits - every document has a version number; whoever arrives with a stale one is rejected with 409 CONCURRENT_MODIFICATION, no silent overwrite. Double-click on a flaky network - an idempotency key stored on the document column with a database unique constraint, so a resend returns the original document. Can stock go negative - three layers: CHECK constraints in the database, an append-only ledger (corrections are offsetting rows, never deletions), and validation before writing. How do we know it is correct and not merely running - besides normal tests we deliberately break a line of production code and re-run to confirm exactly which test turns red; and integration tests run against a real PostgreSQL in Docker.
Hand over: 'That was the inside. Now let me show you how a real user actually works with the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 50s.
We start at login. As soon as you are in, the system knows which permissions this person has and WHICH PLANT they may work in.
(point at the two-menu image) Look at these two: the same system, but completely different menus. On the left a manager account - full planning, work orders, approvals. On the right a shop-floor account - only the screens they need to operate. Users never see a button that would only give them a permission-denied error.
On the administrator side there are four steps: create the account, create a role, tick the permissions for that role, then assign the role WITH A PLANT SCOPE to each person. All of it in the interface - no developer needed.
HOLD BACK unless asked: permissions are not hardcoded, they live in the database, so a new role needs no redeploy. A Company-level scope automatically covers all its Plants and Warehouses; a Warehouse-level scope does not leak to other warehouses. Separation of duties: whoever submits a goods receipt cannot approve their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1.5 min. This is the most important screen for a production manager.
Steps 1 and 2 are simple: open the planning screen, tick the confirmed orders you want to plan for, press Run planning. One button.
(point at the main image) Step 3 - this is what the system gives back. Each row is one material: how much is needed, how much is on hand, how much is inbound, and HOW MUCH IS SHORT. Importantly the system does not only calculate for the finished product - it goes all the way down the bill of material. Need 100 bicycles and it works out how many frames, how many wheels, and how many spokes per wheel.
Step 4 - each shortage line is tagged: this one we can make ourselves, that one we must buy. The manager reads the screen and knows immediately what has to happen.
Step 5 - the manager approves the make proposals, presses convert, and the system creates the matching work orders. Nothing is retyped - product, quantity and due date all carry over.
The value point: managers no longer plan in Excel. And every run is stored as an independent record, so you can go back later and see what the system proposed at the time and why.
HOLD BACK unless asked: the formula is required = max(0, demand + safety stock - (available + inbound)). BOM explosion is level by level, one query per level, so a deep tree is not slow. If the same material appears under two parents it is not double-allocated - consumed coverage is booked and the next line only draws from what is left. A makeable item with a missing BOM still appears, tagged BLOCKED with a reason, never silently dropped. A planning run is immutable - editing the order afterwards does not rewrite the history of an old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 1 min. After the proposal is approved the system creates a work order. Open it and you see everything: which product, how many, into which warehouse, and THE LIST OF MATERIALS NEEDED.
(point at the readiness table) The most important part is this table. Per material: how much is required, how much has been reserved, how much is still short. The user presses one button, Reserve materials, and the system goes and finds stock in the warehouse and holds it for this order - once held, another order cannot take it.
And here is the strictest rule on this screen: you must have 100% reserved before the Release button turns on. Short by even one item and the system moves the order to BLOCKED and says exactly which line is missing. A planner looks at the list and immediately knows which orders are stuck on materials - no need to go and ask people.
(point at the list) In the list view each order carries a colour-coded status tag: draft, planned, running, blocked, completed. A shop-floor manager takes it all in at a glance.
HOLD BACK unless asked: the BOM and routing are COPIED into the order as its own data, not linked to the master - so editing the BOM later cannot touch an old order. Lifecycle: DRAFT -&gt; PLANNED -&gt; RELEASED -&gt; IN_PROGRESS -&gt; COMPLETED -&gt; CLOSED, plus the BLOCKED and CANCELLED branches. Lot selection for reservation is FEFO - first to expire, first reserved, to reduce write-offs.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1.5 min. THE CLOSING SLIDE OF THE TALK. This is the end of the loop and where we invested the most control.
Step 1 - the operator issues materials against the reservation, then reports the result: how many good units, how much scrap, how much rework, with actual times.
Step 2 - the operator creates a goods receipt and submits it. Please note: AT THIS POINT NOTHING IN THE WAREHOUSE HAS CHANGED. The document is only waiting for approval.
Step 3 - the manager approves. Now the goods actually enter the warehouse.
(point at the lot image - the single most important sentence in the whole talk) And this is what we most want you to notice. Look at this row: ON HAND IS 50, BUT AVAILABLE IS 0. The goods are physically in the warehouse, countable and weighable, but NOBODY IS ALLOWED TO USE THEM YET - because they are waiting on quality control.
Step 4 - quality rules on it. This is a completely separate action, a separate permission, done by a different person - whoever approved the receipt cannot then certify the quality of the goods they just received.
If it PASSES: availability goes from 0 to 50, the goods are usable immediately - AND AT THE SAME MOMENT the customer's order flips to partially fulfilled. If it FAILS: the goods stay there, still traceable, but nobody can ever draw them out.
Closing line: that is the closed loop - from the customer's demand, through production, through quality, and back to that same order - with nobody typing an update by hand.
HOLD BACK unless asked: receipt lifecycle is DRAFT -&gt; PENDING_APPROVAL -&gt; APPROVED, with REJECTED as a dead end. ONLY the approval step creates an inventory transaction. Why not merge approval and quality? Because they answer two different questions - 'did the right quantity arrive' and 'is it good enough' - and merging them lets one person receive goods and certify their own receipt. That is a loss of internal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Safe and honest wording - ALL THREE PRESENTERS MUST SAY THE SAME THING HERE.
We split what remains into two groups.
Group one - the backend is finished, the interface is not. Routing, the capacity board, Excel import and purchasing: THE APIS RUN AND ARE COVERED BY TESTS, but we have not finished the screens, so we are keeping them out of today's scope. We chose to present only what works end to end, rather than show APIs with no screen behind them.
Group two - genuinely not built, planned for Capstone 3. Priority one is finishing purchasing, because once the system knows goods are inbound the planning numbers get much closer to reality. Then delivery and invoicing to close the sales loop, then costing - which is straightforward because the quantity and time data is ALREADY captured in Capstone 2; we only need unit prices.
Goodwill line: and one thing we want to be explicit about - we deliberately do not simulate machine data. Claiming MES integration we do not have would misdescribe the system. We chose an honest boundary and left room to extend.
TRANSITION TO THE CLIP - REHEARSE THIS SENTENCE: 'That is our presentation. To let you see the system actually running, we would like to play a demo clip of about 5 minutes, going the whole way from a customer order to a finished lot cleared by quality control.'
If asked 'the backend is done, why not demo it?': because demoing an API through a technical tool does not prove a real user can use it. We prioritised showing what is complete on both ends. If you would like to verify, I can open the API documentation right now. (Keep Swagger ready in a tab: http://localhost:8080/swagger-ui.html)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AFTER the clip finishes.
'Thank you very much, and we are ready for your questions.'
Q&amp;A OWNERSHIP - whoever owns the area answers, the other two do not cut in. If unsure: 'I have not verified that carefully, may I come back to you on it' beats guessing.
Backend questions (Hau): monolith vs microservices; can stock go negative; concurrent edits; double submit; how MRP calculates; how we know it is correct; routing / Excel / capacity status.
Frontend questions: can the frontend secure itself (no - the backend re-checks everything); is it usable by real users (desktop/tablet, EN/VI, keeps data on error, confirms dangerous actions).
General questions: how it differs from Odoo / ERPNext; what is still missing for a real rollout; individual contributions - each person prepares ONE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EF4ED"/>
        </a:solidFill>
      </p:bgPr>
    </p:bg>
    <p:spTree>
      <p:nvGrpSpPr>
        <p:cNvPr id="1" name=""/>
        <p:cNvGrpSpPr/>
        <p:nvPr/>
      </p:nvGrpSpPr>
      <p:grpSpPr>
        <a:xfrm>
          <a:off x="0" y="0"/>
          <a:ext cx="0" cy="0"/>
          <a:chOff x="0" y="0"/>
          <a:chExt cx="0" cy="0"/>
        </a:xfrm>
      </p:grpSpPr>
      <p:sp>
        <p:nvSpPr>
          <p:cNvPr id="2" name="Shape 0"/>
          <p:cNvSpPr/>
          <p:nvPr/>
        </p:nvSpPr>
        <p:spPr>
          <a:xfrm>
            <a:off x="8138160" y="0"/>
            <a:ext cx="4053535" cy="6858000"/>
          </a:xfrm>
          <a:prstGeom prst="rect">
            <a:avLst/>
          </a:prstGeom>
          <a:solidFill>
            <a:srgbClr val="134074"/>
          </a:solidFill>
          <a:ln w="12700">
            <a:solidFill>
              <a:srgbClr val="134074"/>
            </a:solidFill>
            <a:prstDash val="solid"/>
          </a:ln>
        </p:spPr>
      </p:sp>
      <p:sp>
        <p:nvSpPr>
          <p:cNvPr id="3" name="Text 1"/>
          <p:cNvSpPr/>
          <p:nvPr/>
        </p:nvSpPr>
        <p:spPr>
          <a:xfrm>
            <a:off x="777240" y="868680"/>
            <a:ext cx="6949440" cy="411480"/>
          </a:xfrm>
          <a:prstGeom prst="rect">
            <a:avLst/>
          </a:prstGeom>
          <a:noFill/>
          <a:ln/>
        </p:spPr>
        <p:txBody>
          <a:bodyPr wrap="square" lIns="0" tIns="0" rIns="0" bIns="0" rtlCol="0" anchor="ctr"/>
          <a:lstStyle/>
          <a:p>
            <a:pPr indent="0" marL="0">
              <a:buNone/>
            </a:pPr>
            <a:r>
              <a:rPr lang="en-US" sz="1700" i="1" dirty="0">
                <a:solidFill>
                  <a:srgbClr val="134074"/>
                </a:solidFill>
                <a:latin typeface="Asap" pitchFamily="34" charset="0"/>
                <a:ea typeface="Asap" pitchFamily="34" charset="-122"/>
                <a:cs typeface="Asap" pitchFamily="34" charset="-120"/>
              </a:rPr>
              <a:t>Manufacturing Resource Planning for Small &amp; Medium Factories</a:t>
            </a:r>
            <a:endParaRPr lang="en-US" sz="1700" dirty="0"/>
          </a:p>
        </p:txBody>
      </p:sp>
      <p:sp>
        <p:nvSpPr>
          <p:cNvPr id="4" name="Text 2"/>
          <p:cNvSpPr/>
          <p:nvPr/>
        </p:nvSpPr>
        <p:spPr>
          <a:xfrm>
            <a:off x="777240" y="1371600"/>
            <a:ext cx="6949440" cy="1143000"/>
          </a:xfrm>
          <a:prstGeom prst="rect">
            <a:avLst/>
          </a:prstGeom>
          <a:noFill/>
          <a:ln/>
        </p:spPr>
        <p:txBody>
          <a:bodyPr wrap="square" lIns="0" tIns="0" rIns="0" bIns="0" rtlCol="0" anchor="ctr"/>
          <a:lstStyle/>
          <a:p>
            <a:pPr indent="0" marL="0">
              <a:buNone/>
            </a:pPr>
            <a:r>
              <a:rPr lang="en-US" sz="6200" b="1" dirty="0">
                <a:solidFill>
                  <a:srgbClr val="134074"/>
                </a:solidFill>
                <a:latin typeface="Asap" pitchFamily="34" charset="0"/>
                <a:ea typeface="Asap" pitchFamily="34" charset="-122"/>
                <a:cs typeface="Asap" pitchFamily="34" charset="-120"/>
              </a:rPr>
              <a:t>OmniPlant</a:t>
            </a:r>
            <a:endParaRPr lang="en-US" sz="6200" dirty="0"/>
          </a:p>
        </p:txBody>
      </p:sp>
      <p:sp>
        <p:nvSpPr>
          <p:cNvPr id="5" name="Text 3"/>
          <p:cNvSpPr/>
          <p:nvPr/>
        </p:nvSpPr>
        <p:spPr>
          <a:xfrm>
            <a:off x="777240" y="2487168"/>
            <a:ext cx="6949440" cy="914400"/>
          </a:xfrm>
          <a:prstGeom prst="rect">
            <a:avLst/>
          </a:prstGeom>
          <a:noFill/>
          <a:ln/>
        </p:spPr>
        <p:txBody>
          <a:bodyPr wrap="square" lIns="0" tIns="0" rIns="0" bIns="0" rtlCol="0" anchor="ctr"/>
          <a:lstStyle/>
          <a:p>
            <a:pPr indent="0" marL="0">
              <a:buNone/>
            </a:pPr>
            <a:r>
              <a:rPr lang="en-US" sz="4600" b="1" dirty="0">
                <a:solidFill>
                  <a:srgbClr val="8DA9C4"/>
                </a:solidFill>
                <a:latin typeface="Asap" pitchFamily="34" charset="0"/>
                <a:ea typeface="Asap" pitchFamily="34" charset="-122"/>
                <a:cs typeface="Asap" pitchFamily="34" charset="-120"/>
              </a:rPr>
              <a:t>Manufacturing ERP</a:t>
            </a:r>
            <a:endParaRPr lang="en-US" sz="4600" dirty="0"/>
          </a:p>
        </p:txBody>
      </p:sp>
      <p:sp>
        <p:nvSpPr>
          <p:cNvPr id="6" name="Text 4"/>
          <p:cNvSpPr/>
          <p:nvPr/>
        </p:nvSpPr>
        <p:spPr>
          <a:xfrm>
            <a:off x="777240" y="3703320"/>
            <a:ext cx="6766560" cy="731520"/>
          </a:xfrm>
          <a:prstGeom prst="rect">
            <a:avLst/>
          </a:prstGeom>
          <a:noFill/>
          <a:ln/>
        </p:spPr>
        <p:txBody>
          <a:bodyPr wrap="square" lIns="0" tIns="0" rIns="0" bIns="0" rtlCol="0" anchor="ctr"/>
          <a:lstStyle/>
          <a:p>
            <a:pPr indent="0" marL="0">
              <a:lnSpc>
                <a:spcPct val="125000"/>
              </a:lnSpc>
              <a:buNone/>
            </a:pPr>
            <a:r>
              <a:rPr lang="en-US" sz="1400" dirty="0">
                <a:solidFill>
                  <a:srgbClr val="5C6B63"/>
                </a:solidFill>
                <a:latin typeface="Asap" pitchFamily="34" charset="0"/>
                <a:ea typeface="Asap" pitchFamily="34" charset="-122"/>
                <a:cs typeface="Asap" pitchFamily="34" charset="-120"/>
              </a:rPr>
              <a:t>An end-to-end production loop — from a customer order</a:t>
            </a:r>
            <a:endParaRPr lang="en-US" sz="1400" dirty="0"/>
          </a:p>
          <a:p>
            <a:pPr indent="0" marL="0">
              <a:lnSpc>
                <a:spcPct val="125000"/>
              </a:lnSpc>
              <a:buNone/>
            </a:pPr>
            <a:r>
              <a:rPr lang="en-US" sz="1400" dirty="0">
                <a:solidFill>
                  <a:srgbClr val="5C6B63"/>
                </a:solidFill>
                <a:latin typeface="Asap" pitchFamily="34" charset="0"/>
                <a:ea typeface="Asap" pitchFamily="34" charset="-122"/>
                <a:cs typeface="Asap" pitchFamily="34" charset="-120"/>
              </a:rPr>
              <a:t>to a finished lot released by quality control.</a:t>
            </a:r>
            <a:endParaRPr lang="en-US" sz="1400" dirty="0"/>
          </a:p>
        </p:txBody>
      </p:sp>
      <p:sp>
        <p:nvSpPr>
          <p:cNvPr id="7" name="Text 5"/>
          <p:cNvSpPr/>
          <p:nvPr/>
        </p:nvSpPr>
        <p:spPr>
          <a:xfrm>
            <a:off x="777240" y="5394960"/>
            <a:ext cx="6766560" cy="320040"/>
          </a:xfrm>
          <a:prstGeom prst="rect">
            <a:avLst/>
          </a:prstGeom>
          <a:noFill/>
          <a:ln/>
        </p:spPr>
        <p:txBody>
          <a:bodyPr wrap="square" lIns="0" tIns="0" rIns="0" bIns="0" rtlCol="0" anchor="ctr"/>
          <a:lstStyle/>
          <a:p>
            <a:pPr indent="0" marL="0">
              <a:buNone/>
            </a:pPr>
            <a:r>
              <a:rPr lang="en-US" sz="1300" b="1" spc="200" kern="0" dirty="0">
                <a:solidFill>
                  <a:srgbClr val="134074"/>
                </a:solidFill>
                <a:latin typeface="Asap" pitchFamily="34" charset="0"/>
                <a:ea typeface="Asap" pitchFamily="34" charset="-122"/>
                <a:cs typeface="Asap" pitchFamily="34" charset="-120"/>
              </a:rPr>
              <a:t>CAPSTONE 2  ·  FINAL PRESENTATION</a:t>
            </a:r>
            <a:endParaRPr lang="en-US" sz="1300" dirty="0"/>
          </a:p>
        </p:txBody>
      </p:sp>
      <p:sp>
        <p:nvSpPr>
          <p:cNvPr id="8" name="Shape 6"/>
          <p:cNvSpPr/>
          <p:nvPr/>
        </p:nvSpPr>
        <p:spPr>
          <a:xfrm>
            <a:off x="8732520" y="777240"/>
            <a:ext cx="1371600" cy="310896"/>
          </a:xfrm>
          <a:prstGeom prst="roundRect">
            <a:avLst>
              <a:gd name="adj" fmla="val 58824"/>
            </a:avLst>
          </a:prstGeom>
          <a:solidFill>
            <a:srgbClr val="134074"/>
          </a:solidFill>
          <a:ln w="12700">
            <a:solidFill>
              <a:srgbClr val="8DA9C4"/>
            </a:solidFill>
            <a:prstDash val="dash"/>
          </a:ln>
        </p:spPr>
      </p:sp>
      <p:sp>
        <p:nvSpPr>
          <p:cNvPr id="9" name="Text 7"/>
          <p:cNvSpPr/>
          <p:nvPr/>
        </p:nvSpPr>
        <p:spPr>
          <a:xfrm>
            <a:off x="8732520" y="777240"/>
            <a:ext cx="1371600" cy="310896"/>
          </a:xfrm>
          <a:prstGeom prst="rect">
            <a:avLst/>
          </a:prstGeom>
          <a:noFill/>
          <a:ln/>
        </p:spPr>
        <p:txBody>
          <a:bodyPr wrap="square" lIns="0" tIns="0" rIns="0" bIns="0" rtlCol="0" anchor="ctr"/>
          <a:lstStyle/>
          <a:p>
            <a:pPr algn="ctr" indent="0" marL="0">
              <a:buNone/>
            </a:pPr>
            <a:r>
              <a:rPr lang="en-US" sz="900" b="1" spc="100" kern="0" dirty="0">
                <a:solidFill>
                  <a:srgbClr val="8DA9C4"/>
                </a:solidFill>
                <a:latin typeface="Asap" pitchFamily="34" charset="0"/>
                <a:ea typeface="Asap" pitchFamily="34" charset="-122"/>
                <a:cs typeface="Asap" pitchFamily="34" charset="-120"/>
              </a:rPr>
              <a:t>LOGO</a:t>
            </a:r>
            <a:endParaRPr lang="en-US" sz="900" dirty="0"/>
          </a:p>
        </p:txBody>
      </p:sp>
      <p:sp>
        <p:nvSpPr>
          <p:cNvPr id="10" name="Text 8"/>
          <p:cNvSpPr/>
          <p:nvPr/>
        </p:nvSpPr>
        <p:spPr>
          <a:xfrm>
            <a:off x="8732520" y="1965960"/>
            <a:ext cx="2926080" cy="274320"/>
          </a:xfrm>
          <a:prstGeom prst="rect">
            <a:avLst/>
          </a:prstGeom>
          <a:noFill/>
          <a:ln/>
        </p:spPr>
        <p:txBody>
          <a:bodyPr wrap="square" lIns="0" tIns="0" rIns="0" bIns="0" rtlCol="0" anchor="ctr"/>
          <a:lstStyle/>
          <a:p>
            <a:pPr indent="0" marL="0">
              <a:buNone/>
            </a:pPr>
            <a:r>
              <a:rPr lang="en-US" sz="1100" b="1" spc="160" kern="0" dirty="0">
                <a:solidFill>
                  <a:srgbClr val="8DA9C4"/>
                </a:solidFill>
                <a:latin typeface="Asap" pitchFamily="34" charset="0"/>
                <a:ea typeface="Asap" pitchFamily="34" charset="-122"/>
                <a:cs typeface="Asap" pitchFamily="34" charset="-120"/>
              </a:rPr>
              <a:t>TEAM</a:t>
            </a:r>
            <a:endParaRPr lang="en-US" sz="1100" dirty="0"/>
          </a:p>
        </p:txBody>
      </p:sp>
      <p:sp>
        <p:nvSpPr>
          <p:cNvPr id="11" name="Text 9"/>
          <p:cNvSpPr/>
          <p:nvPr/>
        </p:nvSpPr>
        <p:spPr>
          <a:xfrm>
            <a:off x="8732520" y="2286000"/>
            <a:ext cx="2926080" cy="1097280"/>
          </a:xfrm>
          <a:prstGeom prst="rect">
            <a:avLst/>
          </a:prstGeom>
          <a:noFill/>
          <a:ln/>
        </p:spPr>
        <p:txBody>
          <a:bodyPr wrap="square" lIns="0" tIns="0" rIns="0" bIns="0" rtlCol="0" anchor="ctr"/>
          <a:lstStyle/>
          <a:p>
            <a:pPr indent="0" marL="0">
              <a:lnSpc>
                <a:spcPct val="130000"/>
              </a:lnSpc>
              <a:buNone/>
            </a:pPr>
            <a:r>
              <a:rPr lang="en-US" sz="1500" dirty="0">
                <a:solidFill>
                  <a:srgbClr val="FFFFFF"/>
                </a:solidFill>
                <a:latin typeface="Asap" pitchFamily="34" charset="0"/>
                <a:ea typeface="Asap" pitchFamily="34" charset="-122"/>
                <a:cs typeface="Asap" pitchFamily="34" charset="-120"/>
              </a:rPr>
              <a:t>Trần Quốc An</a:t>
            </a:r>
            <a:endParaRPr lang="en-US" sz="1500" dirty="0"/>
          </a:p>
          <a:p>
            <a:pPr indent="0" marL="0">
              <a:lnSpc>
                <a:spcPct val="130000"/>
              </a:lnSpc>
              <a:buNone/>
            </a:pPr>
            <a:r>
              <a:rPr lang="en-US" sz="1500" dirty="0">
                <a:solidFill>
                  <a:srgbClr val="FFFFFF"/>
                </a:solidFill>
                <a:latin typeface="Asap" pitchFamily="34" charset="0"/>
                <a:ea typeface="Asap" pitchFamily="34" charset="-122"/>
                <a:cs typeface="Asap" pitchFamily="34" charset="-120"/>
              </a:rPr>
              <a:t>Nguyễn Phúc Hậu</a:t>
            </a:r>
            <a:endParaRPr lang="en-US" sz="1500" dirty="0"/>
          </a:p>
          <a:p>
            <a:pPr indent="0" marL="0">
              <a:lnSpc>
                <a:spcPct val="130000"/>
              </a:lnSpc>
              <a:buNone/>
            </a:pPr>
            <a:r>
              <a:rPr lang="en-US" sz="1500" dirty="0">
                <a:solidFill>
                  <a:srgbClr val="FFFFFF"/>
                </a:solidFill>
                <a:latin typeface="Asap" pitchFamily="34" charset="0"/>
                <a:ea typeface="Asap" pitchFamily="34" charset="-122"/>
                <a:cs typeface="Asap" pitchFamily="34" charset="-120"/>
              </a:rPr>
              <a:t>Đặng Cao Cương</a:t>
            </a:r>
            <a:endParaRPr lang="en-US" sz="1500" dirty="0"/>
          </a:p>
        </p:txBody>
      </p:sp>
      <p:sp>
        <p:nvSpPr>
          <p:cNvPr id="12" name="Text 10"/>
          <p:cNvSpPr/>
          <p:nvPr/>
        </p:nvSpPr>
        <p:spPr>
          <a:xfrm>
            <a:off x="8732520" y="3749040"/>
            <a:ext cx="2926080" cy="274320"/>
          </a:xfrm>
          <a:prstGeom prst="rect">
            <a:avLst/>
          </a:prstGeom>
          <a:noFill/>
          <a:ln/>
        </p:spPr>
        <p:txBody>
          <a:bodyPr wrap="square" lIns="0" tIns="0" rIns="0" bIns="0" rtlCol="0" anchor="ctr"/>
          <a:lstStyle/>
          <a:p>
            <a:pPr indent="0" marL="0">
              <a:buNone/>
            </a:pPr>
            <a:r>
              <a:rPr lang="en-US" sz="1100" b="1" spc="160" kern="0" dirty="0">
                <a:solidFill>
                  <a:srgbClr val="8DA9C4"/>
                </a:solidFill>
                <a:latin typeface="Asap" pitchFamily="34" charset="0"/>
                <a:ea typeface="Asap" pitchFamily="34" charset="-122"/>
                <a:cs typeface="Asap" pitchFamily="34" charset="-120"/>
              </a:rPr>
              <a:t>SUPERVISOR</a:t>
            </a:r>
            <a:endParaRPr lang="en-US" sz="1100" dirty="0"/>
          </a:p>
        </p:txBody>
      </p:sp>
      <p:sp>
        <p:nvSpPr>
          <p:cNvPr id="13" name="Text 11"/>
          <p:cNvSpPr/>
          <p:nvPr/>
        </p:nvSpPr>
        <p:spPr>
          <a:xfrm>
            <a:off x="8732520" y="4050792"/>
            <a:ext cx="2926080" cy="320040"/>
          </a:xfrm>
          <a:prstGeom prst="rect">
            <a:avLst/>
          </a:prstGeom>
          <a:noFill/>
          <a:ln/>
        </p:spPr>
        <p:txBody>
          <a:bodyPr wrap="square" lIns="0" tIns="0" rIns="0" bIns="0" rtlCol="0" anchor="ctr"/>
          <a:lstStyle/>
          <a:p>
            <a:pPr indent="0" marL="0">
              <a:buNone/>
            </a:pPr>
            <a:r>
              <a:rPr lang="en-US" sz="1500" dirty="0">
                <a:solidFill>
                  <a:srgbClr val="FFFFFF"/>
                </a:solidFill>
                <a:latin typeface="Asap" pitchFamily="34" charset="0"/>
                <a:ea typeface="Asap" pitchFamily="34" charset="-122"/>
                <a:cs typeface="Asap" pitchFamily="34" charset="-120"/>
              </a:rPr>
              <a:t>M.Sc. Hà Minh Ngọc</a:t>
            </a:r>
            <a:endParaRPr lang="en-US" sz="1500" dirty="0"/>
          </a:p>
        </p:txBody>
      </p:sp>
      <p:sp>
        <p:nvSpPr>
          <p:cNvPr id="14" name="Text 12"/>
          <p:cNvSpPr/>
          <p:nvPr/>
        </p:nvSpPr>
        <p:spPr>
          <a:xfrm>
            <a:off x="8732520" y="5394960"/>
            <a:ext cx="2926080" cy="777240"/>
          </a:xfrm>
          <a:prstGeom prst="rect">
            <a:avLst/>
          </a:prstGeom>
          <a:noFill/>
          <a:ln/>
        </p:spPr>
        <p:txBody>
          <a:bodyPr wrap="square" lIns="0" tIns="0" rIns="0" bIns="0" rtlCol="0" anchor="ctr"/>
          <a:lstStyle/>
          <a:p>
            <a:pPr indent="0" marL="0">
              <a:lnSpc>
                <a:spcPct val="130000"/>
              </a:lnSpc>
              <a:buNone/>
            </a:pPr>
            <a:r>
              <a:rPr lang="en-US" sz="1250" dirty="0">
                <a:solidFill>
                  <a:srgbClr val="8DA9C4"/>
                </a:solidFill>
                <a:latin typeface="Asap" pitchFamily="34" charset="0"/>
                <a:ea typeface="Asap" pitchFamily="34" charset="-122"/>
                <a:cs typeface="Asap" pitchFamily="34" charset="-120"/>
              </a:rPr>
              <a:t>Eastern International University</a:t>
            </a:r>
            <a:endParaRPr lang="en-US" sz="1250" dirty="0"/>
          </a:p>
          <a:p>
            <a:pPr indent="0" marL="0">
              <a:lnSpc>
                <a:spcPct val="130000"/>
              </a:lnSpc>
              <a:buNone/>
            </a:pPr>
            <a:r>
              <a:rPr lang="en-US" sz="1250" dirty="0">
                <a:solidFill>
                  <a:srgbClr val="8DA9C4"/>
                </a:solidFill>
                <a:latin typeface="Asap" pitchFamily="34" charset="0"/>
                <a:ea typeface="Asap" pitchFamily="34" charset="-122"/>
                <a:cs typeface="Asap" pitchFamily="34" charset="-120"/>
              </a:rPr>
              <a:t>August 2026</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EF4ED"/>
        </a:solidFill>
      </p:bgPr>
    </p:bg>
    <p:spTree>
      <p:nvGrpSpPr>
        <p:cNvPr id="1" name=""/>
        <p:cNvGrpSpPr/>
        <p:nvPr/>
      </p:nvGrpSpPr>
      <p:grpSpPr>
        <a:xfrm>
          <a:off x="0" y="0"/>
          <a:ext cx="0" cy="0"/>
          <a:chOff x="0" y="0"/>
          <a:chExt cx="0" cy="0"/>
        </a:xfrm>
      </p:grpSpPr>
      <p:sp>
        <p:nvSpPr>
          <p:cNvPr id="2" name="Text 0"/>
          <p:cNvSpPr/>
          <p:nvPr/>
        </p:nvSpPr>
        <p:spPr>
          <a:xfrm>
            <a:off x="566928" y="347472"/>
            <a:ext cx="10515600" cy="256032"/>
          </a:xfrm>
          <a:prstGeom prst="rect">
            <a:avLst/>
          </a:prstGeom>
          <a:noFill/>
          <a:ln/>
        </p:spPr>
        <p:txBody>
          <a:bodyPr wrap="square" lIns="0" tIns="0" rIns="0" bIns="0" rtlCol="0" anchor="ctr"/>
          <a:lstStyle/>
          <a:p>
            <a:pPr indent="0" marL="0">
              <a:buNone/>
            </a:pPr>
            <a:r>
              <a:rPr lang="en-US" sz="1100" b="1" spc="220" kern="0" dirty="0">
                <a:solidFill>
                  <a:srgbClr val="8DA9C4"/>
                </a:solidFill>
                <a:latin typeface="Asap" pitchFamily="34" charset="0"/>
                <a:ea typeface="Asap" pitchFamily="34" charset="-122"/>
                <a:cs typeface="Asap" pitchFamily="34" charset="-120"/>
              </a:rPr>
              <a:t>02 · THE TEAM</a:t>
            </a:r>
            <a:endParaRPr lang="en-US" sz="1100" dirty="0"/>
          </a:p>
        </p:txBody>
      </p:sp>
      <p:sp>
        <p:nvSpPr>
          <p:cNvPr id="3" name="Text 1"/>
          <p:cNvSpPr/>
          <p:nvPr/>
        </p:nvSpPr>
        <p:spPr>
          <a:xfrm>
            <a:off x="566928" y="603504"/>
            <a:ext cx="10881360" cy="658368"/>
          </a:xfrm>
          <a:prstGeom prst="rect">
            <a:avLst/>
          </a:prstGeom>
          <a:noFill/>
          <a:ln/>
        </p:spPr>
        <p:txBody>
          <a:bodyPr wrap="square" lIns="0" tIns="0" rIns="0" bIns="0" rtlCol="0" anchor="t"/>
          <a:lstStyle/>
          <a:p>
            <a:pPr indent="0" marL="0">
              <a:buNone/>
            </a:pPr>
            <a:r>
              <a:rPr lang="en-US" sz="3100" b="1" dirty="0">
                <a:solidFill>
                  <a:srgbClr val="134074"/>
                </a:solidFill>
                <a:latin typeface="Asap" pitchFamily="34" charset="0"/>
                <a:ea typeface="Asap" pitchFamily="34" charset="-122"/>
                <a:cs typeface="Asap" pitchFamily="34" charset="-120"/>
              </a:rPr>
              <a:t>Meet the Team</a:t>
            </a:r>
            <a:endParaRPr lang="en-US" sz="3100" dirty="0"/>
          </a:p>
        </p:txBody>
      </p:sp>
      <p:sp>
        <p:nvSpPr>
          <p:cNvPr id="4" name="Shape 2"/>
          <p:cNvSpPr/>
          <p:nvPr/>
        </p:nvSpPr>
        <p:spPr>
          <a:xfrm>
            <a:off x="566928" y="1600200"/>
            <a:ext cx="3520440" cy="4114800"/>
          </a:xfrm>
          <a:prstGeom prst="roundRect">
            <a:avLst>
              <a:gd name="adj" fmla="val 779"/>
            </a:avLst>
          </a:prstGeom>
          <a:solidFill>
            <a:srgbClr val="FFFFFF"/>
          </a:solidFill>
          <a:ln w="12700">
            <a:solidFill>
              <a:srgbClr val="FFFFFF"/>
            </a:solidFill>
            <a:prstDash val="solid"/>
          </a:ln>
        </p:spPr>
      </p:sp>
      <p:sp>
        <p:nvSpPr>
          <p:cNvPr id="5" name="Shape 3"/>
          <p:cNvSpPr/>
          <p:nvPr/>
        </p:nvSpPr>
        <p:spPr>
          <a:xfrm>
            <a:off x="822960" y="1856232"/>
            <a:ext cx="3008376" cy="1783080"/>
          </a:xfrm>
          <a:prstGeom prst="roundRect">
            <a:avLst>
              <a:gd name="adj" fmla="val 1538"/>
            </a:avLst>
          </a:prstGeom>
          <a:solidFill>
            <a:srgbClr val="FFFFFF"/>
          </a:solidFill>
          <a:ln w="15875">
            <a:solidFill>
              <a:srgbClr val="134074"/>
            </a:solidFill>
            <a:prstDash val="dash"/>
          </a:ln>
        </p:spPr>
      </p:sp>
      <p:sp>
        <p:nvSpPr>
          <p:cNvPr id="6" name="Shape 4"/>
          <p:cNvSpPr/>
          <p:nvPr/>
        </p:nvSpPr>
        <p:spPr>
          <a:xfrm>
            <a:off x="969264" y="2002536"/>
            <a:ext cx="1417320" cy="274320"/>
          </a:xfrm>
          <a:prstGeom prst="roundRect">
            <a:avLst>
              <a:gd name="adj" fmla="val 66667"/>
            </a:avLst>
          </a:prstGeom>
          <a:solidFill>
            <a:srgbClr val="134074"/>
          </a:solidFill>
          <a:ln w="6350">
            <a:solidFill>
              <a:srgbClr val="134074"/>
            </a:solidFill>
            <a:prstDash val="solid"/>
          </a:ln>
        </p:spPr>
      </p:sp>
      <p:sp>
        <p:nvSpPr>
          <p:cNvPr id="7" name="Text 5"/>
          <p:cNvSpPr/>
          <p:nvPr/>
        </p:nvSpPr>
        <p:spPr>
          <a:xfrm>
            <a:off x="969264" y="2002536"/>
            <a:ext cx="1417320" cy="274320"/>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Asap" pitchFamily="34" charset="0"/>
                <a:ea typeface="Asap" pitchFamily="34" charset="-122"/>
                <a:cs typeface="Asap" pitchFamily="34" charset="-120"/>
              </a:rPr>
              <a:t>PHOTO</a:t>
            </a:r>
            <a:endParaRPr lang="en-US" sz="900" dirty="0"/>
          </a:p>
        </p:txBody>
      </p:sp>
      <p:sp>
        <p:nvSpPr>
          <p:cNvPr id="8" name="Text 6"/>
          <p:cNvSpPr/>
          <p:nvPr/>
        </p:nvSpPr>
        <p:spPr>
          <a:xfrm>
            <a:off x="1097280" y="2327148"/>
            <a:ext cx="2459736" cy="457200"/>
          </a:xfrm>
          <a:prstGeom prst="rect">
            <a:avLst/>
          </a:prstGeom>
          <a:noFill/>
          <a:ln/>
        </p:spPr>
        <p:txBody>
          <a:bodyPr wrap="square" lIns="0" tIns="0" rIns="0" bIns="0" rtlCol="0" anchor="b"/>
          <a:lstStyle/>
          <a:p>
            <a:pPr algn="ctr" indent="0" marL="0">
              <a:buNone/>
            </a:pPr>
            <a:r>
              <a:rPr lang="en-US" sz="1400" b="1" dirty="0">
                <a:solidFill>
                  <a:srgbClr val="134074"/>
                </a:solidFill>
                <a:latin typeface="Asap" pitchFamily="34" charset="0"/>
                <a:ea typeface="Asap" pitchFamily="34" charset="-122"/>
                <a:cs typeface="Asap" pitchFamily="34" charset="-120"/>
              </a:rPr>
              <a:t>Member photo</a:t>
            </a:r>
            <a:endParaRPr lang="en-US" sz="1400" dirty="0"/>
          </a:p>
        </p:txBody>
      </p:sp>
      <p:sp>
        <p:nvSpPr>
          <p:cNvPr id="9" name="Text 7"/>
          <p:cNvSpPr/>
          <p:nvPr/>
        </p:nvSpPr>
        <p:spPr>
          <a:xfrm>
            <a:off x="1097280" y="2802636"/>
            <a:ext cx="2459736" cy="868680"/>
          </a:xfrm>
          <a:prstGeom prst="rect">
            <a:avLst/>
          </a:prstGeom>
          <a:noFill/>
          <a:ln/>
        </p:spPr>
        <p:txBody>
          <a:bodyPr wrap="square" lIns="0" tIns="0" rIns="0" bIns="0" rtlCol="0" anchor="t"/>
          <a:lstStyle/>
          <a:p>
            <a:pPr algn="ctr" indent="0" marL="0">
              <a:lnSpc>
                <a:spcPct val="115000"/>
              </a:lnSpc>
              <a:buNone/>
            </a:pPr>
            <a:r>
              <a:rPr lang="en-US" sz="1050" i="1" dirty="0">
                <a:solidFill>
                  <a:srgbClr val="5C6B63"/>
                </a:solidFill>
                <a:latin typeface="Asap" pitchFamily="34" charset="0"/>
                <a:ea typeface="Asap" pitchFamily="34" charset="-122"/>
                <a:cs typeface="Asap" pitchFamily="34" charset="-120"/>
              </a:rPr>
              <a:t>Portrait, square crop</a:t>
            </a:r>
            <a:endParaRPr lang="en-US" sz="1050" dirty="0"/>
          </a:p>
        </p:txBody>
      </p:sp>
      <p:sp>
        <p:nvSpPr>
          <p:cNvPr id="10" name="Text 8"/>
          <p:cNvSpPr/>
          <p:nvPr/>
        </p:nvSpPr>
        <p:spPr>
          <a:xfrm>
            <a:off x="822960" y="3794760"/>
            <a:ext cx="3008376" cy="320040"/>
          </a:xfrm>
          <a:prstGeom prst="rect">
            <a:avLst/>
          </a:prstGeom>
          <a:noFill/>
          <a:ln/>
        </p:spPr>
        <p:txBody>
          <a:bodyPr wrap="square" lIns="0" tIns="0" rIns="0" bIns="0" rtlCol="0" anchor="ctr"/>
          <a:lstStyle/>
          <a:p>
            <a:pPr indent="0" marL="0">
              <a:buNone/>
            </a:pPr>
            <a:r>
              <a:rPr lang="en-US" sz="1800" b="1" dirty="0">
                <a:solidFill>
                  <a:srgbClr val="134074"/>
                </a:solidFill>
                <a:latin typeface="Asap" pitchFamily="34" charset="0"/>
                <a:ea typeface="Asap" pitchFamily="34" charset="-122"/>
                <a:cs typeface="Asap" pitchFamily="34" charset="-120"/>
              </a:rPr>
              <a:t>Trần Quốc An</a:t>
            </a:r>
            <a:endParaRPr lang="en-US" sz="1800" dirty="0"/>
          </a:p>
        </p:txBody>
      </p:sp>
      <p:sp>
        <p:nvSpPr>
          <p:cNvPr id="11" name="Text 9"/>
          <p:cNvSpPr/>
          <p:nvPr/>
        </p:nvSpPr>
        <p:spPr>
          <a:xfrm>
            <a:off x="822960" y="4133088"/>
            <a:ext cx="3008376" cy="256032"/>
          </a:xfrm>
          <a:prstGeom prst="rect">
            <a:avLst/>
          </a:prstGeom>
          <a:noFill/>
          <a:ln/>
        </p:spPr>
        <p:txBody>
          <a:bodyPr wrap="square" lIns="0" tIns="0" rIns="0" bIns="0" rtlCol="0" anchor="ctr"/>
          <a:lstStyle/>
          <a:p>
            <a:pPr indent="0" marL="0">
              <a:buNone/>
            </a:pPr>
            <a:r>
              <a:rPr lang="en-US" sz="1100" dirty="0">
                <a:solidFill>
                  <a:srgbClr val="5C6B63"/>
                </a:solidFill>
                <a:latin typeface="Asap" pitchFamily="34" charset="0"/>
                <a:ea typeface="Asap" pitchFamily="34" charset="-122"/>
                <a:cs typeface="Asap" pitchFamily="34" charset="-120"/>
              </a:rPr>
              <a:t>Student ID 2231200001</a:t>
            </a:r>
            <a:endParaRPr lang="en-US" sz="1100" dirty="0"/>
          </a:p>
        </p:txBody>
      </p:sp>
      <p:sp>
        <p:nvSpPr>
          <p:cNvPr id="12" name="Text 10"/>
          <p:cNvSpPr/>
          <p:nvPr/>
        </p:nvSpPr>
        <p:spPr>
          <a:xfrm>
            <a:off x="822960" y="4453128"/>
            <a:ext cx="3008376" cy="274320"/>
          </a:xfrm>
          <a:prstGeom prst="rect">
            <a:avLst/>
          </a:prstGeom>
          <a:noFill/>
          <a:ln/>
        </p:spPr>
        <p:txBody>
          <a:bodyPr wrap="square" lIns="0" tIns="0" rIns="0" bIns="0" rtlCol="0" anchor="ctr"/>
          <a:lstStyle/>
          <a:p>
            <a:pPr indent="0" marL="0">
              <a:buNone/>
            </a:pPr>
            <a:r>
              <a:rPr lang="en-US" sz="1350" b="1" dirty="0">
                <a:solidFill>
                  <a:srgbClr val="B5561F"/>
                </a:solidFill>
                <a:latin typeface="Asap" pitchFamily="34" charset="0"/>
                <a:ea typeface="Asap" pitchFamily="34" charset="-122"/>
                <a:cs typeface="Asap" pitchFamily="34" charset="-120"/>
              </a:rPr>
              <a:t>[ROLE — TO FILL]</a:t>
            </a:r>
            <a:endParaRPr lang="en-US" sz="1350" dirty="0"/>
          </a:p>
        </p:txBody>
      </p:sp>
      <p:sp>
        <p:nvSpPr>
          <p:cNvPr id="13" name="Text 11"/>
          <p:cNvSpPr/>
          <p:nvPr/>
        </p:nvSpPr>
        <p:spPr>
          <a:xfrm>
            <a:off x="822960" y="4791456"/>
            <a:ext cx="3008376" cy="777240"/>
          </a:xfrm>
          <a:prstGeom prst="rect">
            <a:avLst/>
          </a:prstGeom>
          <a:noFill/>
          <a:ln/>
        </p:spPr>
        <p:txBody>
          <a:bodyPr wrap="square" lIns="0" tIns="0" rIns="0" bIns="0" rtlCol="0" anchor="ctr"/>
          <a:lstStyle/>
          <a:p>
            <a:pPr indent="0" marL="0">
              <a:lnSpc>
                <a:spcPct val="115000"/>
              </a:lnSpc>
              <a:buNone/>
            </a:pPr>
            <a:r>
              <a:rPr lang="en-US" sz="1150" i="1" dirty="0">
                <a:solidFill>
                  <a:srgbClr val="B5561F"/>
                </a:solidFill>
                <a:latin typeface="Asap" pitchFamily="34" charset="0"/>
                <a:ea typeface="Asap" pitchFamily="34" charset="-122"/>
                <a:cs typeface="Asap" pitchFamily="34" charset="-120"/>
              </a:rPr>
              <a:t>[Main contribution — to fill]</a:t>
            </a:r>
            <a:endParaRPr lang="en-US" sz="1150" dirty="0"/>
          </a:p>
        </p:txBody>
      </p:sp>
      <p:sp>
        <p:nvSpPr>
          <p:cNvPr id="14" name="Shape 12"/>
          <p:cNvSpPr/>
          <p:nvPr/>
        </p:nvSpPr>
        <p:spPr>
          <a:xfrm>
            <a:off x="4416552" y="1600200"/>
            <a:ext cx="3520440" cy="4114800"/>
          </a:xfrm>
          <a:prstGeom prst="roundRect">
            <a:avLst>
              <a:gd name="adj" fmla="val 779"/>
            </a:avLst>
          </a:prstGeom>
          <a:solidFill>
            <a:srgbClr val="FFFFFF"/>
          </a:solidFill>
          <a:ln w="12700">
            <a:solidFill>
              <a:srgbClr val="FFFFFF"/>
            </a:solidFill>
            <a:prstDash val="solid"/>
          </a:ln>
        </p:spPr>
      </p:sp>
      <p:sp>
        <p:nvSpPr>
          <p:cNvPr id="15" name="Shape 13"/>
          <p:cNvSpPr/>
          <p:nvPr/>
        </p:nvSpPr>
        <p:spPr>
          <a:xfrm>
            <a:off x="4672584" y="1856232"/>
            <a:ext cx="3008376" cy="1783080"/>
          </a:xfrm>
          <a:prstGeom prst="roundRect">
            <a:avLst>
              <a:gd name="adj" fmla="val 1538"/>
            </a:avLst>
          </a:prstGeom>
          <a:solidFill>
            <a:srgbClr val="FFFFFF"/>
          </a:solidFill>
          <a:ln w="15875">
            <a:solidFill>
              <a:srgbClr val="134074"/>
            </a:solidFill>
            <a:prstDash val="dash"/>
          </a:ln>
        </p:spPr>
      </p:sp>
      <p:sp>
        <p:nvSpPr>
          <p:cNvPr id="16" name="Shape 14"/>
          <p:cNvSpPr/>
          <p:nvPr/>
        </p:nvSpPr>
        <p:spPr>
          <a:xfrm>
            <a:off x="4818888" y="2002536"/>
            <a:ext cx="1417320" cy="274320"/>
          </a:xfrm>
          <a:prstGeom prst="roundRect">
            <a:avLst>
              <a:gd name="adj" fmla="val 66667"/>
            </a:avLst>
          </a:prstGeom>
          <a:solidFill>
            <a:srgbClr val="134074"/>
          </a:solidFill>
          <a:ln w="6350">
            <a:solidFill>
              <a:srgbClr val="134074"/>
            </a:solidFill>
            <a:prstDash val="solid"/>
          </a:ln>
        </p:spPr>
      </p:sp>
      <p:sp>
        <p:nvSpPr>
          <p:cNvPr id="17" name="Text 15"/>
          <p:cNvSpPr/>
          <p:nvPr/>
        </p:nvSpPr>
        <p:spPr>
          <a:xfrm>
            <a:off x="4818888" y="2002536"/>
            <a:ext cx="1417320" cy="274320"/>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Asap" pitchFamily="34" charset="0"/>
                <a:ea typeface="Asap" pitchFamily="34" charset="-122"/>
                <a:cs typeface="Asap" pitchFamily="34" charset="-120"/>
              </a:rPr>
              <a:t>PHOTO</a:t>
            </a:r>
            <a:endParaRPr lang="en-US" sz="900" dirty="0"/>
          </a:p>
        </p:txBody>
      </p:sp>
      <p:sp>
        <p:nvSpPr>
          <p:cNvPr id="18" name="Text 16"/>
          <p:cNvSpPr/>
          <p:nvPr/>
        </p:nvSpPr>
        <p:spPr>
          <a:xfrm>
            <a:off x="4946904" y="2327148"/>
            <a:ext cx="2459736" cy="457200"/>
          </a:xfrm>
          <a:prstGeom prst="rect">
            <a:avLst/>
          </a:prstGeom>
          <a:noFill/>
          <a:ln/>
        </p:spPr>
        <p:txBody>
          <a:bodyPr wrap="square" lIns="0" tIns="0" rIns="0" bIns="0" rtlCol="0" anchor="b"/>
          <a:lstStyle/>
          <a:p>
            <a:pPr algn="ctr" indent="0" marL="0">
              <a:buNone/>
            </a:pPr>
            <a:r>
              <a:rPr lang="en-US" sz="1400" b="1" dirty="0">
                <a:solidFill>
                  <a:srgbClr val="134074"/>
                </a:solidFill>
                <a:latin typeface="Asap" pitchFamily="34" charset="0"/>
                <a:ea typeface="Asap" pitchFamily="34" charset="-122"/>
                <a:cs typeface="Asap" pitchFamily="34" charset="-120"/>
              </a:rPr>
              <a:t>Member photo</a:t>
            </a:r>
            <a:endParaRPr lang="en-US" sz="1400" dirty="0"/>
          </a:p>
        </p:txBody>
      </p:sp>
      <p:sp>
        <p:nvSpPr>
          <p:cNvPr id="19" name="Text 17"/>
          <p:cNvSpPr/>
          <p:nvPr/>
        </p:nvSpPr>
        <p:spPr>
          <a:xfrm>
            <a:off x="4946904" y="2802636"/>
            <a:ext cx="2459736" cy="868680"/>
          </a:xfrm>
          <a:prstGeom prst="rect">
            <a:avLst/>
          </a:prstGeom>
          <a:noFill/>
          <a:ln/>
        </p:spPr>
        <p:txBody>
          <a:bodyPr wrap="square" lIns="0" tIns="0" rIns="0" bIns="0" rtlCol="0" anchor="t"/>
          <a:lstStyle/>
          <a:p>
            <a:pPr algn="ctr" indent="0" marL="0">
              <a:lnSpc>
                <a:spcPct val="115000"/>
              </a:lnSpc>
              <a:buNone/>
            </a:pPr>
            <a:r>
              <a:rPr lang="en-US" sz="1050" i="1" dirty="0">
                <a:solidFill>
                  <a:srgbClr val="5C6B63"/>
                </a:solidFill>
                <a:latin typeface="Asap" pitchFamily="34" charset="0"/>
                <a:ea typeface="Asap" pitchFamily="34" charset="-122"/>
                <a:cs typeface="Asap" pitchFamily="34" charset="-120"/>
              </a:rPr>
              <a:t>Portrait, square crop</a:t>
            </a:r>
            <a:endParaRPr lang="en-US" sz="1050" dirty="0"/>
          </a:p>
        </p:txBody>
      </p:sp>
      <p:sp>
        <p:nvSpPr>
          <p:cNvPr id="20" name="Text 18"/>
          <p:cNvSpPr/>
          <p:nvPr/>
        </p:nvSpPr>
        <p:spPr>
          <a:xfrm>
            <a:off x="4672584" y="3794760"/>
            <a:ext cx="3008376" cy="320040"/>
          </a:xfrm>
          <a:prstGeom prst="rect">
            <a:avLst/>
          </a:prstGeom>
          <a:noFill/>
          <a:ln/>
        </p:spPr>
        <p:txBody>
          <a:bodyPr wrap="square" lIns="0" tIns="0" rIns="0" bIns="0" rtlCol="0" anchor="ctr"/>
          <a:lstStyle/>
          <a:p>
            <a:pPr indent="0" marL="0">
              <a:buNone/>
            </a:pPr>
            <a:r>
              <a:rPr lang="en-US" sz="1800" b="1" dirty="0">
                <a:solidFill>
                  <a:srgbClr val="134074"/>
                </a:solidFill>
                <a:latin typeface="Asap" pitchFamily="34" charset="0"/>
                <a:ea typeface="Asap" pitchFamily="34" charset="-122"/>
                <a:cs typeface="Asap" pitchFamily="34" charset="-120"/>
              </a:rPr>
              <a:t>Nguyễn Phúc Hậu</a:t>
            </a:r>
            <a:endParaRPr lang="en-US" sz="1800" dirty="0"/>
          </a:p>
        </p:txBody>
      </p:sp>
      <p:sp>
        <p:nvSpPr>
          <p:cNvPr id="21" name="Text 19"/>
          <p:cNvSpPr/>
          <p:nvPr/>
        </p:nvSpPr>
        <p:spPr>
          <a:xfrm>
            <a:off x="4672584" y="4133088"/>
            <a:ext cx="3008376" cy="256032"/>
          </a:xfrm>
          <a:prstGeom prst="rect">
            <a:avLst/>
          </a:prstGeom>
          <a:noFill/>
          <a:ln/>
        </p:spPr>
        <p:txBody>
          <a:bodyPr wrap="square" lIns="0" tIns="0" rIns="0" bIns="0" rtlCol="0" anchor="ctr"/>
          <a:lstStyle/>
          <a:p>
            <a:pPr indent="0" marL="0">
              <a:buNone/>
            </a:pPr>
            <a:r>
              <a:rPr lang="en-US" sz="1100" dirty="0">
                <a:solidFill>
                  <a:srgbClr val="5C6B63"/>
                </a:solidFill>
                <a:latin typeface="Asap" pitchFamily="34" charset="0"/>
                <a:ea typeface="Asap" pitchFamily="34" charset="-122"/>
                <a:cs typeface="Asap" pitchFamily="34" charset="-120"/>
              </a:rPr>
              <a:t>Student ID 2231200065</a:t>
            </a:r>
            <a:endParaRPr lang="en-US" sz="1100" dirty="0"/>
          </a:p>
        </p:txBody>
      </p:sp>
      <p:sp>
        <p:nvSpPr>
          <p:cNvPr id="22" name="Text 20"/>
          <p:cNvSpPr/>
          <p:nvPr/>
        </p:nvSpPr>
        <p:spPr>
          <a:xfrm>
            <a:off x="4672584" y="4453128"/>
            <a:ext cx="3008376" cy="274320"/>
          </a:xfrm>
          <a:prstGeom prst="rect">
            <a:avLst/>
          </a:prstGeom>
          <a:noFill/>
          <a:ln/>
        </p:spPr>
        <p:txBody>
          <a:bodyPr wrap="square" lIns="0" tIns="0" rIns="0" bIns="0" rtlCol="0" anchor="ctr"/>
          <a:lstStyle/>
          <a:p>
            <a:pPr indent="0" marL="0">
              <a:buNone/>
            </a:pPr>
            <a:r>
              <a:rPr lang="en-US" sz="1350" b="1" dirty="0">
                <a:solidFill>
                  <a:srgbClr val="8DA9C4"/>
                </a:solidFill>
                <a:latin typeface="Asap" pitchFamily="34" charset="0"/>
                <a:ea typeface="Asap" pitchFamily="34" charset="-122"/>
                <a:cs typeface="Asap" pitchFamily="34" charset="-120"/>
              </a:rPr>
              <a:t>Backend Developer</a:t>
            </a:r>
            <a:endParaRPr lang="en-US" sz="1350" dirty="0"/>
          </a:p>
        </p:txBody>
      </p:sp>
      <p:sp>
        <p:nvSpPr>
          <p:cNvPr id="23" name="Text 21"/>
          <p:cNvSpPr/>
          <p:nvPr/>
        </p:nvSpPr>
        <p:spPr>
          <a:xfrm>
            <a:off x="4672584" y="4791456"/>
            <a:ext cx="3008376" cy="777240"/>
          </a:xfrm>
          <a:prstGeom prst="rect">
            <a:avLst/>
          </a:prstGeom>
          <a:noFill/>
          <a:ln/>
        </p:spPr>
        <p:txBody>
          <a:bodyPr wrap="square" lIns="0" tIns="0" rIns="0" bIns="0" rtlCol="0" anchor="ctr"/>
          <a:lstStyle/>
          <a:p>
            <a:pPr indent="0" marL="0">
              <a:lnSpc>
                <a:spcPct val="115000"/>
              </a:lnSpc>
              <a:buNone/>
            </a:pPr>
            <a:r>
              <a:rPr lang="en-US" sz="1150" i="1" dirty="0">
                <a:solidFill>
                  <a:srgbClr val="5C6B63"/>
                </a:solidFill>
                <a:latin typeface="Asap" pitchFamily="34" charset="0"/>
                <a:ea typeface="Asap" pitchFamily="34" charset="-122"/>
                <a:cs typeface="Asap" pitchFamily="34" charset="-120"/>
              </a:rPr>
              <a:t>APIs, business rules, database design, security &amp; authorization</a:t>
            </a:r>
            <a:endParaRPr lang="en-US" sz="1150" dirty="0"/>
          </a:p>
        </p:txBody>
      </p:sp>
      <p:sp>
        <p:nvSpPr>
          <p:cNvPr id="24" name="Shape 22"/>
          <p:cNvSpPr/>
          <p:nvPr/>
        </p:nvSpPr>
        <p:spPr>
          <a:xfrm>
            <a:off x="8266176" y="1600200"/>
            <a:ext cx="3520440" cy="4114800"/>
          </a:xfrm>
          <a:prstGeom prst="roundRect">
            <a:avLst>
              <a:gd name="adj" fmla="val 779"/>
            </a:avLst>
          </a:prstGeom>
          <a:solidFill>
            <a:srgbClr val="FFFFFF"/>
          </a:solidFill>
          <a:ln w="12700">
            <a:solidFill>
              <a:srgbClr val="FFFFFF"/>
            </a:solidFill>
            <a:prstDash val="solid"/>
          </a:ln>
        </p:spPr>
      </p:sp>
      <p:sp>
        <p:nvSpPr>
          <p:cNvPr id="25" name="Shape 23"/>
          <p:cNvSpPr/>
          <p:nvPr/>
        </p:nvSpPr>
        <p:spPr>
          <a:xfrm>
            <a:off x="8522208" y="1856232"/>
            <a:ext cx="3008376" cy="1783080"/>
          </a:xfrm>
          <a:prstGeom prst="roundRect">
            <a:avLst>
              <a:gd name="adj" fmla="val 1538"/>
            </a:avLst>
          </a:prstGeom>
          <a:solidFill>
            <a:srgbClr val="FFFFFF"/>
          </a:solidFill>
          <a:ln w="15875">
            <a:solidFill>
              <a:srgbClr val="134074"/>
            </a:solidFill>
            <a:prstDash val="dash"/>
          </a:ln>
        </p:spPr>
      </p:sp>
      <p:sp>
        <p:nvSpPr>
          <p:cNvPr id="26" name="Shape 24"/>
          <p:cNvSpPr/>
          <p:nvPr/>
        </p:nvSpPr>
        <p:spPr>
          <a:xfrm>
            <a:off x="8668512" y="2002536"/>
            <a:ext cx="1417320" cy="274320"/>
          </a:xfrm>
          <a:prstGeom prst="roundRect">
            <a:avLst>
              <a:gd name="adj" fmla="val 66667"/>
            </a:avLst>
          </a:prstGeom>
          <a:solidFill>
            <a:srgbClr val="134074"/>
          </a:solidFill>
          <a:ln w="6350">
            <a:solidFill>
              <a:srgbClr val="134074"/>
            </a:solidFill>
            <a:prstDash val="solid"/>
          </a:ln>
        </p:spPr>
      </p:sp>
      <p:sp>
        <p:nvSpPr>
          <p:cNvPr id="27" name="Text 25"/>
          <p:cNvSpPr/>
          <p:nvPr/>
        </p:nvSpPr>
        <p:spPr>
          <a:xfrm>
            <a:off x="8668512" y="2002536"/>
            <a:ext cx="1417320" cy="274320"/>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Asap" pitchFamily="34" charset="0"/>
                <a:ea typeface="Asap" pitchFamily="34" charset="-122"/>
                <a:cs typeface="Asap" pitchFamily="34" charset="-120"/>
              </a:rPr>
              <a:t>PHOTO</a:t>
            </a:r>
            <a:endParaRPr lang="en-US" sz="900" dirty="0"/>
          </a:p>
        </p:txBody>
      </p:sp>
      <p:sp>
        <p:nvSpPr>
          <p:cNvPr id="28" name="Text 26"/>
          <p:cNvSpPr/>
          <p:nvPr/>
        </p:nvSpPr>
        <p:spPr>
          <a:xfrm>
            <a:off x="8796528" y="2327148"/>
            <a:ext cx="2459736" cy="457200"/>
          </a:xfrm>
          <a:prstGeom prst="rect">
            <a:avLst/>
          </a:prstGeom>
          <a:noFill/>
          <a:ln/>
        </p:spPr>
        <p:txBody>
          <a:bodyPr wrap="square" lIns="0" tIns="0" rIns="0" bIns="0" rtlCol="0" anchor="b"/>
          <a:lstStyle/>
          <a:p>
            <a:pPr algn="ctr" indent="0" marL="0">
              <a:buNone/>
            </a:pPr>
            <a:r>
              <a:rPr lang="en-US" sz="1400" b="1" dirty="0">
                <a:solidFill>
                  <a:srgbClr val="134074"/>
                </a:solidFill>
                <a:latin typeface="Asap" pitchFamily="34" charset="0"/>
                <a:ea typeface="Asap" pitchFamily="34" charset="-122"/>
                <a:cs typeface="Asap" pitchFamily="34" charset="-120"/>
              </a:rPr>
              <a:t>Member photo</a:t>
            </a:r>
            <a:endParaRPr lang="en-US" sz="1400" dirty="0"/>
          </a:p>
        </p:txBody>
      </p:sp>
      <p:sp>
        <p:nvSpPr>
          <p:cNvPr id="29" name="Text 27"/>
          <p:cNvSpPr/>
          <p:nvPr/>
        </p:nvSpPr>
        <p:spPr>
          <a:xfrm>
            <a:off x="8796528" y="2802636"/>
            <a:ext cx="2459736" cy="868680"/>
          </a:xfrm>
          <a:prstGeom prst="rect">
            <a:avLst/>
          </a:prstGeom>
          <a:noFill/>
          <a:ln/>
        </p:spPr>
        <p:txBody>
          <a:bodyPr wrap="square" lIns="0" tIns="0" rIns="0" bIns="0" rtlCol="0" anchor="t"/>
          <a:lstStyle/>
          <a:p>
            <a:pPr algn="ctr" indent="0" marL="0">
              <a:lnSpc>
                <a:spcPct val="115000"/>
              </a:lnSpc>
              <a:buNone/>
            </a:pPr>
            <a:r>
              <a:rPr lang="en-US" sz="1050" i="1" dirty="0">
                <a:solidFill>
                  <a:srgbClr val="5C6B63"/>
                </a:solidFill>
                <a:latin typeface="Asap" pitchFamily="34" charset="0"/>
                <a:ea typeface="Asap" pitchFamily="34" charset="-122"/>
                <a:cs typeface="Asap" pitchFamily="34" charset="-120"/>
              </a:rPr>
              <a:t>Portrait, square crop</a:t>
            </a:r>
            <a:endParaRPr lang="en-US" sz="1050" dirty="0"/>
          </a:p>
        </p:txBody>
      </p:sp>
      <p:sp>
        <p:nvSpPr>
          <p:cNvPr id="30" name="Text 28"/>
          <p:cNvSpPr/>
          <p:nvPr/>
        </p:nvSpPr>
        <p:spPr>
          <a:xfrm>
            <a:off x="8522208" y="3794760"/>
            <a:ext cx="3008376" cy="320040"/>
          </a:xfrm>
          <a:prstGeom prst="rect">
            <a:avLst/>
          </a:prstGeom>
          <a:noFill/>
          <a:ln/>
        </p:spPr>
        <p:txBody>
          <a:bodyPr wrap="square" lIns="0" tIns="0" rIns="0" bIns="0" rtlCol="0" anchor="ctr"/>
          <a:lstStyle/>
          <a:p>
            <a:pPr indent="0" marL="0">
              <a:buNone/>
            </a:pPr>
            <a:r>
              <a:rPr lang="en-US" sz="1800" b="1" dirty="0">
                <a:solidFill>
                  <a:srgbClr val="134074"/>
                </a:solidFill>
                <a:latin typeface="Asap" pitchFamily="34" charset="0"/>
                <a:ea typeface="Asap" pitchFamily="34" charset="-122"/>
                <a:cs typeface="Asap" pitchFamily="34" charset="-120"/>
              </a:rPr>
              <a:t>Đặng Cao Cương</a:t>
            </a:r>
            <a:endParaRPr lang="en-US" sz="1800" dirty="0"/>
          </a:p>
        </p:txBody>
      </p:sp>
      <p:sp>
        <p:nvSpPr>
          <p:cNvPr id="31" name="Text 29"/>
          <p:cNvSpPr/>
          <p:nvPr/>
        </p:nvSpPr>
        <p:spPr>
          <a:xfrm>
            <a:off x="8522208" y="4133088"/>
            <a:ext cx="3008376" cy="256032"/>
          </a:xfrm>
          <a:prstGeom prst="rect">
            <a:avLst/>
          </a:prstGeom>
          <a:noFill/>
          <a:ln/>
        </p:spPr>
        <p:txBody>
          <a:bodyPr wrap="square" lIns="0" tIns="0" rIns="0" bIns="0" rtlCol="0" anchor="ctr"/>
          <a:lstStyle/>
          <a:p>
            <a:pPr indent="0" marL="0">
              <a:buNone/>
            </a:pPr>
            <a:r>
              <a:rPr lang="en-US" sz="1100" dirty="0">
                <a:solidFill>
                  <a:srgbClr val="5C6B63"/>
                </a:solidFill>
                <a:latin typeface="Asap" pitchFamily="34" charset="0"/>
                <a:ea typeface="Asap" pitchFamily="34" charset="-122"/>
                <a:cs typeface="Asap" pitchFamily="34" charset="-120"/>
              </a:rPr>
              <a:t>Student ID 2231200087</a:t>
            </a:r>
            <a:endParaRPr lang="en-US" sz="1100" dirty="0"/>
          </a:p>
        </p:txBody>
      </p:sp>
      <p:sp>
        <p:nvSpPr>
          <p:cNvPr id="32" name="Text 30"/>
          <p:cNvSpPr/>
          <p:nvPr/>
        </p:nvSpPr>
        <p:spPr>
          <a:xfrm>
            <a:off x="8522208" y="4453128"/>
            <a:ext cx="3008376" cy="274320"/>
          </a:xfrm>
          <a:prstGeom prst="rect">
            <a:avLst/>
          </a:prstGeom>
          <a:noFill/>
          <a:ln/>
        </p:spPr>
        <p:txBody>
          <a:bodyPr wrap="square" lIns="0" tIns="0" rIns="0" bIns="0" rtlCol="0" anchor="ctr"/>
          <a:lstStyle/>
          <a:p>
            <a:pPr indent="0" marL="0">
              <a:buNone/>
            </a:pPr>
            <a:r>
              <a:rPr lang="en-US" sz="1350" b="1" dirty="0">
                <a:solidFill>
                  <a:srgbClr val="B5561F"/>
                </a:solidFill>
                <a:latin typeface="Asap" pitchFamily="34" charset="0"/>
                <a:ea typeface="Asap" pitchFamily="34" charset="-122"/>
                <a:cs typeface="Asap" pitchFamily="34" charset="-120"/>
              </a:rPr>
              <a:t>[ROLE — TO FILL]</a:t>
            </a:r>
            <a:endParaRPr lang="en-US" sz="1350" dirty="0"/>
          </a:p>
        </p:txBody>
      </p:sp>
      <p:sp>
        <p:nvSpPr>
          <p:cNvPr id="33" name="Text 31"/>
          <p:cNvSpPr/>
          <p:nvPr/>
        </p:nvSpPr>
        <p:spPr>
          <a:xfrm>
            <a:off x="8522208" y="4791456"/>
            <a:ext cx="3008376" cy="777240"/>
          </a:xfrm>
          <a:prstGeom prst="rect">
            <a:avLst/>
          </a:prstGeom>
          <a:noFill/>
          <a:ln/>
        </p:spPr>
        <p:txBody>
          <a:bodyPr wrap="square" lIns="0" tIns="0" rIns="0" bIns="0" rtlCol="0" anchor="ctr"/>
          <a:lstStyle/>
          <a:p>
            <a:pPr indent="0" marL="0">
              <a:lnSpc>
                <a:spcPct val="115000"/>
              </a:lnSpc>
              <a:buNone/>
            </a:pPr>
            <a:r>
              <a:rPr lang="en-US" sz="1150" i="1" dirty="0">
                <a:solidFill>
                  <a:srgbClr val="B5561F"/>
                </a:solidFill>
                <a:latin typeface="Asap" pitchFamily="34" charset="0"/>
                <a:ea typeface="Asap" pitchFamily="34" charset="-122"/>
                <a:cs typeface="Asap" pitchFamily="34" charset="-120"/>
              </a:rPr>
              <a:t>[Main contribution — to fill]</a:t>
            </a:r>
            <a:endParaRPr lang="en-US" sz="1150" dirty="0"/>
          </a:p>
        </p:txBody>
      </p:sp>
      <p:sp>
        <p:nvSpPr>
          <p:cNvPr id="34" name="Text 32"/>
          <p:cNvSpPr/>
          <p:nvPr/>
        </p:nvSpPr>
        <p:spPr>
          <a:xfrm>
            <a:off x="566928" y="5897880"/>
            <a:ext cx="11057839" cy="274320"/>
          </a:xfrm>
          <a:prstGeom prst="rect">
            <a:avLst/>
          </a:prstGeom>
          <a:noFill/>
          <a:ln/>
        </p:spPr>
        <p:txBody>
          <a:bodyPr wrap="square" lIns="0" tIns="0" rIns="0" bIns="0" rtlCol="0" anchor="ctr"/>
          <a:lstStyle/>
          <a:p>
            <a:pPr indent="0" marL="0">
              <a:buNone/>
            </a:pPr>
            <a:r>
              <a:rPr lang="en-US" sz="1150" i="1" dirty="0">
                <a:solidFill>
                  <a:srgbClr val="5C6B63"/>
                </a:solidFill>
                <a:latin typeface="Asap" pitchFamily="34" charset="0"/>
                <a:ea typeface="Asap" pitchFamily="34" charset="-122"/>
                <a:cs typeface="Asap" pitchFamily="34" charset="-120"/>
              </a:rPr>
              <a:t>Each member introduces themselves in one sentence — nobody speaks for anyone else.</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EF4ED"/>
        </a:solidFill>
      </p:bgPr>
    </p:bg>
    <p:spTree>
      <p:nvGrpSpPr>
        <p:cNvPr id="1" name=""/>
        <p:cNvGrpSpPr/>
        <p:nvPr/>
      </p:nvGrpSpPr>
      <p:grpSpPr>
        <a:xfrm>
          <a:off x="0" y="0"/>
          <a:ext cx="0" cy="0"/>
          <a:chOff x="0" y="0"/>
          <a:chExt cx="0" cy="0"/>
        </a:xfrm>
      </p:grpSpPr>
      <p:sp>
        <p:nvSpPr>
          <p:cNvPr id="2" name="Text 0"/>
          <p:cNvSpPr/>
          <p:nvPr/>
        </p:nvSpPr>
        <p:spPr>
          <a:xfrm>
            <a:off x="566928" y="347472"/>
            <a:ext cx="10515600" cy="256032"/>
          </a:xfrm>
          <a:prstGeom prst="rect">
            <a:avLst/>
          </a:prstGeom>
          <a:noFill/>
          <a:ln/>
        </p:spPr>
        <p:txBody>
          <a:bodyPr wrap="square" lIns="0" tIns="0" rIns="0" bIns="0" rtlCol="0" anchor="ctr"/>
          <a:lstStyle/>
          <a:p>
            <a:pPr indent="0" marL="0">
              <a:buNone/>
            </a:pPr>
            <a:r>
              <a:rPr lang="en-US" sz="1100" b="1" spc="220" kern="0" dirty="0">
                <a:solidFill>
                  <a:srgbClr val="8DA9C4"/>
                </a:solidFill>
                <a:latin typeface="Asap" pitchFamily="34" charset="0"/>
                <a:ea typeface="Asap" pitchFamily="34" charset="-122"/>
                <a:cs typeface="Asap" pitchFamily="34" charset="-120"/>
              </a:rPr>
              <a:t>03 · PROJECT CONTEXT</a:t>
            </a:r>
            <a:endParaRPr lang="en-US" sz="1100" dirty="0"/>
          </a:p>
        </p:txBody>
      </p:sp>
      <p:sp>
        <p:nvSpPr>
          <p:cNvPr id="3" name="Text 1"/>
          <p:cNvSpPr/>
          <p:nvPr/>
        </p:nvSpPr>
        <p:spPr>
          <a:xfrm>
            <a:off x="566928" y="603504"/>
            <a:ext cx="10881360" cy="658368"/>
          </a:xfrm>
          <a:prstGeom prst="rect">
            <a:avLst/>
          </a:prstGeom>
          <a:noFill/>
          <a:ln/>
        </p:spPr>
        <p:txBody>
          <a:bodyPr wrap="square" lIns="0" tIns="0" rIns="0" bIns="0" rtlCol="0" anchor="t"/>
          <a:lstStyle/>
          <a:p>
            <a:pPr indent="0" marL="0">
              <a:buNone/>
            </a:pPr>
            <a:r>
              <a:rPr lang="en-US" sz="3100" b="1" dirty="0">
                <a:solidFill>
                  <a:srgbClr val="134074"/>
                </a:solidFill>
                <a:latin typeface="Asap" pitchFamily="34" charset="0"/>
                <a:ea typeface="Asap" pitchFamily="34" charset="-122"/>
                <a:cs typeface="Asap" pitchFamily="34" charset="-120"/>
              </a:rPr>
              <a:t>Why This Project</a:t>
            </a:r>
            <a:endParaRPr lang="en-US" sz="3100" dirty="0"/>
          </a:p>
        </p:txBody>
      </p:sp>
      <p:sp>
        <p:nvSpPr>
          <p:cNvPr id="4" name="Shape 2"/>
          <p:cNvSpPr/>
          <p:nvPr/>
        </p:nvSpPr>
        <p:spPr>
          <a:xfrm>
            <a:off x="566928" y="1572768"/>
            <a:ext cx="4343400" cy="4206240"/>
          </a:xfrm>
          <a:prstGeom prst="roundRect">
            <a:avLst>
              <a:gd name="adj" fmla="val 652"/>
            </a:avLst>
          </a:prstGeom>
          <a:solidFill>
            <a:srgbClr val="134074"/>
          </a:solidFill>
          <a:ln w="12700">
            <a:solidFill>
              <a:srgbClr val="134074"/>
            </a:solidFill>
            <a:prstDash val="solid"/>
          </a:ln>
        </p:spPr>
      </p:sp>
      <p:sp>
        <p:nvSpPr>
          <p:cNvPr id="5" name="Text 3"/>
          <p:cNvSpPr/>
          <p:nvPr/>
        </p:nvSpPr>
        <p:spPr>
          <a:xfrm>
            <a:off x="877824" y="1828800"/>
            <a:ext cx="3721608" cy="274320"/>
          </a:xfrm>
          <a:prstGeom prst="rect">
            <a:avLst/>
          </a:prstGeom>
          <a:noFill/>
          <a:ln/>
        </p:spPr>
        <p:txBody>
          <a:bodyPr wrap="square" lIns="0" tIns="0" rIns="0" bIns="0" rtlCol="0" anchor="ctr"/>
          <a:lstStyle/>
          <a:p>
            <a:pPr indent="0" marL="0">
              <a:buNone/>
            </a:pPr>
            <a:r>
              <a:rPr lang="en-US" sz="1000" b="1" spc="130" kern="0" dirty="0">
                <a:solidFill>
                  <a:srgbClr val="8DA9C4"/>
                </a:solidFill>
                <a:latin typeface="Asap" pitchFamily="34" charset="0"/>
                <a:ea typeface="Asap" pitchFamily="34" charset="-122"/>
                <a:cs typeface="Asap" pitchFamily="34" charset="-120"/>
              </a:rPr>
              <a:t>THE QUESTION A FACTORY CANNOT ANSWER</a:t>
            </a:r>
            <a:endParaRPr lang="en-US" sz="1000" dirty="0"/>
          </a:p>
        </p:txBody>
      </p:sp>
      <p:sp>
        <p:nvSpPr>
          <p:cNvPr id="6" name="Text 4"/>
          <p:cNvSpPr/>
          <p:nvPr/>
        </p:nvSpPr>
        <p:spPr>
          <a:xfrm>
            <a:off x="877824" y="2194560"/>
            <a:ext cx="3721608" cy="960120"/>
          </a:xfrm>
          <a:prstGeom prst="rect">
            <a:avLst/>
          </a:prstGeom>
          <a:noFill/>
          <a:ln/>
        </p:spPr>
        <p:txBody>
          <a:bodyPr wrap="square" lIns="0" tIns="0" rIns="0" bIns="0" rtlCol="0" anchor="ctr"/>
          <a:lstStyle/>
          <a:p>
            <a:pPr indent="0" marL="0">
              <a:lnSpc>
                <a:spcPct val="110000"/>
              </a:lnSpc>
              <a:buNone/>
            </a:pPr>
            <a:r>
              <a:rPr lang="en-US" sz="2200" b="1" i="1" dirty="0">
                <a:solidFill>
                  <a:srgbClr val="FFFFFF"/>
                </a:solidFill>
                <a:latin typeface="Asap" pitchFamily="34" charset="0"/>
                <a:ea typeface="Asap" pitchFamily="34" charset="-122"/>
                <a:cs typeface="Asap" pitchFamily="34" charset="-120"/>
              </a:rPr>
              <a:t>“Do we have enough stock</a:t>
            </a:r>
            <a:endParaRPr lang="en-US" sz="2200" dirty="0"/>
          </a:p>
          <a:p>
            <a:pPr indent="0" marL="0">
              <a:lnSpc>
                <a:spcPct val="110000"/>
              </a:lnSpc>
              <a:buNone/>
            </a:pPr>
            <a:r>
              <a:rPr lang="en-US" sz="2200" b="1" i="1" dirty="0">
                <a:solidFill>
                  <a:srgbClr val="FFFFFF"/>
                </a:solidFill>
                <a:latin typeface="Asap" pitchFamily="34" charset="0"/>
                <a:ea typeface="Asap" pitchFamily="34" charset="-122"/>
                <a:cs typeface="Asap" pitchFamily="34" charset="-120"/>
              </a:rPr>
              <a:t>to accept this order?”</a:t>
            </a:r>
            <a:endParaRPr lang="en-US" sz="2200" dirty="0"/>
          </a:p>
        </p:txBody>
      </p:sp>
      <p:sp>
        <p:nvSpPr>
          <p:cNvPr id="7" name="Text 5"/>
          <p:cNvSpPr/>
          <p:nvPr/>
        </p:nvSpPr>
        <p:spPr>
          <a:xfrm>
            <a:off x="877824" y="3291840"/>
            <a:ext cx="3721608" cy="2194560"/>
          </a:xfrm>
          <a:prstGeom prst="rect">
            <a:avLst/>
          </a:prstGeom>
          <a:noFill/>
          <a:ln/>
        </p:spPr>
        <p:txBody>
          <a:bodyPr wrap="square" lIns="0" tIns="0" rIns="0" bIns="0" rtlCol="0" anchor="ctr"/>
          <a:lstStyle/>
          <a:p>
            <a:pPr indent="0" marL="0">
              <a:lnSpc>
                <a:spcPct val="128000"/>
              </a:lnSpc>
              <a:buNone/>
            </a:pPr>
            <a:r>
              <a:rPr lang="en-US" sz="1250" dirty="0">
                <a:solidFill>
                  <a:srgbClr val="8DA9C4"/>
                </a:solidFill>
                <a:latin typeface="Asap" pitchFamily="34" charset="0"/>
                <a:ea typeface="Asap" pitchFamily="34" charset="-122"/>
                <a:cs typeface="Asap" pitchFamily="34" charset="-120"/>
              </a:rPr>
              <a:t>The system says 100 in stock. But 60 is already reserved for another order and 20 sits on quality hold. Truly available: 20.</a:t>
            </a:r>
            <a:endParaRPr lang="en-US" sz="1250" dirty="0"/>
          </a:p>
          <a:p>
            <a:pPr indent="0" marL="0">
              <a:lnSpc>
                <a:spcPct val="128000"/>
              </a:lnSpc>
              <a:buNone/>
            </a:pPr>
            <a:r>
              <a:rPr lang="en-US" sz="700" dirty="0">
                <a:solidFill>
                  <a:srgbClr val="8DA9C4"/>
                </a:solidFill>
                <a:latin typeface="Asap" pitchFamily="34" charset="0"/>
                <a:ea typeface="Asap" pitchFamily="34" charset="-122"/>
                <a:cs typeface="Asap" pitchFamily="34" charset="-120"/>
              </a:rPr>
              <a:t> </a:t>
            </a:r>
            <a:endParaRPr lang="en-US" sz="1250" dirty="0"/>
          </a:p>
          <a:p>
            <a:pPr indent="0" marL="0">
              <a:lnSpc>
                <a:spcPct val="128000"/>
              </a:lnSpc>
              <a:buNone/>
            </a:pPr>
            <a:r>
              <a:rPr lang="en-US" sz="1250" dirty="0">
                <a:solidFill>
                  <a:srgbClr val="8DA9C4"/>
                </a:solidFill>
                <a:latin typeface="Asap" pitchFamily="34" charset="0"/>
                <a:ea typeface="Asap" pitchFamily="34" charset="-122"/>
                <a:cs typeface="Asap" pitchFamily="34" charset="-120"/>
              </a:rPr>
              <a:t>When those numbers live in scattered spreadsheets, production decisions run on stale data and outdated bills of material — and traceability breaks exactly when a recall needs it.</a:t>
            </a:r>
            <a:endParaRPr lang="en-US" sz="1250" dirty="0"/>
          </a:p>
        </p:txBody>
      </p:sp>
      <p:sp>
        <p:nvSpPr>
          <p:cNvPr id="8" name="Shape 6"/>
          <p:cNvSpPr/>
          <p:nvPr/>
        </p:nvSpPr>
        <p:spPr>
          <a:xfrm>
            <a:off x="5285232" y="1691640"/>
            <a:ext cx="365760" cy="365760"/>
          </a:xfrm>
          <a:prstGeom prst="roundRect">
            <a:avLst>
              <a:gd name="adj" fmla="val 17500"/>
            </a:avLst>
          </a:prstGeom>
          <a:solidFill>
            <a:srgbClr val="134074"/>
          </a:solidFill>
          <a:ln w="6350">
            <a:solidFill>
              <a:srgbClr val="134074"/>
            </a:solidFill>
            <a:prstDash val="solid"/>
          </a:ln>
        </p:spPr>
      </p:sp>
      <p:sp>
        <p:nvSpPr>
          <p:cNvPr id="9" name="Text 7"/>
          <p:cNvSpPr/>
          <p:nvPr/>
        </p:nvSpPr>
        <p:spPr>
          <a:xfrm>
            <a:off x="5285232" y="16916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sap" pitchFamily="34" charset="0"/>
                <a:ea typeface="Asap" pitchFamily="34" charset="-122"/>
                <a:cs typeface="Asap" pitchFamily="34" charset="-120"/>
              </a:rPr>
              <a:t>1</a:t>
            </a:r>
            <a:endParaRPr lang="en-US" sz="1400" dirty="0"/>
          </a:p>
        </p:txBody>
      </p:sp>
      <p:sp>
        <p:nvSpPr>
          <p:cNvPr id="10" name="Text 8"/>
          <p:cNvSpPr/>
          <p:nvPr/>
        </p:nvSpPr>
        <p:spPr>
          <a:xfrm>
            <a:off x="5815584" y="1673352"/>
            <a:ext cx="5809183" cy="256032"/>
          </a:xfrm>
          <a:prstGeom prst="rect">
            <a:avLst/>
          </a:prstGeom>
          <a:noFill/>
          <a:ln/>
        </p:spPr>
        <p:txBody>
          <a:bodyPr wrap="square" lIns="0" tIns="0" rIns="0" bIns="0" rtlCol="0" anchor="t"/>
          <a:lstStyle/>
          <a:p>
            <a:pPr indent="0" marL="0">
              <a:buNone/>
            </a:pPr>
            <a:r>
              <a:rPr lang="en-US" sz="1350" b="1" dirty="0">
                <a:solidFill>
                  <a:srgbClr val="134074"/>
                </a:solidFill>
                <a:latin typeface="Asap" pitchFamily="34" charset="0"/>
                <a:ea typeface="Asap" pitchFamily="34" charset="-122"/>
                <a:cs typeface="Asap" pitchFamily="34" charset="-120"/>
              </a:rPr>
              <a:t>What we build</a:t>
            </a:r>
            <a:endParaRPr lang="en-US" sz="1350" dirty="0"/>
          </a:p>
        </p:txBody>
      </p:sp>
      <p:sp>
        <p:nvSpPr>
          <p:cNvPr id="11" name="Text 9"/>
          <p:cNvSpPr/>
          <p:nvPr/>
        </p:nvSpPr>
        <p:spPr>
          <a:xfrm>
            <a:off x="5815584" y="1929384"/>
            <a:ext cx="5809183" cy="914400"/>
          </a:xfrm>
          <a:prstGeom prst="rect">
            <a:avLst/>
          </a:prstGeom>
          <a:noFill/>
          <a:ln/>
        </p:spPr>
        <p:txBody>
          <a:bodyPr wrap="square" lIns="0" tIns="0" rIns="0" bIns="0" rtlCol="0" anchor="t"/>
          <a:lstStyle/>
          <a:p>
            <a:pPr indent="0" marL="0">
              <a:lnSpc>
                <a:spcPct val="112000"/>
              </a:lnSpc>
              <a:buNone/>
            </a:pPr>
            <a:r>
              <a:rPr lang="en-US" sz="1150" dirty="0">
                <a:solidFill>
                  <a:srgbClr val="5C6B63"/>
                </a:solidFill>
                <a:latin typeface="Asap" pitchFamily="34" charset="0"/>
                <a:ea typeface="Asap" pitchFamily="34" charset="-122"/>
                <a:cs typeface="Asap" pitchFamily="34" charset="-120"/>
              </a:rPr>
              <a:t>OmniPlant links customer order → material planning → production → quality → inventory into one controlled, traceable chain of documents. Every step has an owner, a permission, a rule, and a way back.</a:t>
            </a:r>
            <a:endParaRPr lang="en-US" sz="1150" dirty="0"/>
          </a:p>
        </p:txBody>
      </p:sp>
      <p:sp>
        <p:nvSpPr>
          <p:cNvPr id="12" name="Shape 10"/>
          <p:cNvSpPr/>
          <p:nvPr/>
        </p:nvSpPr>
        <p:spPr>
          <a:xfrm>
            <a:off x="5285232" y="3063240"/>
            <a:ext cx="365760" cy="365760"/>
          </a:xfrm>
          <a:prstGeom prst="roundRect">
            <a:avLst>
              <a:gd name="adj" fmla="val 17500"/>
            </a:avLst>
          </a:prstGeom>
          <a:solidFill>
            <a:srgbClr val="134074"/>
          </a:solidFill>
          <a:ln w="6350">
            <a:solidFill>
              <a:srgbClr val="134074"/>
            </a:solidFill>
            <a:prstDash val="solid"/>
          </a:ln>
        </p:spPr>
      </p:sp>
      <p:sp>
        <p:nvSpPr>
          <p:cNvPr id="13" name="Text 11"/>
          <p:cNvSpPr/>
          <p:nvPr/>
        </p:nvSpPr>
        <p:spPr>
          <a:xfrm>
            <a:off x="5285232" y="30632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sap" pitchFamily="34" charset="0"/>
                <a:ea typeface="Asap" pitchFamily="34" charset="-122"/>
                <a:cs typeface="Asap" pitchFamily="34" charset="-120"/>
              </a:rPr>
              <a:t>2</a:t>
            </a:r>
            <a:endParaRPr lang="en-US" sz="1400" dirty="0"/>
          </a:p>
        </p:txBody>
      </p:sp>
      <p:sp>
        <p:nvSpPr>
          <p:cNvPr id="14" name="Text 12"/>
          <p:cNvSpPr/>
          <p:nvPr/>
        </p:nvSpPr>
        <p:spPr>
          <a:xfrm>
            <a:off x="5815584" y="3044952"/>
            <a:ext cx="5809183" cy="256032"/>
          </a:xfrm>
          <a:prstGeom prst="rect">
            <a:avLst/>
          </a:prstGeom>
          <a:noFill/>
          <a:ln/>
        </p:spPr>
        <p:txBody>
          <a:bodyPr wrap="square" lIns="0" tIns="0" rIns="0" bIns="0" rtlCol="0" anchor="t"/>
          <a:lstStyle/>
          <a:p>
            <a:pPr indent="0" marL="0">
              <a:buNone/>
            </a:pPr>
            <a:r>
              <a:rPr lang="en-US" sz="1350" b="1" dirty="0">
                <a:solidFill>
                  <a:srgbClr val="134074"/>
                </a:solidFill>
                <a:latin typeface="Asap" pitchFamily="34" charset="0"/>
                <a:ea typeface="Asap" pitchFamily="34" charset="-122"/>
                <a:cs typeface="Asap" pitchFamily="34" charset="-120"/>
              </a:rPr>
              <a:t>Who uses it</a:t>
            </a:r>
            <a:endParaRPr lang="en-US" sz="1350" dirty="0"/>
          </a:p>
        </p:txBody>
      </p:sp>
      <p:sp>
        <p:nvSpPr>
          <p:cNvPr id="15" name="Text 13"/>
          <p:cNvSpPr/>
          <p:nvPr/>
        </p:nvSpPr>
        <p:spPr>
          <a:xfrm>
            <a:off x="5815584" y="3300984"/>
            <a:ext cx="5809183" cy="914400"/>
          </a:xfrm>
          <a:prstGeom prst="rect">
            <a:avLst/>
          </a:prstGeom>
          <a:noFill/>
          <a:ln/>
        </p:spPr>
        <p:txBody>
          <a:bodyPr wrap="square" lIns="0" tIns="0" rIns="0" bIns="0" rtlCol="0" anchor="t"/>
          <a:lstStyle/>
          <a:p>
            <a:pPr indent="0" marL="0">
              <a:lnSpc>
                <a:spcPct val="112000"/>
              </a:lnSpc>
              <a:buNone/>
            </a:pPr>
            <a:r>
              <a:rPr lang="en-US" sz="1150" dirty="0">
                <a:solidFill>
                  <a:srgbClr val="5C6B63"/>
                </a:solidFill>
                <a:latin typeface="Asap" pitchFamily="34" charset="0"/>
                <a:ea typeface="Asap" pitchFamily="34" charset="-122"/>
                <a:cs typeface="Asap" pitchFamily="34" charset="-120"/>
              </a:rPr>
              <a:t>Administrator — organisation, accounts, permissions, audit log.</a:t>
            </a:r>
            <a:endParaRPr lang="en-US" sz="1150" dirty="0"/>
          </a:p>
          <a:p>
            <a:pPr indent="0" marL="0">
              <a:lnSpc>
                <a:spcPct val="112000"/>
              </a:lnSpc>
              <a:buNone/>
            </a:pPr>
            <a:r>
              <a:rPr lang="en-US" sz="1150" dirty="0">
                <a:solidFill>
                  <a:srgbClr val="5C6B63"/>
                </a:solidFill>
                <a:latin typeface="Asap" pitchFamily="34" charset="0"/>
                <a:ea typeface="Asap" pitchFamily="34" charset="-122"/>
                <a:cs typeface="Asap" pitchFamily="34" charset="-120"/>
              </a:rPr>
              <a:t>Production manager — confirm orders, run planning, release work orders, approve receipts and rule on quality.</a:t>
            </a:r>
            <a:endParaRPr lang="en-US" sz="1150" dirty="0"/>
          </a:p>
          <a:p>
            <a:pPr indent="0" marL="0">
              <a:lnSpc>
                <a:spcPct val="112000"/>
              </a:lnSpc>
              <a:buNone/>
            </a:pPr>
            <a:r>
              <a:rPr lang="en-US" sz="1150" dirty="0">
                <a:solidFill>
                  <a:srgbClr val="5C6B63"/>
                </a:solidFill>
                <a:latin typeface="Asap" pitchFamily="34" charset="0"/>
                <a:ea typeface="Asap" pitchFamily="34" charset="-122"/>
                <a:cs typeface="Asap" pitchFamily="34" charset="-120"/>
              </a:rPr>
              <a:t>Warehouse &amp; shop floor — reserve, issue, report output, submit receipts.</a:t>
            </a:r>
            <a:endParaRPr lang="en-US" sz="1150" dirty="0"/>
          </a:p>
        </p:txBody>
      </p:sp>
      <p:sp>
        <p:nvSpPr>
          <p:cNvPr id="16" name="Shape 14"/>
          <p:cNvSpPr/>
          <p:nvPr/>
        </p:nvSpPr>
        <p:spPr>
          <a:xfrm>
            <a:off x="5285232" y="4690872"/>
            <a:ext cx="365760" cy="365760"/>
          </a:xfrm>
          <a:prstGeom prst="roundRect">
            <a:avLst>
              <a:gd name="adj" fmla="val 17500"/>
            </a:avLst>
          </a:prstGeom>
          <a:solidFill>
            <a:srgbClr val="134074"/>
          </a:solidFill>
          <a:ln w="6350">
            <a:solidFill>
              <a:srgbClr val="134074"/>
            </a:solidFill>
            <a:prstDash val="solid"/>
          </a:ln>
        </p:spPr>
      </p:sp>
      <p:sp>
        <p:nvSpPr>
          <p:cNvPr id="17" name="Text 15"/>
          <p:cNvSpPr/>
          <p:nvPr/>
        </p:nvSpPr>
        <p:spPr>
          <a:xfrm>
            <a:off x="5285232" y="469087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sap" pitchFamily="34" charset="0"/>
                <a:ea typeface="Asap" pitchFamily="34" charset="-122"/>
                <a:cs typeface="Asap" pitchFamily="34" charset="-120"/>
              </a:rPr>
              <a:t>3</a:t>
            </a:r>
            <a:endParaRPr lang="en-US" sz="1400" dirty="0"/>
          </a:p>
        </p:txBody>
      </p:sp>
      <p:sp>
        <p:nvSpPr>
          <p:cNvPr id="18" name="Text 16"/>
          <p:cNvSpPr/>
          <p:nvPr/>
        </p:nvSpPr>
        <p:spPr>
          <a:xfrm>
            <a:off x="5815584" y="4672584"/>
            <a:ext cx="5809183" cy="256032"/>
          </a:xfrm>
          <a:prstGeom prst="rect">
            <a:avLst/>
          </a:prstGeom>
          <a:noFill/>
          <a:ln/>
        </p:spPr>
        <p:txBody>
          <a:bodyPr wrap="square" lIns="0" tIns="0" rIns="0" bIns="0" rtlCol="0" anchor="t"/>
          <a:lstStyle/>
          <a:p>
            <a:pPr indent="0" marL="0">
              <a:buNone/>
            </a:pPr>
            <a:r>
              <a:rPr lang="en-US" sz="1350" b="1" dirty="0">
                <a:solidFill>
                  <a:srgbClr val="134074"/>
                </a:solidFill>
                <a:latin typeface="Asap" pitchFamily="34" charset="0"/>
                <a:ea typeface="Asap" pitchFamily="34" charset="-122"/>
                <a:cs typeface="Asap" pitchFamily="34" charset="-120"/>
              </a:rPr>
              <a:t>How we differ</a:t>
            </a:r>
            <a:endParaRPr lang="en-US" sz="1350" dirty="0"/>
          </a:p>
        </p:txBody>
      </p:sp>
      <p:sp>
        <p:nvSpPr>
          <p:cNvPr id="19" name="Text 17"/>
          <p:cNvSpPr/>
          <p:nvPr/>
        </p:nvSpPr>
        <p:spPr>
          <a:xfrm>
            <a:off x="5815584" y="4928616"/>
            <a:ext cx="5809183" cy="914400"/>
          </a:xfrm>
          <a:prstGeom prst="rect">
            <a:avLst/>
          </a:prstGeom>
          <a:noFill/>
          <a:ln/>
        </p:spPr>
        <p:txBody>
          <a:bodyPr wrap="square" lIns="0" tIns="0" rIns="0" bIns="0" rtlCol="0" anchor="t"/>
          <a:lstStyle/>
          <a:p>
            <a:pPr indent="0" marL="0">
              <a:lnSpc>
                <a:spcPct val="112000"/>
              </a:lnSpc>
              <a:buNone/>
            </a:pPr>
            <a:r>
              <a:rPr lang="en-US" sz="1150" dirty="0">
                <a:solidFill>
                  <a:srgbClr val="5C6B63"/>
                </a:solidFill>
                <a:latin typeface="Asap" pitchFamily="34" charset="0"/>
                <a:ea typeface="Asap" pitchFamily="34" charset="-122"/>
                <a:cs typeface="Asap" pitchFamily="34" charset="-120"/>
              </a:rPr>
              <a:t>SAP, Odoo and ERPNext already compete on breadth — we do not. The gap we target is not a missing ERP; it is how hard a huge platform is for a small team that needs transparency. So: fewer concepts, each with explicit rules.</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EF4ED"/>
        </a:solidFill>
      </p:bgPr>
    </p:bg>
    <p:spTree>
      <p:nvGrpSpPr>
        <p:cNvPr id="1" name=""/>
        <p:cNvGrpSpPr/>
        <p:nvPr/>
      </p:nvGrpSpPr>
      <p:grpSpPr>
        <a:xfrm>
          <a:off x="0" y="0"/>
          <a:ext cx="0" cy="0"/>
          <a:chOff x="0" y="0"/>
          <a:chExt cx="0" cy="0"/>
        </a:xfrm>
      </p:grpSpPr>
      <p:sp>
        <p:nvSpPr>
          <p:cNvPr id="2" name="Text 0"/>
          <p:cNvSpPr/>
          <p:nvPr/>
        </p:nvSpPr>
        <p:spPr>
          <a:xfrm>
            <a:off x="566928" y="347472"/>
            <a:ext cx="10515600" cy="256032"/>
          </a:xfrm>
          <a:prstGeom prst="rect">
            <a:avLst/>
          </a:prstGeom>
          <a:noFill/>
          <a:ln/>
        </p:spPr>
        <p:txBody>
          <a:bodyPr wrap="square" lIns="0" tIns="0" rIns="0" bIns="0" rtlCol="0" anchor="ctr"/>
          <a:lstStyle/>
          <a:p>
            <a:pPr indent="0" marL="0">
              <a:buNone/>
            </a:pPr>
            <a:r>
              <a:rPr lang="en-US" sz="1100" b="1" spc="220" kern="0" dirty="0">
                <a:solidFill>
                  <a:srgbClr val="8DA9C4"/>
                </a:solidFill>
                <a:latin typeface="Asap" pitchFamily="34" charset="0"/>
                <a:ea typeface="Asap" pitchFamily="34" charset="-122"/>
                <a:cs typeface="Asap" pitchFamily="34" charset="-120"/>
              </a:rPr>
              <a:t>04 · SCOPE</a:t>
            </a:r>
            <a:endParaRPr lang="en-US" sz="1100" dirty="0"/>
          </a:p>
        </p:txBody>
      </p:sp>
      <p:sp>
        <p:nvSpPr>
          <p:cNvPr id="3" name="Text 1"/>
          <p:cNvSpPr/>
          <p:nvPr/>
        </p:nvSpPr>
        <p:spPr>
          <a:xfrm>
            <a:off x="566928" y="603504"/>
            <a:ext cx="10881360" cy="658368"/>
          </a:xfrm>
          <a:prstGeom prst="rect">
            <a:avLst/>
          </a:prstGeom>
          <a:noFill/>
          <a:ln/>
        </p:spPr>
        <p:txBody>
          <a:bodyPr wrap="square" lIns="0" tIns="0" rIns="0" bIns="0" rtlCol="0" anchor="t"/>
          <a:lstStyle/>
          <a:p>
            <a:pPr indent="0" marL="0">
              <a:buNone/>
            </a:pPr>
            <a:r>
              <a:rPr lang="en-US" sz="3100" b="1" dirty="0">
                <a:solidFill>
                  <a:srgbClr val="134074"/>
                </a:solidFill>
                <a:latin typeface="Asap" pitchFamily="34" charset="0"/>
                <a:ea typeface="Asap" pitchFamily="34" charset="-122"/>
                <a:cs typeface="Asap" pitchFamily="34" charset="-120"/>
              </a:rPr>
              <a:t>What Capstone 2 Delivers</a:t>
            </a:r>
            <a:endParaRPr lang="en-US" sz="3100" dirty="0"/>
          </a:p>
        </p:txBody>
      </p:sp>
      <p:sp>
        <p:nvSpPr>
          <p:cNvPr id="4" name="Shape 2"/>
          <p:cNvSpPr/>
          <p:nvPr/>
        </p:nvSpPr>
        <p:spPr>
          <a:xfrm>
            <a:off x="566928" y="1572768"/>
            <a:ext cx="6720840" cy="4023360"/>
          </a:xfrm>
          <a:prstGeom prst="roundRect">
            <a:avLst>
              <a:gd name="adj" fmla="val 682"/>
            </a:avLst>
          </a:prstGeom>
          <a:solidFill>
            <a:srgbClr val="FFFFFF"/>
          </a:solidFill>
          <a:ln w="12700">
            <a:solidFill>
              <a:srgbClr val="FFFFFF"/>
            </a:solidFill>
            <a:prstDash val="solid"/>
          </a:ln>
        </p:spPr>
      </p:sp>
      <p:sp>
        <p:nvSpPr>
          <p:cNvPr id="5" name="Text 3"/>
          <p:cNvSpPr/>
          <p:nvPr/>
        </p:nvSpPr>
        <p:spPr>
          <a:xfrm>
            <a:off x="877824" y="1810512"/>
            <a:ext cx="6099048" cy="274320"/>
          </a:xfrm>
          <a:prstGeom prst="rect">
            <a:avLst/>
          </a:prstGeom>
          <a:noFill/>
          <a:ln/>
        </p:spPr>
        <p:txBody>
          <a:bodyPr wrap="square" lIns="0" tIns="0" rIns="0" bIns="0" rtlCol="0" anchor="ctr"/>
          <a:lstStyle/>
          <a:p>
            <a:pPr indent="0" marL="0">
              <a:buNone/>
            </a:pPr>
            <a:r>
              <a:rPr lang="en-US" sz="1050" b="1" spc="120" kern="0" dirty="0">
                <a:solidFill>
                  <a:srgbClr val="134074"/>
                </a:solidFill>
                <a:latin typeface="Asap" pitchFamily="34" charset="0"/>
                <a:ea typeface="Asap" pitchFamily="34" charset="-122"/>
                <a:cs typeface="Asap" pitchFamily="34" charset="-120"/>
              </a:rPr>
              <a:t>DELIVERED — ONE COMPLETE PRODUCTION LOOP</a:t>
            </a:r>
            <a:endParaRPr lang="en-US" sz="1050" dirty="0"/>
          </a:p>
        </p:txBody>
      </p:sp>
      <p:sp>
        <p:nvSpPr>
          <p:cNvPr id="6" name="Text 4"/>
          <p:cNvSpPr/>
          <p:nvPr/>
        </p:nvSpPr>
        <p:spPr>
          <a:xfrm>
            <a:off x="877824" y="2212848"/>
            <a:ext cx="6099048" cy="3200400"/>
          </a:xfrm>
          <a:prstGeom prst="rect">
            <a:avLst/>
          </a:prstGeom>
          <a:noFill/>
          <a:ln/>
        </p:spPr>
        <p:txBody>
          <a:bodyPr wrap="square" lIns="0" tIns="0" rIns="0" bIns="0" rtlCol="0" anchor="t"/>
          <a:lstStyle/>
          <a:p>
            <a:pPr marL="342900" indent="-342900">
              <a:lnSpc>
                <a:spcPct val="108000"/>
              </a:lnSpc>
              <a:spcAft>
                <a:spcPts val="800"/>
              </a:spcAft>
              <a:buSzPct val="100000"/>
              <a:buChar char="•"/>
            </a:pPr>
            <a:r>
              <a:rPr lang="en-US" sz="1250" dirty="0">
                <a:solidFill>
                  <a:srgbClr val="134074"/>
                </a:solidFill>
                <a:latin typeface="Asap" pitchFamily="34" charset="0"/>
                <a:ea typeface="Asap" pitchFamily="34" charset="-122"/>
                <a:cs typeface="Asap" pitchFamily="34" charset="-120"/>
              </a:rPr>
              <a:t>Dynamic authentication &amp; authorization scoped Company → Plant → Warehouse</a:t>
            </a:r>
            <a:endParaRPr lang="en-US" sz="1250" dirty="0"/>
          </a:p>
          <a:p>
            <a:pPr marL="342900" indent="-342900">
              <a:lnSpc>
                <a:spcPct val="108000"/>
              </a:lnSpc>
              <a:spcAft>
                <a:spcPts val="800"/>
              </a:spcAft>
              <a:buSzPct val="100000"/>
              <a:buChar char="•"/>
            </a:pPr>
            <a:r>
              <a:rPr lang="en-US" sz="1250" dirty="0">
                <a:solidFill>
                  <a:srgbClr val="134074"/>
                </a:solidFill>
                <a:latin typeface="Asap" pitchFamily="34" charset="0"/>
                <a:ea typeface="Asap" pitchFamily="34" charset="-122"/>
                <a:cs typeface="Asap" pitchFamily="34" charset="-120"/>
              </a:rPr>
              <a:t>Master data: units of measure, items, multi-level BOM, inventory, lots</a:t>
            </a:r>
            <a:endParaRPr lang="en-US" sz="1250" dirty="0"/>
          </a:p>
          <a:p>
            <a:pPr marL="342900" indent="-342900">
              <a:lnSpc>
                <a:spcPct val="108000"/>
              </a:lnSpc>
              <a:spcAft>
                <a:spcPts val="800"/>
              </a:spcAft>
              <a:buSzPct val="100000"/>
              <a:buChar char="•"/>
            </a:pPr>
            <a:r>
              <a:rPr lang="en-US" sz="1250" dirty="0">
                <a:solidFill>
                  <a:srgbClr val="134074"/>
                </a:solidFill>
                <a:latin typeface="Asap" pitchFamily="34" charset="0"/>
                <a:ea typeface="Asap" pitchFamily="34" charset="-122"/>
                <a:cs typeface="Asap" pitchFamily="34" charset="-120"/>
              </a:rPr>
              <a:t>Sales orders that generate planning demand</a:t>
            </a:r>
            <a:endParaRPr lang="en-US" sz="1250" dirty="0"/>
          </a:p>
          <a:p>
            <a:pPr marL="342900" indent="-342900">
              <a:lnSpc>
                <a:spcPct val="108000"/>
              </a:lnSpc>
              <a:spcAft>
                <a:spcPts val="800"/>
              </a:spcAft>
              <a:buSzPct val="100000"/>
              <a:buChar char="•"/>
            </a:pPr>
            <a:r>
              <a:rPr lang="en-US" sz="1250" dirty="0">
                <a:solidFill>
                  <a:srgbClr val="134074"/>
                </a:solidFill>
                <a:latin typeface="Asap" pitchFamily="34" charset="0"/>
                <a:ea typeface="Asap" pitchFamily="34" charset="-122"/>
                <a:cs typeface="Asap" pitchFamily="34" charset="-120"/>
              </a:rPr>
              <a:t>Material planning (MRP): multi-level BOM explosion, shortage netting, MAKE / BUY proposals</a:t>
            </a:r>
            <a:endParaRPr lang="en-US" sz="1250" dirty="0"/>
          </a:p>
          <a:p>
            <a:pPr marL="342900" indent="-342900">
              <a:lnSpc>
                <a:spcPct val="108000"/>
              </a:lnSpc>
              <a:spcAft>
                <a:spcPts val="800"/>
              </a:spcAft>
              <a:buSzPct val="100000"/>
              <a:buChar char="•"/>
            </a:pPr>
            <a:r>
              <a:rPr lang="en-US" sz="1250" dirty="0">
                <a:solidFill>
                  <a:srgbClr val="134074"/>
                </a:solidFill>
                <a:latin typeface="Asap" pitchFamily="34" charset="0"/>
                <a:ea typeface="Asap" pitchFamily="34" charset="-122"/>
                <a:cs typeface="Asap" pitchFamily="34" charset="-120"/>
              </a:rPr>
              <a:t>Work orders: frozen BOM snapshot, material reservation, 100% coverage required to release</a:t>
            </a:r>
            <a:endParaRPr lang="en-US" sz="1250" dirty="0"/>
          </a:p>
          <a:p>
            <a:pPr marL="342900" indent="-342900">
              <a:lnSpc>
                <a:spcPct val="108000"/>
              </a:lnSpc>
              <a:spcAft>
                <a:spcPts val="800"/>
              </a:spcAft>
              <a:buSzPct val="100000"/>
              <a:buChar char="•"/>
            </a:pPr>
            <a:r>
              <a:rPr lang="en-US" sz="1250" dirty="0">
                <a:solidFill>
                  <a:srgbClr val="134074"/>
                </a:solidFill>
                <a:latin typeface="Asap" pitchFamily="34" charset="0"/>
                <a:ea typeface="Asap" pitchFamily="34" charset="-122"/>
                <a:cs typeface="Asap" pitchFamily="34" charset="-120"/>
              </a:rPr>
              <a:t>Execution: material issue, output reporting (good / scrap / rework)</a:t>
            </a:r>
            <a:endParaRPr lang="en-US" sz="1250" dirty="0"/>
          </a:p>
          <a:p>
            <a:pPr marL="342900" indent="-342900">
              <a:lnSpc>
                <a:spcPct val="108000"/>
              </a:lnSpc>
              <a:spcAft>
                <a:spcPts val="800"/>
              </a:spcAft>
              <a:buSzPct val="100000"/>
              <a:buChar char="•"/>
            </a:pPr>
            <a:r>
              <a:rPr lang="en-US" sz="1250" dirty="0">
                <a:solidFill>
                  <a:srgbClr val="134074"/>
                </a:solidFill>
                <a:latin typeface="Asap" pitchFamily="34" charset="0"/>
                <a:ea typeface="Asap" pitchFamily="34" charset="-122"/>
                <a:cs typeface="Asap" pitchFamily="34" charset="-120"/>
              </a:rPr>
              <a:t>Goods receipt &amp; quality gate: HOLD → AVAILABLE / REJECTED</a:t>
            </a:r>
            <a:endParaRPr lang="en-US" sz="1250" dirty="0"/>
          </a:p>
          <a:p>
            <a:pPr marL="342900" indent="-342900">
              <a:lnSpc>
                <a:spcPct val="108000"/>
              </a:lnSpc>
              <a:spcAft>
                <a:spcPts val="800"/>
              </a:spcAft>
              <a:buSzPct val="100000"/>
              <a:buChar char="•"/>
            </a:pPr>
            <a:r>
              <a:rPr lang="en-US" sz="1250" dirty="0">
                <a:solidFill>
                  <a:srgbClr val="134074"/>
                </a:solidFill>
                <a:latin typeface="Asap" pitchFamily="34" charset="0"/>
                <a:ea typeface="Asap" pitchFamily="34" charset="-122"/>
                <a:cs typeface="Asap" pitchFamily="34" charset="-120"/>
              </a:rPr>
              <a:t>Loop closed: only quality-cleared goods count as fulfilled on the sales order</a:t>
            </a:r>
            <a:endParaRPr lang="en-US" sz="1250" dirty="0"/>
          </a:p>
          <a:p>
            <a:pPr marL="342900" indent="-342900">
              <a:lnSpc>
                <a:spcPct val="108000"/>
              </a:lnSpc>
              <a:spcAft>
                <a:spcPts val="800"/>
              </a:spcAft>
              <a:buSzPct val="100000"/>
              <a:buChar char="•"/>
            </a:pPr>
            <a:r>
              <a:rPr lang="en-US" sz="1250" dirty="0">
                <a:solidFill>
                  <a:srgbClr val="134074"/>
                </a:solidFill>
                <a:latin typeface="Asap" pitchFamily="34" charset="0"/>
                <a:ea typeface="Asap" pitchFamily="34" charset="-122"/>
                <a:cs typeface="Asap" pitchFamily="34" charset="-120"/>
              </a:rPr>
              <a:t>Dashboard, low-stock alerts, audit log, bilingual EN / VI interface</a:t>
            </a:r>
            <a:endParaRPr lang="en-US" sz="1250" dirty="0"/>
          </a:p>
        </p:txBody>
      </p:sp>
      <p:sp>
        <p:nvSpPr>
          <p:cNvPr id="7" name="Shape 5"/>
          <p:cNvSpPr/>
          <p:nvPr/>
        </p:nvSpPr>
        <p:spPr>
          <a:xfrm>
            <a:off x="7653528" y="1572768"/>
            <a:ext cx="3971239" cy="4023360"/>
          </a:xfrm>
          <a:prstGeom prst="roundRect">
            <a:avLst>
              <a:gd name="adj" fmla="val 691"/>
            </a:avLst>
          </a:prstGeom>
          <a:solidFill>
            <a:srgbClr val="FFFFFF"/>
          </a:solidFill>
          <a:ln w="12700">
            <a:solidFill>
              <a:srgbClr val="FFFFFF"/>
            </a:solidFill>
            <a:prstDash val="solid"/>
          </a:ln>
        </p:spPr>
      </p:sp>
      <p:sp>
        <p:nvSpPr>
          <p:cNvPr id="8" name="Text 6"/>
          <p:cNvSpPr/>
          <p:nvPr/>
        </p:nvSpPr>
        <p:spPr>
          <a:xfrm>
            <a:off x="7946136" y="1810512"/>
            <a:ext cx="3386023" cy="274320"/>
          </a:xfrm>
          <a:prstGeom prst="rect">
            <a:avLst/>
          </a:prstGeom>
          <a:noFill/>
          <a:ln/>
        </p:spPr>
        <p:txBody>
          <a:bodyPr wrap="square" lIns="0" tIns="0" rIns="0" bIns="0" rtlCol="0" anchor="ctr"/>
          <a:lstStyle/>
          <a:p>
            <a:pPr indent="0" marL="0">
              <a:buNone/>
            </a:pPr>
            <a:r>
              <a:rPr lang="en-US" sz="1050" b="1" spc="120" kern="0" dirty="0">
                <a:solidFill>
                  <a:srgbClr val="8DA9C4"/>
                </a:solidFill>
                <a:latin typeface="Asap" pitchFamily="34" charset="0"/>
                <a:ea typeface="Asap" pitchFamily="34" charset="-122"/>
                <a:cs typeface="Asap" pitchFamily="34" charset="-120"/>
              </a:rPr>
              <a:t>DELIBERATELY LEFT OUT</a:t>
            </a:r>
            <a:endParaRPr lang="en-US" sz="1050" dirty="0"/>
          </a:p>
        </p:txBody>
      </p:sp>
      <p:sp>
        <p:nvSpPr>
          <p:cNvPr id="9" name="Text 7"/>
          <p:cNvSpPr/>
          <p:nvPr/>
        </p:nvSpPr>
        <p:spPr>
          <a:xfrm>
            <a:off x="7946136" y="2212848"/>
            <a:ext cx="3386023" cy="2011680"/>
          </a:xfrm>
          <a:prstGeom prst="rect">
            <a:avLst/>
          </a:prstGeom>
          <a:noFill/>
          <a:ln/>
        </p:spPr>
        <p:txBody>
          <a:bodyPr wrap="square" lIns="0" tIns="0" rIns="0" bIns="0" rtlCol="0" anchor="t"/>
          <a:lstStyle/>
          <a:p>
            <a:pPr marL="342900" indent="-342900">
              <a:lnSpc>
                <a:spcPct val="108000"/>
              </a:lnSpc>
              <a:spcAft>
                <a:spcPts val="1100"/>
              </a:spcAft>
              <a:buSzPct val="100000"/>
              <a:buChar char="•"/>
            </a:pPr>
            <a:r>
              <a:rPr lang="en-US" sz="1250" dirty="0">
                <a:solidFill>
                  <a:srgbClr val="5C6B63"/>
                </a:solidFill>
                <a:latin typeface="Asap" pitchFamily="34" charset="0"/>
                <a:ea typeface="Asap" pitchFamily="34" charset="-122"/>
                <a:cs typeface="Asap" pitchFamily="34" charset="-120"/>
              </a:rPr>
              <a:t>Purchasing user interface</a:t>
            </a:r>
            <a:endParaRPr lang="en-US" sz="1250" dirty="0"/>
          </a:p>
          <a:p>
            <a:pPr marL="342900" indent="-342900">
              <a:lnSpc>
                <a:spcPct val="108000"/>
              </a:lnSpc>
              <a:spcAft>
                <a:spcPts val="1100"/>
              </a:spcAft>
              <a:buSzPct val="100000"/>
              <a:buChar char="•"/>
            </a:pPr>
            <a:r>
              <a:rPr lang="en-US" sz="1250" dirty="0">
                <a:solidFill>
                  <a:srgbClr val="5C6B63"/>
                </a:solidFill>
                <a:latin typeface="Asap" pitchFamily="34" charset="0"/>
                <a:ea typeface="Asap" pitchFamily="34" charset="-122"/>
                <a:cs typeface="Asap" pitchFamily="34" charset="-120"/>
              </a:rPr>
              <a:t>Delivery, invoicing, receivables</a:t>
            </a:r>
            <a:endParaRPr lang="en-US" sz="1250" dirty="0"/>
          </a:p>
          <a:p>
            <a:pPr marL="342900" indent="-342900">
              <a:lnSpc>
                <a:spcPct val="108000"/>
              </a:lnSpc>
              <a:spcAft>
                <a:spcPts val="1100"/>
              </a:spcAft>
              <a:buSzPct val="100000"/>
              <a:buChar char="•"/>
            </a:pPr>
            <a:r>
              <a:rPr lang="en-US" sz="1250" dirty="0">
                <a:solidFill>
                  <a:srgbClr val="5C6B63"/>
                </a:solidFill>
                <a:latin typeface="Asap" pitchFamily="34" charset="0"/>
                <a:ea typeface="Asap" pitchFamily="34" charset="-122"/>
                <a:cs typeface="Asap" pitchFamily="34" charset="-120"/>
              </a:rPr>
              <a:t>Machine integration (MES / PLC / IoT), OEE</a:t>
            </a:r>
            <a:endParaRPr lang="en-US" sz="1250" dirty="0"/>
          </a:p>
          <a:p>
            <a:pPr marL="342900" indent="-342900">
              <a:lnSpc>
                <a:spcPct val="108000"/>
              </a:lnSpc>
              <a:spcAft>
                <a:spcPts val="1100"/>
              </a:spcAft>
              <a:buSzPct val="100000"/>
              <a:buChar char="•"/>
            </a:pPr>
            <a:r>
              <a:rPr lang="en-US" sz="1250" dirty="0">
                <a:solidFill>
                  <a:srgbClr val="5C6B63"/>
                </a:solidFill>
                <a:latin typeface="Asap" pitchFamily="34" charset="0"/>
                <a:ea typeface="Asap" pitchFamily="34" charset="-122"/>
                <a:cs typeface="Asap" pitchFamily="34" charset="-120"/>
              </a:rPr>
              <a:t>Detailed product costing</a:t>
            </a:r>
            <a:endParaRPr lang="en-US" sz="1250" dirty="0"/>
          </a:p>
          <a:p>
            <a:pPr marL="342900" indent="-342900">
              <a:lnSpc>
                <a:spcPct val="108000"/>
              </a:lnSpc>
              <a:spcAft>
                <a:spcPts val="1100"/>
              </a:spcAft>
              <a:buSzPct val="100000"/>
              <a:buChar char="•"/>
            </a:pPr>
            <a:r>
              <a:rPr lang="en-US" sz="1250" dirty="0">
                <a:solidFill>
                  <a:srgbClr val="5C6B63"/>
                </a:solidFill>
                <a:latin typeface="Asap" pitchFamily="34" charset="0"/>
                <a:ea typeface="Asap" pitchFamily="34" charset="-122"/>
                <a:cs typeface="Asap" pitchFamily="34" charset="-120"/>
              </a:rPr>
              <a:t>Automatic schedule optimisation</a:t>
            </a:r>
            <a:endParaRPr lang="en-US" sz="1250" dirty="0"/>
          </a:p>
        </p:txBody>
      </p:sp>
      <p:sp>
        <p:nvSpPr>
          <p:cNvPr id="10" name="Text 8"/>
          <p:cNvSpPr/>
          <p:nvPr/>
        </p:nvSpPr>
        <p:spPr>
          <a:xfrm>
            <a:off x="7946136" y="4389120"/>
            <a:ext cx="3386023" cy="914400"/>
          </a:xfrm>
          <a:prstGeom prst="rect">
            <a:avLst/>
          </a:prstGeom>
          <a:noFill/>
          <a:ln/>
        </p:spPr>
        <p:txBody>
          <a:bodyPr wrap="square" lIns="0" tIns="0" rIns="0" bIns="0" rtlCol="0" anchor="ctr"/>
          <a:lstStyle/>
          <a:p>
            <a:pPr indent="0" marL="0">
              <a:lnSpc>
                <a:spcPct val="120000"/>
              </a:lnSpc>
              <a:buNone/>
            </a:pPr>
            <a:r>
              <a:rPr lang="en-US" sz="1200" b="1" i="1" dirty="0">
                <a:solidFill>
                  <a:srgbClr val="134074"/>
                </a:solidFill>
                <a:latin typeface="Asap" pitchFamily="34" charset="0"/>
                <a:ea typeface="Asap" pitchFamily="34" charset="-122"/>
                <a:cs typeface="Asap" pitchFamily="34" charset="-120"/>
              </a:rPr>
              <a:t>We chose to go deep on one complete loop rather than shallow across many areas.</a:t>
            </a:r>
            <a:endParaRPr lang="en-US" sz="1200" dirty="0"/>
          </a:p>
        </p:txBody>
      </p:sp>
      <p:sp>
        <p:nvSpPr>
          <p:cNvPr id="11" name="Text 9"/>
          <p:cNvSpPr/>
          <p:nvPr/>
        </p:nvSpPr>
        <p:spPr>
          <a:xfrm>
            <a:off x="566928" y="5852160"/>
            <a:ext cx="11057839" cy="502920"/>
          </a:xfrm>
          <a:prstGeom prst="rect">
            <a:avLst/>
          </a:prstGeom>
          <a:noFill/>
          <a:ln/>
        </p:spPr>
        <p:txBody>
          <a:bodyPr wrap="square" lIns="0" tIns="0" rIns="0" bIns="0" rtlCol="0" anchor="ctr"/>
          <a:lstStyle/>
          <a:p>
            <a:pPr indent="0" marL="0">
              <a:lnSpc>
                <a:spcPct val="120000"/>
              </a:lnSpc>
              <a:buNone/>
            </a:pPr>
            <a:r>
              <a:rPr lang="en-US" sz="1200" i="1" dirty="0">
                <a:solidFill>
                  <a:srgbClr val="B5561F"/>
                </a:solidFill>
                <a:latin typeface="Asap" pitchFamily="34" charset="0"/>
                <a:ea typeface="Asap" pitchFamily="34" charset="-122"/>
                <a:cs typeface="Asap" pitchFamily="34" charset="-120"/>
              </a:rPr>
              <a:t>We do not simulate machine data. Every production figure is entered by a person, with an owner and a timestamp — claiming MES integration we do not have would misdescribe the system.</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EF4ED"/>
        </a:solidFill>
      </p:bgPr>
    </p:bg>
    <p:spTree>
      <p:nvGrpSpPr>
        <p:cNvPr id="1" name=""/>
        <p:cNvGrpSpPr/>
        <p:nvPr/>
      </p:nvGrpSpPr>
      <p:grpSpPr>
        <a:xfrm>
          <a:off x="0" y="0"/>
          <a:ext cx="0" cy="0"/>
          <a:chOff x="0" y="0"/>
          <a:chExt cx="0" cy="0"/>
        </a:xfrm>
      </p:grpSpPr>
      <p:sp>
        <p:nvSpPr>
          <p:cNvPr id="2" name="Text 0"/>
          <p:cNvSpPr/>
          <p:nvPr/>
        </p:nvSpPr>
        <p:spPr>
          <a:xfrm>
            <a:off x="566928" y="347472"/>
            <a:ext cx="10515600" cy="256032"/>
          </a:xfrm>
          <a:prstGeom prst="rect">
            <a:avLst/>
          </a:prstGeom>
          <a:noFill/>
          <a:ln/>
        </p:spPr>
        <p:txBody>
          <a:bodyPr wrap="square" lIns="0" tIns="0" rIns="0" bIns="0" rtlCol="0" anchor="ctr"/>
          <a:lstStyle/>
          <a:p>
            <a:pPr indent="0" marL="0">
              <a:buNone/>
            </a:pPr>
            <a:r>
              <a:rPr lang="en-US" sz="1100" b="1" spc="220" kern="0" dirty="0">
                <a:solidFill>
                  <a:srgbClr val="8DA9C4"/>
                </a:solidFill>
                <a:latin typeface="Asap" pitchFamily="34" charset="0"/>
                <a:ea typeface="Asap" pitchFamily="34" charset="-122"/>
                <a:cs typeface="Asap" pitchFamily="34" charset="-120"/>
              </a:rPr>
              <a:t>05 · SYSTEM DESIGN (1 OF 2)</a:t>
            </a:r>
            <a:endParaRPr lang="en-US" sz="1100" dirty="0"/>
          </a:p>
        </p:txBody>
      </p:sp>
      <p:sp>
        <p:nvSpPr>
          <p:cNvPr id="3" name="Text 1"/>
          <p:cNvSpPr/>
          <p:nvPr/>
        </p:nvSpPr>
        <p:spPr>
          <a:xfrm>
            <a:off x="566928" y="603504"/>
            <a:ext cx="10881360" cy="658368"/>
          </a:xfrm>
          <a:prstGeom prst="rect">
            <a:avLst/>
          </a:prstGeom>
          <a:noFill/>
          <a:ln/>
        </p:spPr>
        <p:txBody>
          <a:bodyPr wrap="square" lIns="0" tIns="0" rIns="0" bIns="0" rtlCol="0" anchor="t"/>
          <a:lstStyle/>
          <a:p>
            <a:pPr indent="0" marL="0">
              <a:buNone/>
            </a:pPr>
            <a:r>
              <a:rPr lang="en-US" sz="3100" b="1" dirty="0">
                <a:solidFill>
                  <a:srgbClr val="134074"/>
                </a:solidFill>
                <a:latin typeface="Asap" pitchFamily="34" charset="0"/>
                <a:ea typeface="Asap" pitchFamily="34" charset="-122"/>
                <a:cs typeface="Asap" pitchFamily="34" charset="-120"/>
              </a:rPr>
              <a:t>Architecture &amp; Where Authority Lives</a:t>
            </a:r>
            <a:endParaRPr lang="en-US" sz="3100" dirty="0"/>
          </a:p>
        </p:txBody>
      </p:sp>
      <p:sp>
        <p:nvSpPr>
          <p:cNvPr id="4" name="Shape 2"/>
          <p:cNvSpPr/>
          <p:nvPr/>
        </p:nvSpPr>
        <p:spPr>
          <a:xfrm>
            <a:off x="566928" y="1600200"/>
            <a:ext cx="6720840" cy="4160520"/>
          </a:xfrm>
          <a:prstGeom prst="roundRect">
            <a:avLst>
              <a:gd name="adj" fmla="val 659"/>
            </a:avLst>
          </a:prstGeom>
          <a:solidFill>
            <a:srgbClr val="FFFFFF"/>
          </a:solidFill>
          <a:ln w="15875">
            <a:solidFill>
              <a:srgbClr val="134074"/>
            </a:solidFill>
            <a:prstDash val="dash"/>
          </a:ln>
        </p:spPr>
      </p:sp>
      <p:sp>
        <p:nvSpPr>
          <p:cNvPr id="5" name="Shape 3"/>
          <p:cNvSpPr/>
          <p:nvPr/>
        </p:nvSpPr>
        <p:spPr>
          <a:xfrm>
            <a:off x="713232" y="1746504"/>
            <a:ext cx="1417320" cy="274320"/>
          </a:xfrm>
          <a:prstGeom prst="roundRect">
            <a:avLst>
              <a:gd name="adj" fmla="val 66667"/>
            </a:avLst>
          </a:prstGeom>
          <a:solidFill>
            <a:srgbClr val="134074"/>
          </a:solidFill>
          <a:ln w="6350">
            <a:solidFill>
              <a:srgbClr val="134074"/>
            </a:solidFill>
            <a:prstDash val="solid"/>
          </a:ln>
        </p:spPr>
      </p:sp>
      <p:sp>
        <p:nvSpPr>
          <p:cNvPr id="6" name="Text 4"/>
          <p:cNvSpPr/>
          <p:nvPr/>
        </p:nvSpPr>
        <p:spPr>
          <a:xfrm>
            <a:off x="713232" y="1746504"/>
            <a:ext cx="1417320" cy="274320"/>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Asap" pitchFamily="34" charset="0"/>
                <a:ea typeface="Asap" pitchFamily="34" charset="-122"/>
                <a:cs typeface="Asap" pitchFamily="34" charset="-120"/>
              </a:rPr>
              <a:t>DIAGRAM 1</a:t>
            </a:r>
            <a:endParaRPr lang="en-US" sz="900" dirty="0"/>
          </a:p>
        </p:txBody>
      </p:sp>
      <p:sp>
        <p:nvSpPr>
          <p:cNvPr id="7" name="Text 5"/>
          <p:cNvSpPr/>
          <p:nvPr/>
        </p:nvSpPr>
        <p:spPr>
          <a:xfrm>
            <a:off x="841248" y="3259836"/>
            <a:ext cx="6172200" cy="457200"/>
          </a:xfrm>
          <a:prstGeom prst="rect">
            <a:avLst/>
          </a:prstGeom>
          <a:noFill/>
          <a:ln/>
        </p:spPr>
        <p:txBody>
          <a:bodyPr wrap="square" lIns="0" tIns="0" rIns="0" bIns="0" rtlCol="0" anchor="b"/>
          <a:lstStyle/>
          <a:p>
            <a:pPr algn="ctr" indent="0" marL="0">
              <a:buNone/>
            </a:pPr>
            <a:r>
              <a:rPr lang="en-US" sz="1400" b="1" dirty="0">
                <a:solidFill>
                  <a:srgbClr val="134074"/>
                </a:solidFill>
                <a:latin typeface="Asap" pitchFamily="34" charset="0"/>
                <a:ea typeface="Asap" pitchFamily="34" charset="-122"/>
                <a:cs typeface="Asap" pitchFamily="34" charset="-120"/>
              </a:rPr>
              <a:t>Three-layer architecture</a:t>
            </a:r>
            <a:endParaRPr lang="en-US" sz="1400" dirty="0"/>
          </a:p>
        </p:txBody>
      </p:sp>
      <p:sp>
        <p:nvSpPr>
          <p:cNvPr id="8" name="Text 6"/>
          <p:cNvSpPr/>
          <p:nvPr/>
        </p:nvSpPr>
        <p:spPr>
          <a:xfrm>
            <a:off x="841248" y="3735324"/>
            <a:ext cx="6172200" cy="868680"/>
          </a:xfrm>
          <a:prstGeom prst="rect">
            <a:avLst/>
          </a:prstGeom>
          <a:noFill/>
          <a:ln/>
        </p:spPr>
        <p:txBody>
          <a:bodyPr wrap="square" lIns="0" tIns="0" rIns="0" bIns="0" rtlCol="0" anchor="t"/>
          <a:lstStyle/>
          <a:p>
            <a:pPr algn="ctr" indent="0" marL="0">
              <a:lnSpc>
                <a:spcPct val="115000"/>
              </a:lnSpc>
              <a:buNone/>
            </a:pPr>
            <a:r>
              <a:rPr lang="en-US" sz="1050" i="1" dirty="0">
                <a:solidFill>
                  <a:srgbClr val="5C6B63"/>
                </a:solidFill>
                <a:latin typeface="Asap" pitchFamily="34" charset="0"/>
                <a:ea typeface="Asap" pitchFamily="34" charset="-122"/>
                <a:cs typeface="Asap" pitchFamily="34" charset="-120"/>
              </a:rPr>
              <a:t>Must show: Next.js + TypeScript UI  — REST /api/v1 →  Spring Boot modular monolith</a:t>
            </a:r>
            <a:endParaRPr lang="en-US" sz="1050" dirty="0"/>
          </a:p>
          <a:p>
            <a:pPr algn="ctr" indent="0" marL="0">
              <a:lnSpc>
                <a:spcPct val="115000"/>
              </a:lnSpc>
              <a:buNone/>
            </a:pPr>
            <a:r>
              <a:rPr lang="en-US" sz="1050" i="1" dirty="0">
                <a:solidFill>
                  <a:srgbClr val="5C6B63"/>
                </a:solidFill>
                <a:latin typeface="Asap" pitchFamily="34" charset="0"/>
                <a:ea typeface="Asap" pitchFamily="34" charset="-122"/>
                <a:cs typeface="Asap" pitchFamily="34" charset="-120"/>
              </a:rPr>
              <a:t>(auth · organization · inventory · bom · workorder · planning · sales · purchasing),</a:t>
            </a:r>
            <a:endParaRPr lang="en-US" sz="1050" dirty="0"/>
          </a:p>
          <a:p>
            <a:pPr algn="ctr" indent="0" marL="0">
              <a:lnSpc>
                <a:spcPct val="115000"/>
              </a:lnSpc>
              <a:buNone/>
            </a:pPr>
            <a:r>
              <a:rPr lang="en-US" sz="1050" i="1" dirty="0">
                <a:solidFill>
                  <a:srgbClr val="5C6B63"/>
                </a:solidFill>
                <a:latin typeface="Asap" pitchFamily="34" charset="0"/>
                <a:ea typeface="Asap" pitchFamily="34" charset="-122"/>
                <a:cs typeface="Asap" pitchFamily="34" charset="-120"/>
              </a:rPr>
              <a:t>sitting on PostgreSQL (source of truth) and Redis (sessions &amp; tokens).</a:t>
            </a:r>
            <a:endParaRPr lang="en-US" sz="1050" dirty="0"/>
          </a:p>
        </p:txBody>
      </p:sp>
      <p:sp>
        <p:nvSpPr>
          <p:cNvPr id="9" name="Shape 7"/>
          <p:cNvSpPr/>
          <p:nvPr/>
        </p:nvSpPr>
        <p:spPr>
          <a:xfrm>
            <a:off x="7653528" y="1737360"/>
            <a:ext cx="365760" cy="365760"/>
          </a:xfrm>
          <a:prstGeom prst="roundRect">
            <a:avLst>
              <a:gd name="adj" fmla="val 17500"/>
            </a:avLst>
          </a:prstGeom>
          <a:solidFill>
            <a:srgbClr val="134074"/>
          </a:solidFill>
          <a:ln w="6350">
            <a:solidFill>
              <a:srgbClr val="134074"/>
            </a:solidFill>
            <a:prstDash val="solid"/>
          </a:ln>
        </p:spPr>
      </p:sp>
      <p:sp>
        <p:nvSpPr>
          <p:cNvPr id="10" name="Text 8"/>
          <p:cNvSpPr/>
          <p:nvPr/>
        </p:nvSpPr>
        <p:spPr>
          <a:xfrm>
            <a:off x="7653528" y="173736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sap" pitchFamily="34" charset="0"/>
                <a:ea typeface="Asap" pitchFamily="34" charset="-122"/>
                <a:cs typeface="Asap" pitchFamily="34" charset="-120"/>
              </a:rPr>
              <a:t>1</a:t>
            </a:r>
            <a:endParaRPr lang="en-US" sz="1400" dirty="0"/>
          </a:p>
        </p:txBody>
      </p:sp>
      <p:sp>
        <p:nvSpPr>
          <p:cNvPr id="11" name="Text 9"/>
          <p:cNvSpPr/>
          <p:nvPr/>
        </p:nvSpPr>
        <p:spPr>
          <a:xfrm>
            <a:off x="8183880" y="1719072"/>
            <a:ext cx="3440887" cy="256032"/>
          </a:xfrm>
          <a:prstGeom prst="rect">
            <a:avLst/>
          </a:prstGeom>
          <a:noFill/>
          <a:ln/>
        </p:spPr>
        <p:txBody>
          <a:bodyPr wrap="square" lIns="0" tIns="0" rIns="0" bIns="0" rtlCol="0" anchor="t"/>
          <a:lstStyle/>
          <a:p>
            <a:pPr indent="0" marL="0">
              <a:buNone/>
            </a:pPr>
            <a:r>
              <a:rPr lang="en-US" sz="1350" b="1" dirty="0">
                <a:solidFill>
                  <a:srgbClr val="134074"/>
                </a:solidFill>
                <a:latin typeface="Asap" pitchFamily="34" charset="0"/>
                <a:ea typeface="Asap" pitchFamily="34" charset="-122"/>
                <a:cs typeface="Asap" pitchFamily="34" charset="-120"/>
              </a:rPr>
              <a:t>Modular monolith</a:t>
            </a:r>
            <a:endParaRPr lang="en-US" sz="1350" dirty="0"/>
          </a:p>
        </p:txBody>
      </p:sp>
      <p:sp>
        <p:nvSpPr>
          <p:cNvPr id="12" name="Text 10"/>
          <p:cNvSpPr/>
          <p:nvPr/>
        </p:nvSpPr>
        <p:spPr>
          <a:xfrm>
            <a:off x="8183880" y="1975104"/>
            <a:ext cx="3440887" cy="914400"/>
          </a:xfrm>
          <a:prstGeom prst="rect">
            <a:avLst/>
          </a:prstGeom>
          <a:noFill/>
          <a:ln/>
        </p:spPr>
        <p:txBody>
          <a:bodyPr wrap="square" lIns="0" tIns="0" rIns="0" bIns="0" rtlCol="0" anchor="t"/>
          <a:lstStyle/>
          <a:p>
            <a:pPr indent="0" marL="0">
              <a:lnSpc>
                <a:spcPct val="112000"/>
              </a:lnSpc>
              <a:buNone/>
            </a:pPr>
            <a:r>
              <a:rPr lang="en-US" sz="1150" dirty="0">
                <a:solidFill>
                  <a:srgbClr val="5C6B63"/>
                </a:solidFill>
                <a:latin typeface="Asap" pitchFamily="34" charset="0"/>
                <a:ea typeface="Asap" pitchFamily="34" charset="-122"/>
                <a:cs typeface="Asap" pitchFamily="34" charset="-120"/>
              </a:rPr>
              <a:t>One deployable application, but hard internal boundaries: a module reaches another only through a defined service layer — never into its database.</a:t>
            </a:r>
            <a:endParaRPr lang="en-US" sz="1150" dirty="0"/>
          </a:p>
        </p:txBody>
      </p:sp>
      <p:sp>
        <p:nvSpPr>
          <p:cNvPr id="13" name="Shape 11"/>
          <p:cNvSpPr/>
          <p:nvPr/>
        </p:nvSpPr>
        <p:spPr>
          <a:xfrm>
            <a:off x="7653528" y="3154680"/>
            <a:ext cx="365760" cy="365760"/>
          </a:xfrm>
          <a:prstGeom prst="roundRect">
            <a:avLst>
              <a:gd name="adj" fmla="val 17500"/>
            </a:avLst>
          </a:prstGeom>
          <a:solidFill>
            <a:srgbClr val="134074"/>
          </a:solidFill>
          <a:ln w="6350">
            <a:solidFill>
              <a:srgbClr val="134074"/>
            </a:solidFill>
            <a:prstDash val="solid"/>
          </a:ln>
        </p:spPr>
      </p:sp>
      <p:sp>
        <p:nvSpPr>
          <p:cNvPr id="14" name="Text 12"/>
          <p:cNvSpPr/>
          <p:nvPr/>
        </p:nvSpPr>
        <p:spPr>
          <a:xfrm>
            <a:off x="7653528" y="315468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sap" pitchFamily="34" charset="0"/>
                <a:ea typeface="Asap" pitchFamily="34" charset="-122"/>
                <a:cs typeface="Asap" pitchFamily="34" charset="-120"/>
              </a:rPr>
              <a:t>2</a:t>
            </a:r>
            <a:endParaRPr lang="en-US" sz="1400" dirty="0"/>
          </a:p>
        </p:txBody>
      </p:sp>
      <p:sp>
        <p:nvSpPr>
          <p:cNvPr id="15" name="Text 13"/>
          <p:cNvSpPr/>
          <p:nvPr/>
        </p:nvSpPr>
        <p:spPr>
          <a:xfrm>
            <a:off x="8183880" y="3136392"/>
            <a:ext cx="3440887" cy="256032"/>
          </a:xfrm>
          <a:prstGeom prst="rect">
            <a:avLst/>
          </a:prstGeom>
          <a:noFill/>
          <a:ln/>
        </p:spPr>
        <p:txBody>
          <a:bodyPr wrap="square" lIns="0" tIns="0" rIns="0" bIns="0" rtlCol="0" anchor="t"/>
          <a:lstStyle/>
          <a:p>
            <a:pPr indent="0" marL="0">
              <a:buNone/>
            </a:pPr>
            <a:r>
              <a:rPr lang="en-US" sz="1350" b="1" dirty="0">
                <a:solidFill>
                  <a:srgbClr val="134074"/>
                </a:solidFill>
                <a:latin typeface="Asap" pitchFamily="34" charset="0"/>
                <a:ea typeface="Asap" pitchFamily="34" charset="-122"/>
                <a:cs typeface="Asap" pitchFamily="34" charset="-120"/>
              </a:rPr>
              <a:t>Why not microservices</a:t>
            </a:r>
            <a:endParaRPr lang="en-US" sz="1350" dirty="0"/>
          </a:p>
        </p:txBody>
      </p:sp>
      <p:sp>
        <p:nvSpPr>
          <p:cNvPr id="16" name="Text 14"/>
          <p:cNvSpPr/>
          <p:nvPr/>
        </p:nvSpPr>
        <p:spPr>
          <a:xfrm>
            <a:off x="8183880" y="3392424"/>
            <a:ext cx="3440887" cy="914400"/>
          </a:xfrm>
          <a:prstGeom prst="rect">
            <a:avLst/>
          </a:prstGeom>
          <a:noFill/>
          <a:ln/>
        </p:spPr>
        <p:txBody>
          <a:bodyPr wrap="square" lIns="0" tIns="0" rIns="0" bIns="0" rtlCol="0" anchor="t"/>
          <a:lstStyle/>
          <a:p>
            <a:pPr indent="0" marL="0">
              <a:lnSpc>
                <a:spcPct val="112000"/>
              </a:lnSpc>
              <a:buNone/>
            </a:pPr>
            <a:r>
              <a:rPr lang="en-US" sz="1150" dirty="0">
                <a:solidFill>
                  <a:srgbClr val="5C6B63"/>
                </a:solidFill>
                <a:latin typeface="Asap" pitchFamily="34" charset="0"/>
                <a:ea typeface="Asap" pitchFamily="34" charset="-122"/>
                <a:cs typeface="Asap" pitchFamily="34" charset="-120"/>
              </a:rPr>
              <a:t>Releasing a work order must be correct for reservations AND stock at the same time. In a monolith that is one real ACID transaction: one thing wrong, everything rolls back.</a:t>
            </a:r>
            <a:endParaRPr lang="en-US" sz="1150" dirty="0"/>
          </a:p>
        </p:txBody>
      </p:sp>
      <p:sp>
        <p:nvSpPr>
          <p:cNvPr id="17" name="Shape 15"/>
          <p:cNvSpPr/>
          <p:nvPr/>
        </p:nvSpPr>
        <p:spPr>
          <a:xfrm>
            <a:off x="7653528" y="4572000"/>
            <a:ext cx="365760" cy="365760"/>
          </a:xfrm>
          <a:prstGeom prst="roundRect">
            <a:avLst>
              <a:gd name="adj" fmla="val 17500"/>
            </a:avLst>
          </a:prstGeom>
          <a:solidFill>
            <a:srgbClr val="134074"/>
          </a:solidFill>
          <a:ln w="6350">
            <a:solidFill>
              <a:srgbClr val="134074"/>
            </a:solidFill>
            <a:prstDash val="solid"/>
          </a:ln>
        </p:spPr>
      </p:sp>
      <p:sp>
        <p:nvSpPr>
          <p:cNvPr id="18" name="Text 16"/>
          <p:cNvSpPr/>
          <p:nvPr/>
        </p:nvSpPr>
        <p:spPr>
          <a:xfrm>
            <a:off x="7653528" y="457200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sap" pitchFamily="34" charset="0"/>
                <a:ea typeface="Asap" pitchFamily="34" charset="-122"/>
                <a:cs typeface="Asap" pitchFamily="34" charset="-120"/>
              </a:rPr>
              <a:t>3</a:t>
            </a:r>
            <a:endParaRPr lang="en-US" sz="1400" dirty="0"/>
          </a:p>
        </p:txBody>
      </p:sp>
      <p:sp>
        <p:nvSpPr>
          <p:cNvPr id="19" name="Text 17"/>
          <p:cNvSpPr/>
          <p:nvPr/>
        </p:nvSpPr>
        <p:spPr>
          <a:xfrm>
            <a:off x="8183880" y="4553712"/>
            <a:ext cx="3440887" cy="256032"/>
          </a:xfrm>
          <a:prstGeom prst="rect">
            <a:avLst/>
          </a:prstGeom>
          <a:noFill/>
          <a:ln/>
        </p:spPr>
        <p:txBody>
          <a:bodyPr wrap="square" lIns="0" tIns="0" rIns="0" bIns="0" rtlCol="0" anchor="t"/>
          <a:lstStyle/>
          <a:p>
            <a:pPr indent="0" marL="0">
              <a:buNone/>
            </a:pPr>
            <a:r>
              <a:rPr lang="en-US" sz="1350" b="1" dirty="0">
                <a:solidFill>
                  <a:srgbClr val="134074"/>
                </a:solidFill>
                <a:latin typeface="Asap" pitchFamily="34" charset="0"/>
                <a:ea typeface="Asap" pitchFamily="34" charset="-122"/>
                <a:cs typeface="Asap" pitchFamily="34" charset="-120"/>
              </a:rPr>
              <a:t>The backend is the final authority</a:t>
            </a:r>
            <a:endParaRPr lang="en-US" sz="1350" dirty="0"/>
          </a:p>
        </p:txBody>
      </p:sp>
      <p:sp>
        <p:nvSpPr>
          <p:cNvPr id="20" name="Text 18"/>
          <p:cNvSpPr/>
          <p:nvPr/>
        </p:nvSpPr>
        <p:spPr>
          <a:xfrm>
            <a:off x="8183880" y="4809744"/>
            <a:ext cx="3440887" cy="914400"/>
          </a:xfrm>
          <a:prstGeom prst="rect">
            <a:avLst/>
          </a:prstGeom>
          <a:noFill/>
          <a:ln/>
        </p:spPr>
        <p:txBody>
          <a:bodyPr wrap="square" lIns="0" tIns="0" rIns="0" bIns="0" rtlCol="0" anchor="t"/>
          <a:lstStyle/>
          <a:p>
            <a:pPr indent="0" marL="0">
              <a:lnSpc>
                <a:spcPct val="112000"/>
              </a:lnSpc>
              <a:buNone/>
            </a:pPr>
            <a:r>
              <a:rPr lang="en-US" sz="1150" dirty="0">
                <a:solidFill>
                  <a:srgbClr val="5C6B63"/>
                </a:solidFill>
                <a:latin typeface="Asap" pitchFamily="34" charset="0"/>
                <a:ea typeface="Asap" pitchFamily="34" charset="-122"/>
                <a:cs typeface="Asap" pitchFamily="34" charset="-120"/>
              </a:rPr>
              <a:t>The UI blocks early so users do not misclick, but every rule is re-checked server-side. Bypass the interface and call the API directly — you still cannot break a rule.</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EF4ED"/>
        </a:solidFill>
      </p:bgPr>
    </p:bg>
    <p:spTree>
      <p:nvGrpSpPr>
        <p:cNvPr id="1" name=""/>
        <p:cNvGrpSpPr/>
        <p:nvPr/>
      </p:nvGrpSpPr>
      <p:grpSpPr>
        <a:xfrm>
          <a:off x="0" y="0"/>
          <a:ext cx="0" cy="0"/>
          <a:chOff x="0" y="0"/>
          <a:chExt cx="0" cy="0"/>
        </a:xfrm>
      </p:grpSpPr>
      <p:sp>
        <p:nvSpPr>
          <p:cNvPr id="2" name="Text 0"/>
          <p:cNvSpPr/>
          <p:nvPr/>
        </p:nvSpPr>
        <p:spPr>
          <a:xfrm>
            <a:off x="566928" y="347472"/>
            <a:ext cx="10515600" cy="256032"/>
          </a:xfrm>
          <a:prstGeom prst="rect">
            <a:avLst/>
          </a:prstGeom>
          <a:noFill/>
          <a:ln/>
        </p:spPr>
        <p:txBody>
          <a:bodyPr wrap="square" lIns="0" tIns="0" rIns="0" bIns="0" rtlCol="0" anchor="ctr"/>
          <a:lstStyle/>
          <a:p>
            <a:pPr indent="0" marL="0">
              <a:buNone/>
            </a:pPr>
            <a:r>
              <a:rPr lang="en-US" sz="1100" b="1" spc="220" kern="0" dirty="0">
                <a:solidFill>
                  <a:srgbClr val="8DA9C4"/>
                </a:solidFill>
                <a:latin typeface="Asap" pitchFamily="34" charset="0"/>
                <a:ea typeface="Asap" pitchFamily="34" charset="-122"/>
                <a:cs typeface="Asap" pitchFamily="34" charset="-120"/>
              </a:rPr>
              <a:t>05 · SYSTEM DESIGN (2 OF 2)</a:t>
            </a:r>
            <a:endParaRPr lang="en-US" sz="1100" dirty="0"/>
          </a:p>
        </p:txBody>
      </p:sp>
      <p:sp>
        <p:nvSpPr>
          <p:cNvPr id="3" name="Text 1"/>
          <p:cNvSpPr/>
          <p:nvPr/>
        </p:nvSpPr>
        <p:spPr>
          <a:xfrm>
            <a:off x="566928" y="603504"/>
            <a:ext cx="10881360" cy="658368"/>
          </a:xfrm>
          <a:prstGeom prst="rect">
            <a:avLst/>
          </a:prstGeom>
          <a:noFill/>
          <a:ln/>
        </p:spPr>
        <p:txBody>
          <a:bodyPr wrap="square" lIns="0" tIns="0" rIns="0" bIns="0" rtlCol="0" anchor="t"/>
          <a:lstStyle/>
          <a:p>
            <a:pPr indent="0" marL="0">
              <a:buNone/>
            </a:pPr>
            <a:r>
              <a:rPr lang="en-US" sz="3100" b="1" dirty="0">
                <a:solidFill>
                  <a:srgbClr val="134074"/>
                </a:solidFill>
                <a:latin typeface="Asap" pitchFamily="34" charset="0"/>
                <a:ea typeface="Asap" pitchFamily="34" charset="-122"/>
                <a:cs typeface="Asap" pitchFamily="34" charset="-120"/>
              </a:rPr>
              <a:t>The Backbone Business Flow</a:t>
            </a:r>
            <a:endParaRPr lang="en-US" sz="3100" dirty="0"/>
          </a:p>
        </p:txBody>
      </p:sp>
      <p:sp>
        <p:nvSpPr>
          <p:cNvPr id="4" name="Shape 2"/>
          <p:cNvSpPr/>
          <p:nvPr/>
        </p:nvSpPr>
        <p:spPr>
          <a:xfrm>
            <a:off x="566928" y="1600200"/>
            <a:ext cx="5943600" cy="4160520"/>
          </a:xfrm>
          <a:prstGeom prst="roundRect">
            <a:avLst>
              <a:gd name="adj" fmla="val 659"/>
            </a:avLst>
          </a:prstGeom>
          <a:solidFill>
            <a:srgbClr val="FFFFFF"/>
          </a:solidFill>
          <a:ln w="15875">
            <a:solidFill>
              <a:srgbClr val="134074"/>
            </a:solidFill>
            <a:prstDash val="dash"/>
          </a:ln>
        </p:spPr>
      </p:sp>
      <p:sp>
        <p:nvSpPr>
          <p:cNvPr id="5" name="Shape 3"/>
          <p:cNvSpPr/>
          <p:nvPr/>
        </p:nvSpPr>
        <p:spPr>
          <a:xfrm>
            <a:off x="713232" y="1746504"/>
            <a:ext cx="1417320" cy="274320"/>
          </a:xfrm>
          <a:prstGeom prst="roundRect">
            <a:avLst>
              <a:gd name="adj" fmla="val 66667"/>
            </a:avLst>
          </a:prstGeom>
          <a:solidFill>
            <a:srgbClr val="134074"/>
          </a:solidFill>
          <a:ln w="6350">
            <a:solidFill>
              <a:srgbClr val="134074"/>
            </a:solidFill>
            <a:prstDash val="solid"/>
          </a:ln>
        </p:spPr>
      </p:sp>
      <p:sp>
        <p:nvSpPr>
          <p:cNvPr id="6" name="Text 4"/>
          <p:cNvSpPr/>
          <p:nvPr/>
        </p:nvSpPr>
        <p:spPr>
          <a:xfrm>
            <a:off x="713232" y="1746504"/>
            <a:ext cx="1417320" cy="274320"/>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Asap" pitchFamily="34" charset="0"/>
                <a:ea typeface="Asap" pitchFamily="34" charset="-122"/>
                <a:cs typeface="Asap" pitchFamily="34" charset="-120"/>
              </a:rPr>
              <a:t>DIAGRAM 2</a:t>
            </a:r>
            <a:endParaRPr lang="en-US" sz="900" dirty="0"/>
          </a:p>
        </p:txBody>
      </p:sp>
      <p:sp>
        <p:nvSpPr>
          <p:cNvPr id="7" name="Text 5"/>
          <p:cNvSpPr/>
          <p:nvPr/>
        </p:nvSpPr>
        <p:spPr>
          <a:xfrm>
            <a:off x="841248" y="3259836"/>
            <a:ext cx="5394960" cy="457200"/>
          </a:xfrm>
          <a:prstGeom prst="rect">
            <a:avLst/>
          </a:prstGeom>
          <a:noFill/>
          <a:ln/>
        </p:spPr>
        <p:txBody>
          <a:bodyPr wrap="square" lIns="0" tIns="0" rIns="0" bIns="0" rtlCol="0" anchor="b"/>
          <a:lstStyle/>
          <a:p>
            <a:pPr algn="ctr" indent="0" marL="0">
              <a:buNone/>
            </a:pPr>
            <a:r>
              <a:rPr lang="en-US" sz="1400" b="1" dirty="0">
                <a:solidFill>
                  <a:srgbClr val="134074"/>
                </a:solidFill>
                <a:latin typeface="Asap" pitchFamily="34" charset="0"/>
                <a:ea typeface="Asap" pitchFamily="34" charset="-122"/>
                <a:cs typeface="Asap" pitchFamily="34" charset="-120"/>
              </a:rPr>
              <a:t>Backbone business flow</a:t>
            </a:r>
            <a:endParaRPr lang="en-US" sz="1400" dirty="0"/>
          </a:p>
        </p:txBody>
      </p:sp>
      <p:sp>
        <p:nvSpPr>
          <p:cNvPr id="8" name="Text 6"/>
          <p:cNvSpPr/>
          <p:nvPr/>
        </p:nvSpPr>
        <p:spPr>
          <a:xfrm>
            <a:off x="841248" y="3735324"/>
            <a:ext cx="5394960" cy="868680"/>
          </a:xfrm>
          <a:prstGeom prst="rect">
            <a:avLst/>
          </a:prstGeom>
          <a:noFill/>
          <a:ln/>
        </p:spPr>
        <p:txBody>
          <a:bodyPr wrap="square" lIns="0" tIns="0" rIns="0" bIns="0" rtlCol="0" anchor="t"/>
          <a:lstStyle/>
          <a:p>
            <a:pPr algn="ctr" indent="0" marL="0">
              <a:lnSpc>
                <a:spcPct val="115000"/>
              </a:lnSpc>
              <a:buNone/>
            </a:pPr>
            <a:r>
              <a:rPr lang="en-US" sz="1050" i="1" dirty="0">
                <a:solidFill>
                  <a:srgbClr val="5C6B63"/>
                </a:solidFill>
                <a:latin typeface="Asap" pitchFamily="34" charset="0"/>
                <a:ea typeface="Asap" pitchFamily="34" charset="-122"/>
                <a:cs typeface="Asap" pitchFamily="34" charset="-120"/>
              </a:rPr>
              <a:t>Must show the loop: Sales order (confirmed) → Planning / MRP (multi-level BOM</a:t>
            </a:r>
            <a:endParaRPr lang="en-US" sz="1050" dirty="0"/>
          </a:p>
          <a:p>
            <a:pPr algn="ctr" indent="0" marL="0">
              <a:lnSpc>
                <a:spcPct val="115000"/>
              </a:lnSpc>
              <a:buNone/>
            </a:pPr>
            <a:r>
              <a:rPr lang="en-US" sz="1050" i="1" dirty="0">
                <a:solidFill>
                  <a:srgbClr val="5C6B63"/>
                </a:solidFill>
                <a:latin typeface="Asap" pitchFamily="34" charset="0"/>
                <a:ea typeface="Asap" pitchFamily="34" charset="-122"/>
                <a:cs typeface="Asap" pitchFamily="34" charset="-120"/>
              </a:rPr>
              <a:t>explosion, shortage netting) → Supply proposal (MAKE / BUY) → Work order (frozen</a:t>
            </a:r>
            <a:endParaRPr lang="en-US" sz="1050" dirty="0"/>
          </a:p>
          <a:p>
            <a:pPr algn="ctr" indent="0" marL="0">
              <a:lnSpc>
                <a:spcPct val="115000"/>
              </a:lnSpc>
              <a:buNone/>
            </a:pPr>
            <a:r>
              <a:rPr lang="en-US" sz="1050" i="1" dirty="0">
                <a:solidFill>
                  <a:srgbClr val="5C6B63"/>
                </a:solidFill>
                <a:latin typeface="Asap" pitchFamily="34" charset="0"/>
                <a:ea typeface="Asap" pitchFamily="34" charset="-122"/>
                <a:cs typeface="Asap" pitchFamily="34" charset="-120"/>
              </a:rPr>
              <a:t>snapshot, 100% reservation) → Material issue → Output reporting → Goods receipt</a:t>
            </a:r>
            <a:endParaRPr lang="en-US" sz="1050" dirty="0"/>
          </a:p>
          <a:p>
            <a:pPr algn="ctr" indent="0" marL="0">
              <a:lnSpc>
                <a:spcPct val="115000"/>
              </a:lnSpc>
              <a:buNone/>
            </a:pPr>
            <a:r>
              <a:rPr lang="en-US" sz="1050" i="1" dirty="0">
                <a:solidFill>
                  <a:srgbClr val="5C6B63"/>
                </a:solidFill>
                <a:latin typeface="Asap" pitchFamily="34" charset="0"/>
                <a:ea typeface="Asap" pitchFamily="34" charset="-122"/>
                <a:cs typeface="Asap" pitchFamily="34" charset="-120"/>
              </a:rPr>
              <a:t>(HOLD) → Quality gate (HOLD → AVAILABLE) → back to the sales order as fulfilled.</a:t>
            </a:r>
            <a:endParaRPr lang="en-US" sz="1050" dirty="0"/>
          </a:p>
        </p:txBody>
      </p:sp>
      <p:sp>
        <p:nvSpPr>
          <p:cNvPr id="9" name="Shape 7"/>
          <p:cNvSpPr/>
          <p:nvPr/>
        </p:nvSpPr>
        <p:spPr>
          <a:xfrm>
            <a:off x="6876288" y="1664208"/>
            <a:ext cx="365760" cy="365760"/>
          </a:xfrm>
          <a:prstGeom prst="roundRect">
            <a:avLst>
              <a:gd name="adj" fmla="val 17500"/>
            </a:avLst>
          </a:prstGeom>
          <a:solidFill>
            <a:srgbClr val="134074"/>
          </a:solidFill>
          <a:ln w="6350">
            <a:solidFill>
              <a:srgbClr val="134074"/>
            </a:solidFill>
            <a:prstDash val="solid"/>
          </a:ln>
        </p:spPr>
      </p:sp>
      <p:sp>
        <p:nvSpPr>
          <p:cNvPr id="10" name="Text 8"/>
          <p:cNvSpPr/>
          <p:nvPr/>
        </p:nvSpPr>
        <p:spPr>
          <a:xfrm>
            <a:off x="6876288" y="166420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sap" pitchFamily="34" charset="0"/>
                <a:ea typeface="Asap" pitchFamily="34" charset="-122"/>
                <a:cs typeface="Asap" pitchFamily="34" charset="-120"/>
              </a:rPr>
              <a:t>1</a:t>
            </a:r>
            <a:endParaRPr lang="en-US" sz="1400" dirty="0"/>
          </a:p>
        </p:txBody>
      </p:sp>
      <p:sp>
        <p:nvSpPr>
          <p:cNvPr id="11" name="Text 9"/>
          <p:cNvSpPr/>
          <p:nvPr/>
        </p:nvSpPr>
        <p:spPr>
          <a:xfrm>
            <a:off x="7406640" y="1645920"/>
            <a:ext cx="4218127" cy="256032"/>
          </a:xfrm>
          <a:prstGeom prst="rect">
            <a:avLst/>
          </a:prstGeom>
          <a:noFill/>
          <a:ln/>
        </p:spPr>
        <p:txBody>
          <a:bodyPr wrap="square" lIns="0" tIns="0" rIns="0" bIns="0" rtlCol="0" anchor="t"/>
          <a:lstStyle/>
          <a:p>
            <a:pPr indent="0" marL="0">
              <a:buNone/>
            </a:pPr>
            <a:r>
              <a:rPr lang="en-US" sz="1350" b="1" dirty="0">
                <a:solidFill>
                  <a:srgbClr val="134074"/>
                </a:solidFill>
                <a:latin typeface="Asap" pitchFamily="34" charset="0"/>
                <a:ea typeface="Asap" pitchFamily="34" charset="-122"/>
                <a:cs typeface="Asap" pitchFamily="34" charset="-120"/>
              </a:rPr>
              <a:t>Only confirmed orders plan</a:t>
            </a:r>
            <a:endParaRPr lang="en-US" sz="1350" dirty="0"/>
          </a:p>
        </p:txBody>
      </p:sp>
      <p:sp>
        <p:nvSpPr>
          <p:cNvPr id="12" name="Text 10"/>
          <p:cNvSpPr/>
          <p:nvPr/>
        </p:nvSpPr>
        <p:spPr>
          <a:xfrm>
            <a:off x="7406640" y="1901952"/>
            <a:ext cx="4218127" cy="914400"/>
          </a:xfrm>
          <a:prstGeom prst="rect">
            <a:avLst/>
          </a:prstGeom>
          <a:noFill/>
          <a:ln/>
        </p:spPr>
        <p:txBody>
          <a:bodyPr wrap="square" lIns="0" tIns="0" rIns="0" bIns="0" rtlCol="0" anchor="t"/>
          <a:lstStyle/>
          <a:p>
            <a:pPr indent="0" marL="0">
              <a:lnSpc>
                <a:spcPct val="112000"/>
              </a:lnSpc>
              <a:buNone/>
            </a:pPr>
            <a:r>
              <a:rPr lang="en-US" sz="1150" dirty="0">
                <a:solidFill>
                  <a:srgbClr val="5C6B63"/>
                </a:solidFill>
                <a:latin typeface="Asap" pitchFamily="34" charset="0"/>
                <a:ea typeface="Asap" pitchFamily="34" charset="-122"/>
                <a:cs typeface="Asap" pitchFamily="34" charset="-120"/>
              </a:rPr>
              <a:t>A draft order never enters planning.</a:t>
            </a:r>
            <a:endParaRPr lang="en-US" sz="1150" dirty="0"/>
          </a:p>
        </p:txBody>
      </p:sp>
      <p:sp>
        <p:nvSpPr>
          <p:cNvPr id="13" name="Shape 11"/>
          <p:cNvSpPr/>
          <p:nvPr/>
        </p:nvSpPr>
        <p:spPr>
          <a:xfrm>
            <a:off x="6876288" y="2532888"/>
            <a:ext cx="365760" cy="365760"/>
          </a:xfrm>
          <a:prstGeom prst="roundRect">
            <a:avLst>
              <a:gd name="adj" fmla="val 17500"/>
            </a:avLst>
          </a:prstGeom>
          <a:solidFill>
            <a:srgbClr val="134074"/>
          </a:solidFill>
          <a:ln w="6350">
            <a:solidFill>
              <a:srgbClr val="134074"/>
            </a:solidFill>
            <a:prstDash val="solid"/>
          </a:ln>
        </p:spPr>
      </p:sp>
      <p:sp>
        <p:nvSpPr>
          <p:cNvPr id="14" name="Text 12"/>
          <p:cNvSpPr/>
          <p:nvPr/>
        </p:nvSpPr>
        <p:spPr>
          <a:xfrm>
            <a:off x="6876288" y="253288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sap" pitchFamily="34" charset="0"/>
                <a:ea typeface="Asap" pitchFamily="34" charset="-122"/>
                <a:cs typeface="Asap" pitchFamily="34" charset="-120"/>
              </a:rPr>
              <a:t>2</a:t>
            </a:r>
            <a:endParaRPr lang="en-US" sz="1400" dirty="0"/>
          </a:p>
        </p:txBody>
      </p:sp>
      <p:sp>
        <p:nvSpPr>
          <p:cNvPr id="15" name="Text 13"/>
          <p:cNvSpPr/>
          <p:nvPr/>
        </p:nvSpPr>
        <p:spPr>
          <a:xfrm>
            <a:off x="7406640" y="2514600"/>
            <a:ext cx="4218127" cy="256032"/>
          </a:xfrm>
          <a:prstGeom prst="rect">
            <a:avLst/>
          </a:prstGeom>
          <a:noFill/>
          <a:ln/>
        </p:spPr>
        <p:txBody>
          <a:bodyPr wrap="square" lIns="0" tIns="0" rIns="0" bIns="0" rtlCol="0" anchor="t"/>
          <a:lstStyle/>
          <a:p>
            <a:pPr indent="0" marL="0">
              <a:buNone/>
            </a:pPr>
            <a:r>
              <a:rPr lang="en-US" sz="1350" b="1" dirty="0">
                <a:solidFill>
                  <a:srgbClr val="134074"/>
                </a:solidFill>
                <a:latin typeface="Asap" pitchFamily="34" charset="0"/>
                <a:ea typeface="Asap" pitchFamily="34" charset="-122"/>
                <a:cs typeface="Asap" pitchFamily="34" charset="-120"/>
              </a:rPr>
              <a:t>Planning explodes the BOM</a:t>
            </a:r>
            <a:endParaRPr lang="en-US" sz="1350" dirty="0"/>
          </a:p>
        </p:txBody>
      </p:sp>
      <p:sp>
        <p:nvSpPr>
          <p:cNvPr id="16" name="Text 14"/>
          <p:cNvSpPr/>
          <p:nvPr/>
        </p:nvSpPr>
        <p:spPr>
          <a:xfrm>
            <a:off x="7406640" y="2770632"/>
            <a:ext cx="4218127" cy="914400"/>
          </a:xfrm>
          <a:prstGeom prst="rect">
            <a:avLst/>
          </a:prstGeom>
          <a:noFill/>
          <a:ln/>
        </p:spPr>
        <p:txBody>
          <a:bodyPr wrap="square" lIns="0" tIns="0" rIns="0" bIns="0" rtlCol="0" anchor="t"/>
          <a:lstStyle/>
          <a:p>
            <a:pPr indent="0" marL="0">
              <a:lnSpc>
                <a:spcPct val="112000"/>
              </a:lnSpc>
              <a:buNone/>
            </a:pPr>
            <a:r>
              <a:rPr lang="en-US" sz="1150" dirty="0">
                <a:solidFill>
                  <a:srgbClr val="5C6B63"/>
                </a:solidFill>
                <a:latin typeface="Asap" pitchFamily="34" charset="0"/>
                <a:ea typeface="Asap" pitchFamily="34" charset="-122"/>
                <a:cs typeface="Asap" pitchFamily="34" charset="-120"/>
              </a:rPr>
              <a:t>Level by level, netting off available stock and inbound supply, then proposing MAKE or BUY.</a:t>
            </a:r>
            <a:endParaRPr lang="en-US" sz="1150" dirty="0"/>
          </a:p>
        </p:txBody>
      </p:sp>
      <p:sp>
        <p:nvSpPr>
          <p:cNvPr id="17" name="Shape 15"/>
          <p:cNvSpPr/>
          <p:nvPr/>
        </p:nvSpPr>
        <p:spPr>
          <a:xfrm>
            <a:off x="6876288" y="3401568"/>
            <a:ext cx="365760" cy="365760"/>
          </a:xfrm>
          <a:prstGeom prst="roundRect">
            <a:avLst>
              <a:gd name="adj" fmla="val 17500"/>
            </a:avLst>
          </a:prstGeom>
          <a:solidFill>
            <a:srgbClr val="134074"/>
          </a:solidFill>
          <a:ln w="6350">
            <a:solidFill>
              <a:srgbClr val="134074"/>
            </a:solidFill>
            <a:prstDash val="solid"/>
          </a:ln>
        </p:spPr>
      </p:sp>
      <p:sp>
        <p:nvSpPr>
          <p:cNvPr id="18" name="Text 16"/>
          <p:cNvSpPr/>
          <p:nvPr/>
        </p:nvSpPr>
        <p:spPr>
          <a:xfrm>
            <a:off x="6876288" y="340156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sap" pitchFamily="34" charset="0"/>
                <a:ea typeface="Asap" pitchFamily="34" charset="-122"/>
                <a:cs typeface="Asap" pitchFamily="34" charset="-120"/>
              </a:rPr>
              <a:t>3</a:t>
            </a:r>
            <a:endParaRPr lang="en-US" sz="1400" dirty="0"/>
          </a:p>
        </p:txBody>
      </p:sp>
      <p:sp>
        <p:nvSpPr>
          <p:cNvPr id="19" name="Text 17"/>
          <p:cNvSpPr/>
          <p:nvPr/>
        </p:nvSpPr>
        <p:spPr>
          <a:xfrm>
            <a:off x="7406640" y="3383280"/>
            <a:ext cx="4218127" cy="256032"/>
          </a:xfrm>
          <a:prstGeom prst="rect">
            <a:avLst/>
          </a:prstGeom>
          <a:noFill/>
          <a:ln/>
        </p:spPr>
        <p:txBody>
          <a:bodyPr wrap="square" lIns="0" tIns="0" rIns="0" bIns="0" rtlCol="0" anchor="t"/>
          <a:lstStyle/>
          <a:p>
            <a:pPr indent="0" marL="0">
              <a:buNone/>
            </a:pPr>
            <a:r>
              <a:rPr lang="en-US" sz="1350" b="1" dirty="0">
                <a:solidFill>
                  <a:srgbClr val="134074"/>
                </a:solidFill>
                <a:latin typeface="Asap" pitchFamily="34" charset="0"/>
                <a:ea typeface="Asap" pitchFamily="34" charset="-122"/>
                <a:cs typeface="Asap" pitchFamily="34" charset="-120"/>
              </a:rPr>
              <a:t>The work order freezes a snapshot</a:t>
            </a:r>
            <a:endParaRPr lang="en-US" sz="1350" dirty="0"/>
          </a:p>
        </p:txBody>
      </p:sp>
      <p:sp>
        <p:nvSpPr>
          <p:cNvPr id="20" name="Text 18"/>
          <p:cNvSpPr/>
          <p:nvPr/>
        </p:nvSpPr>
        <p:spPr>
          <a:xfrm>
            <a:off x="7406640" y="3639312"/>
            <a:ext cx="4218127" cy="914400"/>
          </a:xfrm>
          <a:prstGeom prst="rect">
            <a:avLst/>
          </a:prstGeom>
          <a:noFill/>
          <a:ln/>
        </p:spPr>
        <p:txBody>
          <a:bodyPr wrap="square" lIns="0" tIns="0" rIns="0" bIns="0" rtlCol="0" anchor="t"/>
          <a:lstStyle/>
          <a:p>
            <a:pPr indent="0" marL="0">
              <a:lnSpc>
                <a:spcPct val="112000"/>
              </a:lnSpc>
              <a:buNone/>
            </a:pPr>
            <a:r>
              <a:rPr lang="en-US" sz="1150" dirty="0">
                <a:solidFill>
                  <a:srgbClr val="5C6B63"/>
                </a:solidFill>
                <a:latin typeface="Asap" pitchFamily="34" charset="0"/>
                <a:ea typeface="Asap" pitchFamily="34" charset="-122"/>
                <a:cs typeface="Asap" pitchFamily="34" charset="-120"/>
              </a:rPr>
              <a:t>BOM and routing are copied into the order — later engineering edits cannot rewrite an old order.</a:t>
            </a:r>
            <a:endParaRPr lang="en-US" sz="1150" dirty="0"/>
          </a:p>
        </p:txBody>
      </p:sp>
      <p:sp>
        <p:nvSpPr>
          <p:cNvPr id="21" name="Shape 19"/>
          <p:cNvSpPr/>
          <p:nvPr/>
        </p:nvSpPr>
        <p:spPr>
          <a:xfrm>
            <a:off x="6876288" y="4270248"/>
            <a:ext cx="365760" cy="365760"/>
          </a:xfrm>
          <a:prstGeom prst="roundRect">
            <a:avLst>
              <a:gd name="adj" fmla="val 17500"/>
            </a:avLst>
          </a:prstGeom>
          <a:solidFill>
            <a:srgbClr val="134074"/>
          </a:solidFill>
          <a:ln w="6350">
            <a:solidFill>
              <a:srgbClr val="134074"/>
            </a:solidFill>
            <a:prstDash val="solid"/>
          </a:ln>
        </p:spPr>
      </p:sp>
      <p:sp>
        <p:nvSpPr>
          <p:cNvPr id="22" name="Text 20"/>
          <p:cNvSpPr/>
          <p:nvPr/>
        </p:nvSpPr>
        <p:spPr>
          <a:xfrm>
            <a:off x="6876288" y="427024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sap" pitchFamily="34" charset="0"/>
                <a:ea typeface="Asap" pitchFamily="34" charset="-122"/>
                <a:cs typeface="Asap" pitchFamily="34" charset="-120"/>
              </a:rPr>
              <a:t>4</a:t>
            </a:r>
            <a:endParaRPr lang="en-US" sz="1400" dirty="0"/>
          </a:p>
        </p:txBody>
      </p:sp>
      <p:sp>
        <p:nvSpPr>
          <p:cNvPr id="23" name="Text 21"/>
          <p:cNvSpPr/>
          <p:nvPr/>
        </p:nvSpPr>
        <p:spPr>
          <a:xfrm>
            <a:off x="7406640" y="4251960"/>
            <a:ext cx="4218127" cy="256032"/>
          </a:xfrm>
          <a:prstGeom prst="rect">
            <a:avLst/>
          </a:prstGeom>
          <a:noFill/>
          <a:ln/>
        </p:spPr>
        <p:txBody>
          <a:bodyPr wrap="square" lIns="0" tIns="0" rIns="0" bIns="0" rtlCol="0" anchor="t"/>
          <a:lstStyle/>
          <a:p>
            <a:pPr indent="0" marL="0">
              <a:buNone/>
            </a:pPr>
            <a:r>
              <a:rPr lang="en-US" sz="1350" b="1" dirty="0">
                <a:solidFill>
                  <a:srgbClr val="134074"/>
                </a:solidFill>
                <a:latin typeface="Asap" pitchFamily="34" charset="0"/>
                <a:ea typeface="Asap" pitchFamily="34" charset="-122"/>
                <a:cs typeface="Asap" pitchFamily="34" charset="-120"/>
              </a:rPr>
              <a:t>100% reserved, or no release</a:t>
            </a:r>
            <a:endParaRPr lang="en-US" sz="1350" dirty="0"/>
          </a:p>
        </p:txBody>
      </p:sp>
      <p:sp>
        <p:nvSpPr>
          <p:cNvPr id="24" name="Text 22"/>
          <p:cNvSpPr/>
          <p:nvPr/>
        </p:nvSpPr>
        <p:spPr>
          <a:xfrm>
            <a:off x="7406640" y="4507992"/>
            <a:ext cx="4218127" cy="914400"/>
          </a:xfrm>
          <a:prstGeom prst="rect">
            <a:avLst/>
          </a:prstGeom>
          <a:noFill/>
          <a:ln/>
        </p:spPr>
        <p:txBody>
          <a:bodyPr wrap="square" lIns="0" tIns="0" rIns="0" bIns="0" rtlCol="0" anchor="t"/>
          <a:lstStyle/>
          <a:p>
            <a:pPr indent="0" marL="0">
              <a:lnSpc>
                <a:spcPct val="112000"/>
              </a:lnSpc>
              <a:buNone/>
            </a:pPr>
            <a:r>
              <a:rPr lang="en-US" sz="1150" dirty="0">
                <a:solidFill>
                  <a:srgbClr val="5C6B63"/>
                </a:solidFill>
                <a:latin typeface="Asap" pitchFamily="34" charset="0"/>
                <a:ea typeface="Asap" pitchFamily="34" charset="-122"/>
                <a:cs typeface="Asap" pitchFamily="34" charset="-120"/>
              </a:rPr>
              <a:t>Short by even one line and the order goes BLOCKED, stating exactly what is missing.</a:t>
            </a:r>
            <a:endParaRPr lang="en-US" sz="1150" dirty="0"/>
          </a:p>
        </p:txBody>
      </p:sp>
      <p:sp>
        <p:nvSpPr>
          <p:cNvPr id="25" name="Shape 23"/>
          <p:cNvSpPr/>
          <p:nvPr/>
        </p:nvSpPr>
        <p:spPr>
          <a:xfrm>
            <a:off x="6876288" y="5138928"/>
            <a:ext cx="365760" cy="365760"/>
          </a:xfrm>
          <a:prstGeom prst="roundRect">
            <a:avLst>
              <a:gd name="adj" fmla="val 17500"/>
            </a:avLst>
          </a:prstGeom>
          <a:solidFill>
            <a:srgbClr val="134074"/>
          </a:solidFill>
          <a:ln w="6350">
            <a:solidFill>
              <a:srgbClr val="134074"/>
            </a:solidFill>
            <a:prstDash val="solid"/>
          </a:ln>
        </p:spPr>
      </p:sp>
      <p:sp>
        <p:nvSpPr>
          <p:cNvPr id="26" name="Text 24"/>
          <p:cNvSpPr/>
          <p:nvPr/>
        </p:nvSpPr>
        <p:spPr>
          <a:xfrm>
            <a:off x="6876288" y="513892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sap" pitchFamily="34" charset="0"/>
                <a:ea typeface="Asap" pitchFamily="34" charset="-122"/>
                <a:cs typeface="Asap" pitchFamily="34" charset="-120"/>
              </a:rPr>
              <a:t>5</a:t>
            </a:r>
            <a:endParaRPr lang="en-US" sz="1400" dirty="0"/>
          </a:p>
        </p:txBody>
      </p:sp>
      <p:sp>
        <p:nvSpPr>
          <p:cNvPr id="27" name="Text 25"/>
          <p:cNvSpPr/>
          <p:nvPr/>
        </p:nvSpPr>
        <p:spPr>
          <a:xfrm>
            <a:off x="7406640" y="5120640"/>
            <a:ext cx="4218127" cy="256032"/>
          </a:xfrm>
          <a:prstGeom prst="rect">
            <a:avLst/>
          </a:prstGeom>
          <a:noFill/>
          <a:ln/>
        </p:spPr>
        <p:txBody>
          <a:bodyPr wrap="square" lIns="0" tIns="0" rIns="0" bIns="0" rtlCol="0" anchor="t"/>
          <a:lstStyle/>
          <a:p>
            <a:pPr indent="0" marL="0">
              <a:buNone/>
            </a:pPr>
            <a:r>
              <a:rPr lang="en-US" sz="1350" b="1" dirty="0">
                <a:solidFill>
                  <a:srgbClr val="134074"/>
                </a:solidFill>
                <a:latin typeface="Asap" pitchFamily="34" charset="0"/>
                <a:ea typeface="Asap" pitchFamily="34" charset="-122"/>
                <a:cs typeface="Asap" pitchFamily="34" charset="-120"/>
              </a:rPr>
              <a:t>Quality closes the loop</a:t>
            </a:r>
            <a:endParaRPr lang="en-US" sz="1350" dirty="0"/>
          </a:p>
        </p:txBody>
      </p:sp>
      <p:sp>
        <p:nvSpPr>
          <p:cNvPr id="28" name="Text 26"/>
          <p:cNvSpPr/>
          <p:nvPr/>
        </p:nvSpPr>
        <p:spPr>
          <a:xfrm>
            <a:off x="7406640" y="5376672"/>
            <a:ext cx="4218127" cy="914400"/>
          </a:xfrm>
          <a:prstGeom prst="rect">
            <a:avLst/>
          </a:prstGeom>
          <a:noFill/>
          <a:ln/>
        </p:spPr>
        <p:txBody>
          <a:bodyPr wrap="square" lIns="0" tIns="0" rIns="0" bIns="0" rtlCol="0" anchor="t"/>
          <a:lstStyle/>
          <a:p>
            <a:pPr indent="0" marL="0">
              <a:lnSpc>
                <a:spcPct val="112000"/>
              </a:lnSpc>
              <a:buNone/>
            </a:pPr>
            <a:r>
              <a:rPr lang="en-US" sz="1150" dirty="0">
                <a:solidFill>
                  <a:srgbClr val="5C6B63"/>
                </a:solidFill>
                <a:latin typeface="Asap" pitchFamily="34" charset="0"/>
                <a:ea typeface="Asap" pitchFamily="34" charset="-122"/>
                <a:cs typeface="Asap" pitchFamily="34" charset="-120"/>
              </a:rPr>
              <a:t>Received goods land on HOLD. Only an AVAILABLE verdict frees them — and that same moment credits the sales order.</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EF4ED"/>
        </a:solidFill>
      </p:bgPr>
    </p:bg>
    <p:spTree>
      <p:nvGrpSpPr>
        <p:cNvPr id="1" name=""/>
        <p:cNvGrpSpPr/>
        <p:nvPr/>
      </p:nvGrpSpPr>
      <p:grpSpPr>
        <a:xfrm>
          <a:off x="0" y="0"/>
          <a:ext cx="0" cy="0"/>
          <a:chOff x="0" y="0"/>
          <a:chExt cx="0" cy="0"/>
        </a:xfrm>
      </p:grpSpPr>
      <p:sp>
        <p:nvSpPr>
          <p:cNvPr id="2" name="Text 0"/>
          <p:cNvSpPr/>
          <p:nvPr/>
        </p:nvSpPr>
        <p:spPr>
          <a:xfrm>
            <a:off x="566928" y="347472"/>
            <a:ext cx="10515600" cy="256032"/>
          </a:xfrm>
          <a:prstGeom prst="rect">
            <a:avLst/>
          </a:prstGeom>
          <a:noFill/>
          <a:ln/>
        </p:spPr>
        <p:txBody>
          <a:bodyPr wrap="square" lIns="0" tIns="0" rIns="0" bIns="0" rtlCol="0" anchor="ctr"/>
          <a:lstStyle/>
          <a:p>
            <a:pPr indent="0" marL="0">
              <a:buNone/>
            </a:pPr>
            <a:r>
              <a:rPr lang="en-US" sz="1100" b="1" spc="220" kern="0" dirty="0">
                <a:solidFill>
                  <a:srgbClr val="8DA9C4"/>
                </a:solidFill>
                <a:latin typeface="Asap" pitchFamily="34" charset="0"/>
                <a:ea typeface="Asap" pitchFamily="34" charset="-122"/>
                <a:cs typeface="Asap" pitchFamily="34" charset="-120"/>
              </a:rPr>
              <a:t>06 · ACCESS CONTROL</a:t>
            </a:r>
            <a:endParaRPr lang="en-US" sz="1100" dirty="0"/>
          </a:p>
        </p:txBody>
      </p:sp>
      <p:sp>
        <p:nvSpPr>
          <p:cNvPr id="3" name="Text 1"/>
          <p:cNvSpPr/>
          <p:nvPr/>
        </p:nvSpPr>
        <p:spPr>
          <a:xfrm>
            <a:off x="566928" y="603504"/>
            <a:ext cx="10881360" cy="658368"/>
          </a:xfrm>
          <a:prstGeom prst="rect">
            <a:avLst/>
          </a:prstGeom>
          <a:noFill/>
          <a:ln/>
        </p:spPr>
        <p:txBody>
          <a:bodyPr wrap="square" lIns="0" tIns="0" rIns="0" bIns="0" rtlCol="0" anchor="t"/>
          <a:lstStyle/>
          <a:p>
            <a:pPr indent="0" marL="0">
              <a:buNone/>
            </a:pPr>
            <a:r>
              <a:rPr lang="en-US" sz="3100" b="1" dirty="0">
                <a:solidFill>
                  <a:srgbClr val="134074"/>
                </a:solidFill>
                <a:latin typeface="Asap" pitchFamily="34" charset="0"/>
                <a:ea typeface="Asap" pitchFamily="34" charset="-122"/>
                <a:cs typeface="Asap" pitchFamily="34" charset="-120"/>
              </a:rPr>
              <a:t>Everyone Sees Exactly Their Own Job</a:t>
            </a:r>
            <a:endParaRPr lang="en-US" sz="3100" dirty="0"/>
          </a:p>
        </p:txBody>
      </p:sp>
      <p:sp>
        <p:nvSpPr>
          <p:cNvPr id="4" name="Shape 2"/>
          <p:cNvSpPr/>
          <p:nvPr/>
        </p:nvSpPr>
        <p:spPr>
          <a:xfrm>
            <a:off x="566928" y="1691640"/>
            <a:ext cx="365760" cy="365760"/>
          </a:xfrm>
          <a:prstGeom prst="roundRect">
            <a:avLst>
              <a:gd name="adj" fmla="val 17500"/>
            </a:avLst>
          </a:prstGeom>
          <a:solidFill>
            <a:srgbClr val="134074"/>
          </a:solidFill>
          <a:ln w="6350">
            <a:solidFill>
              <a:srgbClr val="134074"/>
            </a:solidFill>
            <a:prstDash val="solid"/>
          </a:ln>
        </p:spPr>
      </p:sp>
      <p:sp>
        <p:nvSpPr>
          <p:cNvPr id="5" name="Text 3"/>
          <p:cNvSpPr/>
          <p:nvPr/>
        </p:nvSpPr>
        <p:spPr>
          <a:xfrm>
            <a:off x="566928" y="16916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sap" pitchFamily="34" charset="0"/>
                <a:ea typeface="Asap" pitchFamily="34" charset="-122"/>
                <a:cs typeface="Asap" pitchFamily="34" charset="-120"/>
              </a:rPr>
              <a:t>1</a:t>
            </a:r>
            <a:endParaRPr lang="en-US" sz="1400" dirty="0"/>
          </a:p>
        </p:txBody>
      </p:sp>
      <p:sp>
        <p:nvSpPr>
          <p:cNvPr id="6" name="Text 4"/>
          <p:cNvSpPr/>
          <p:nvPr/>
        </p:nvSpPr>
        <p:spPr>
          <a:xfrm>
            <a:off x="1097280" y="1673352"/>
            <a:ext cx="3081528" cy="256032"/>
          </a:xfrm>
          <a:prstGeom prst="rect">
            <a:avLst/>
          </a:prstGeom>
          <a:noFill/>
          <a:ln/>
        </p:spPr>
        <p:txBody>
          <a:bodyPr wrap="square" lIns="0" tIns="0" rIns="0" bIns="0" rtlCol="0" anchor="t"/>
          <a:lstStyle/>
          <a:p>
            <a:pPr indent="0" marL="0">
              <a:buNone/>
            </a:pPr>
            <a:r>
              <a:rPr lang="en-US" sz="1350" b="1" dirty="0">
                <a:solidFill>
                  <a:srgbClr val="134074"/>
                </a:solidFill>
                <a:latin typeface="Asap" pitchFamily="34" charset="0"/>
                <a:ea typeface="Asap" pitchFamily="34" charset="-122"/>
                <a:cs typeface="Asap" pitchFamily="34" charset="-120"/>
              </a:rPr>
              <a:t>Log in</a:t>
            </a:r>
            <a:endParaRPr lang="en-US" sz="1350" dirty="0"/>
          </a:p>
        </p:txBody>
      </p:sp>
      <p:sp>
        <p:nvSpPr>
          <p:cNvPr id="7" name="Text 5"/>
          <p:cNvSpPr/>
          <p:nvPr/>
        </p:nvSpPr>
        <p:spPr>
          <a:xfrm>
            <a:off x="1097280" y="1929384"/>
            <a:ext cx="3081528" cy="914400"/>
          </a:xfrm>
          <a:prstGeom prst="rect">
            <a:avLst/>
          </a:prstGeom>
          <a:noFill/>
          <a:ln/>
        </p:spPr>
        <p:txBody>
          <a:bodyPr wrap="square" lIns="0" tIns="0" rIns="0" bIns="0" rtlCol="0" anchor="t"/>
          <a:lstStyle/>
          <a:p>
            <a:pPr indent="0" marL="0">
              <a:lnSpc>
                <a:spcPct val="112000"/>
              </a:lnSpc>
              <a:buNone/>
            </a:pPr>
            <a:r>
              <a:rPr lang="en-US" sz="1150" dirty="0">
                <a:solidFill>
                  <a:srgbClr val="5C6B63"/>
                </a:solidFill>
                <a:latin typeface="Asap" pitchFamily="34" charset="0"/>
                <a:ea typeface="Asap" pitchFamily="34" charset="-122"/>
                <a:cs typeface="Asap" pitchFamily="34" charset="-120"/>
              </a:rPr>
              <a:t>The system identifies the user's permissions and the plants they may work in.</a:t>
            </a:r>
            <a:endParaRPr lang="en-US" sz="1150" dirty="0"/>
          </a:p>
        </p:txBody>
      </p:sp>
      <p:sp>
        <p:nvSpPr>
          <p:cNvPr id="8" name="Shape 6"/>
          <p:cNvSpPr/>
          <p:nvPr/>
        </p:nvSpPr>
        <p:spPr>
          <a:xfrm>
            <a:off x="566928" y="2926080"/>
            <a:ext cx="365760" cy="365760"/>
          </a:xfrm>
          <a:prstGeom prst="roundRect">
            <a:avLst>
              <a:gd name="adj" fmla="val 17500"/>
            </a:avLst>
          </a:prstGeom>
          <a:solidFill>
            <a:srgbClr val="134074"/>
          </a:solidFill>
          <a:ln w="6350">
            <a:solidFill>
              <a:srgbClr val="134074"/>
            </a:solidFill>
            <a:prstDash val="solid"/>
          </a:ln>
        </p:spPr>
      </p:sp>
      <p:sp>
        <p:nvSpPr>
          <p:cNvPr id="9" name="Text 7"/>
          <p:cNvSpPr/>
          <p:nvPr/>
        </p:nvSpPr>
        <p:spPr>
          <a:xfrm>
            <a:off x="566928" y="292608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sap" pitchFamily="34" charset="0"/>
                <a:ea typeface="Asap" pitchFamily="34" charset="-122"/>
                <a:cs typeface="Asap" pitchFamily="34" charset="-120"/>
              </a:rPr>
              <a:t>2</a:t>
            </a:r>
            <a:endParaRPr lang="en-US" sz="1400" dirty="0"/>
          </a:p>
        </p:txBody>
      </p:sp>
      <p:sp>
        <p:nvSpPr>
          <p:cNvPr id="10" name="Text 8"/>
          <p:cNvSpPr/>
          <p:nvPr/>
        </p:nvSpPr>
        <p:spPr>
          <a:xfrm>
            <a:off x="1097280" y="2907792"/>
            <a:ext cx="3081528" cy="256032"/>
          </a:xfrm>
          <a:prstGeom prst="rect">
            <a:avLst/>
          </a:prstGeom>
          <a:noFill/>
          <a:ln/>
        </p:spPr>
        <p:txBody>
          <a:bodyPr wrap="square" lIns="0" tIns="0" rIns="0" bIns="0" rtlCol="0" anchor="t"/>
          <a:lstStyle/>
          <a:p>
            <a:pPr indent="0" marL="0">
              <a:buNone/>
            </a:pPr>
            <a:r>
              <a:rPr lang="en-US" sz="1350" b="1" dirty="0">
                <a:solidFill>
                  <a:srgbClr val="134074"/>
                </a:solidFill>
                <a:latin typeface="Asap" pitchFamily="34" charset="0"/>
                <a:ea typeface="Asap" pitchFamily="34" charset="-122"/>
                <a:cs typeface="Asap" pitchFamily="34" charset="-120"/>
              </a:rPr>
              <a:t>The interface adapts</a:t>
            </a:r>
            <a:endParaRPr lang="en-US" sz="1350" dirty="0"/>
          </a:p>
        </p:txBody>
      </p:sp>
      <p:sp>
        <p:nvSpPr>
          <p:cNvPr id="11" name="Text 9"/>
          <p:cNvSpPr/>
          <p:nvPr/>
        </p:nvSpPr>
        <p:spPr>
          <a:xfrm>
            <a:off x="1097280" y="3163824"/>
            <a:ext cx="3081528" cy="914400"/>
          </a:xfrm>
          <a:prstGeom prst="rect">
            <a:avLst/>
          </a:prstGeom>
          <a:noFill/>
          <a:ln/>
        </p:spPr>
        <p:txBody>
          <a:bodyPr wrap="square" lIns="0" tIns="0" rIns="0" bIns="0" rtlCol="0" anchor="t"/>
          <a:lstStyle/>
          <a:p>
            <a:pPr indent="0" marL="0">
              <a:lnSpc>
                <a:spcPct val="112000"/>
              </a:lnSpc>
              <a:buNone/>
            </a:pPr>
            <a:r>
              <a:rPr lang="en-US" sz="1150" dirty="0">
                <a:solidFill>
                  <a:srgbClr val="5C6B63"/>
                </a:solidFill>
                <a:latin typeface="Asap" pitchFamily="34" charset="0"/>
                <a:ea typeface="Asap" pitchFamily="34" charset="-122"/>
                <a:cs typeface="Asap" pitchFamily="34" charset="-120"/>
              </a:rPr>
              <a:t>Menus, buttons and data all change with the permission set.</a:t>
            </a:r>
            <a:endParaRPr lang="en-US" sz="1150" dirty="0"/>
          </a:p>
        </p:txBody>
      </p:sp>
      <p:sp>
        <p:nvSpPr>
          <p:cNvPr id="12" name="Shape 10"/>
          <p:cNvSpPr/>
          <p:nvPr/>
        </p:nvSpPr>
        <p:spPr>
          <a:xfrm>
            <a:off x="566928" y="4160520"/>
            <a:ext cx="365760" cy="365760"/>
          </a:xfrm>
          <a:prstGeom prst="roundRect">
            <a:avLst>
              <a:gd name="adj" fmla="val 17500"/>
            </a:avLst>
          </a:prstGeom>
          <a:solidFill>
            <a:srgbClr val="134074"/>
          </a:solidFill>
          <a:ln w="6350">
            <a:solidFill>
              <a:srgbClr val="134074"/>
            </a:solidFill>
            <a:prstDash val="solid"/>
          </a:ln>
        </p:spPr>
      </p:sp>
      <p:sp>
        <p:nvSpPr>
          <p:cNvPr id="13" name="Text 11"/>
          <p:cNvSpPr/>
          <p:nvPr/>
        </p:nvSpPr>
        <p:spPr>
          <a:xfrm>
            <a:off x="566928" y="41605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sap" pitchFamily="34" charset="0"/>
                <a:ea typeface="Asap" pitchFamily="34" charset="-122"/>
                <a:cs typeface="Asap" pitchFamily="34" charset="-120"/>
              </a:rPr>
              <a:t>3</a:t>
            </a:r>
            <a:endParaRPr lang="en-US" sz="1400" dirty="0"/>
          </a:p>
        </p:txBody>
      </p:sp>
      <p:sp>
        <p:nvSpPr>
          <p:cNvPr id="14" name="Text 12"/>
          <p:cNvSpPr/>
          <p:nvPr/>
        </p:nvSpPr>
        <p:spPr>
          <a:xfrm>
            <a:off x="1097280" y="4142232"/>
            <a:ext cx="3081528" cy="256032"/>
          </a:xfrm>
          <a:prstGeom prst="rect">
            <a:avLst/>
          </a:prstGeom>
          <a:noFill/>
          <a:ln/>
        </p:spPr>
        <p:txBody>
          <a:bodyPr wrap="square" lIns="0" tIns="0" rIns="0" bIns="0" rtlCol="0" anchor="t"/>
          <a:lstStyle/>
          <a:p>
            <a:pPr indent="0" marL="0">
              <a:buNone/>
            </a:pPr>
            <a:r>
              <a:rPr lang="en-US" sz="1350" b="1" dirty="0">
                <a:solidFill>
                  <a:srgbClr val="134074"/>
                </a:solidFill>
                <a:latin typeface="Asap" pitchFamily="34" charset="0"/>
                <a:ea typeface="Asap" pitchFamily="34" charset="-122"/>
                <a:cs typeface="Asap" pitchFamily="34" charset="-120"/>
              </a:rPr>
              <a:t>Administrator setup</a:t>
            </a:r>
            <a:endParaRPr lang="en-US" sz="1350" dirty="0"/>
          </a:p>
        </p:txBody>
      </p:sp>
      <p:sp>
        <p:nvSpPr>
          <p:cNvPr id="15" name="Text 13"/>
          <p:cNvSpPr/>
          <p:nvPr/>
        </p:nvSpPr>
        <p:spPr>
          <a:xfrm>
            <a:off x="1097280" y="4398264"/>
            <a:ext cx="3081528" cy="914400"/>
          </a:xfrm>
          <a:prstGeom prst="rect">
            <a:avLst/>
          </a:prstGeom>
          <a:noFill/>
          <a:ln/>
        </p:spPr>
        <p:txBody>
          <a:bodyPr wrap="square" lIns="0" tIns="0" rIns="0" bIns="0" rtlCol="0" anchor="t"/>
          <a:lstStyle/>
          <a:p>
            <a:pPr indent="0" marL="0">
              <a:lnSpc>
                <a:spcPct val="112000"/>
              </a:lnSpc>
              <a:buNone/>
            </a:pPr>
            <a:r>
              <a:rPr lang="en-US" sz="1150" dirty="0">
                <a:solidFill>
                  <a:srgbClr val="5C6B63"/>
                </a:solidFill>
                <a:latin typeface="Asap" pitchFamily="34" charset="0"/>
                <a:ea typeface="Asap" pitchFamily="34" charset="-122"/>
                <a:cs typeface="Asap" pitchFamily="34" charset="-120"/>
              </a:rPr>
              <a:t>Create account → create role → tick permissions → assign the role with a plant scope.</a:t>
            </a:r>
            <a:endParaRPr lang="en-US" sz="1150" dirty="0"/>
          </a:p>
        </p:txBody>
      </p:sp>
      <p:sp>
        <p:nvSpPr>
          <p:cNvPr id="16" name="Text 14"/>
          <p:cNvSpPr/>
          <p:nvPr/>
        </p:nvSpPr>
        <p:spPr>
          <a:xfrm>
            <a:off x="566928" y="5394960"/>
            <a:ext cx="3611880" cy="548640"/>
          </a:xfrm>
          <a:prstGeom prst="rect">
            <a:avLst/>
          </a:prstGeom>
          <a:noFill/>
          <a:ln/>
        </p:spPr>
        <p:txBody>
          <a:bodyPr wrap="square" lIns="0" tIns="0" rIns="0" bIns="0" rtlCol="0" anchor="ctr"/>
          <a:lstStyle/>
          <a:p>
            <a:pPr indent="0" marL="0">
              <a:lnSpc>
                <a:spcPct val="120000"/>
              </a:lnSpc>
              <a:buNone/>
            </a:pPr>
            <a:r>
              <a:rPr lang="en-US" sz="1200" b="1" i="1" dirty="0">
                <a:solidFill>
                  <a:srgbClr val="134074"/>
                </a:solidFill>
                <a:latin typeface="Asap" pitchFamily="34" charset="0"/>
                <a:ea typeface="Asap" pitchFamily="34" charset="-122"/>
                <a:cs typeface="Asap" pitchFamily="34" charset="-120"/>
              </a:rPr>
              <a:t>Users never see a button that would only answer “permission denied”.</a:t>
            </a:r>
            <a:endParaRPr lang="en-US" sz="1200" dirty="0"/>
          </a:p>
        </p:txBody>
      </p:sp>
      <p:sp>
        <p:nvSpPr>
          <p:cNvPr id="17" name="Shape 15"/>
          <p:cNvSpPr/>
          <p:nvPr/>
        </p:nvSpPr>
        <p:spPr>
          <a:xfrm>
            <a:off x="4590288" y="1600200"/>
            <a:ext cx="4069080" cy="4069080"/>
          </a:xfrm>
          <a:prstGeom prst="roundRect">
            <a:avLst>
              <a:gd name="adj" fmla="val 674"/>
            </a:avLst>
          </a:prstGeom>
          <a:solidFill>
            <a:srgbClr val="FFFFFF"/>
          </a:solidFill>
          <a:ln w="15875">
            <a:solidFill>
              <a:srgbClr val="134074"/>
            </a:solidFill>
            <a:prstDash val="dash"/>
          </a:ln>
        </p:spPr>
      </p:sp>
      <p:sp>
        <p:nvSpPr>
          <p:cNvPr id="18" name="Shape 16"/>
          <p:cNvSpPr/>
          <p:nvPr/>
        </p:nvSpPr>
        <p:spPr>
          <a:xfrm>
            <a:off x="4736592" y="1746504"/>
            <a:ext cx="1417320" cy="274320"/>
          </a:xfrm>
          <a:prstGeom prst="roundRect">
            <a:avLst>
              <a:gd name="adj" fmla="val 66667"/>
            </a:avLst>
          </a:prstGeom>
          <a:solidFill>
            <a:srgbClr val="134074"/>
          </a:solidFill>
          <a:ln w="6350">
            <a:solidFill>
              <a:srgbClr val="134074"/>
            </a:solidFill>
            <a:prstDash val="solid"/>
          </a:ln>
        </p:spPr>
      </p:sp>
      <p:sp>
        <p:nvSpPr>
          <p:cNvPr id="19" name="Text 17"/>
          <p:cNvSpPr/>
          <p:nvPr/>
        </p:nvSpPr>
        <p:spPr>
          <a:xfrm>
            <a:off x="4736592" y="1746504"/>
            <a:ext cx="1417320" cy="274320"/>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Asap" pitchFamily="34" charset="0"/>
                <a:ea typeface="Asap" pitchFamily="34" charset="-122"/>
                <a:cs typeface="Asap" pitchFamily="34" charset="-120"/>
              </a:rPr>
              <a:t>SCREENSHOT A</a:t>
            </a:r>
            <a:endParaRPr lang="en-US" sz="900" dirty="0"/>
          </a:p>
        </p:txBody>
      </p:sp>
      <p:sp>
        <p:nvSpPr>
          <p:cNvPr id="20" name="Text 18"/>
          <p:cNvSpPr/>
          <p:nvPr/>
        </p:nvSpPr>
        <p:spPr>
          <a:xfrm>
            <a:off x="4864608" y="3214116"/>
            <a:ext cx="3520440" cy="457200"/>
          </a:xfrm>
          <a:prstGeom prst="rect">
            <a:avLst/>
          </a:prstGeom>
          <a:noFill/>
          <a:ln/>
        </p:spPr>
        <p:txBody>
          <a:bodyPr wrap="square" lIns="0" tIns="0" rIns="0" bIns="0" rtlCol="0" anchor="b"/>
          <a:lstStyle/>
          <a:p>
            <a:pPr algn="ctr" indent="0" marL="0">
              <a:buNone/>
            </a:pPr>
            <a:r>
              <a:rPr lang="en-US" sz="1400" b="1" dirty="0">
                <a:solidFill>
                  <a:srgbClr val="134074"/>
                </a:solidFill>
                <a:latin typeface="Asap" pitchFamily="34" charset="0"/>
                <a:ea typeface="Asap" pitchFamily="34" charset="-122"/>
                <a:cs typeface="Asap" pitchFamily="34" charset="-120"/>
              </a:rPr>
              <a:t>Two accounts, side by side</a:t>
            </a:r>
            <a:endParaRPr lang="en-US" sz="1400" dirty="0"/>
          </a:p>
        </p:txBody>
      </p:sp>
      <p:sp>
        <p:nvSpPr>
          <p:cNvPr id="21" name="Text 19"/>
          <p:cNvSpPr/>
          <p:nvPr/>
        </p:nvSpPr>
        <p:spPr>
          <a:xfrm>
            <a:off x="4864608" y="3689604"/>
            <a:ext cx="3520440" cy="868680"/>
          </a:xfrm>
          <a:prstGeom prst="rect">
            <a:avLst/>
          </a:prstGeom>
          <a:noFill/>
          <a:ln/>
        </p:spPr>
        <p:txBody>
          <a:bodyPr wrap="square" lIns="0" tIns="0" rIns="0" bIns="0" rtlCol="0" anchor="t"/>
          <a:lstStyle/>
          <a:p>
            <a:pPr algn="ctr" indent="0" marL="0">
              <a:lnSpc>
                <a:spcPct val="115000"/>
              </a:lnSpc>
              <a:buNone/>
            </a:pPr>
            <a:r>
              <a:rPr lang="en-US" sz="1050" i="1" dirty="0">
                <a:solidFill>
                  <a:srgbClr val="5C6B63"/>
                </a:solidFill>
                <a:latin typeface="Asap" pitchFamily="34" charset="0"/>
                <a:ea typeface="Asap" pitchFamily="34" charset="-122"/>
                <a:cs typeface="Asap" pitchFamily="34" charset="-120"/>
              </a:rPr>
              <a:t>The left-hand menu of a manager account next to the left-hand</a:t>
            </a:r>
            <a:endParaRPr lang="en-US" sz="1050" dirty="0"/>
          </a:p>
          <a:p>
            <a:pPr algn="ctr" indent="0" marL="0">
              <a:lnSpc>
                <a:spcPct val="115000"/>
              </a:lnSpc>
              <a:buNone/>
            </a:pPr>
            <a:r>
              <a:rPr lang="en-US" sz="1050" i="1" dirty="0">
                <a:solidFill>
                  <a:srgbClr val="5C6B63"/>
                </a:solidFill>
                <a:latin typeface="Asap" pitchFamily="34" charset="0"/>
                <a:ea typeface="Asap" pitchFamily="34" charset="-122"/>
                <a:cs typeface="Asap" pitchFamily="34" charset="-120"/>
              </a:rPr>
              <a:t>menu of a shop-floor account. Same system, visibly different</a:t>
            </a:r>
            <a:endParaRPr lang="en-US" sz="1050" dirty="0"/>
          </a:p>
          <a:p>
            <a:pPr algn="ctr" indent="0" marL="0">
              <a:lnSpc>
                <a:spcPct val="115000"/>
              </a:lnSpc>
              <a:buNone/>
            </a:pPr>
            <a:r>
              <a:rPr lang="en-US" sz="1050" i="1" dirty="0">
                <a:solidFill>
                  <a:srgbClr val="5C6B63"/>
                </a:solidFill>
                <a:latin typeface="Asap" pitchFamily="34" charset="0"/>
                <a:ea typeface="Asap" pitchFamily="34" charset="-122"/>
                <a:cs typeface="Asap" pitchFamily="34" charset="-120"/>
              </a:rPr>
              <a:t>menus — the most persuasive image on this slide.</a:t>
            </a:r>
            <a:endParaRPr lang="en-US" sz="1050" dirty="0"/>
          </a:p>
        </p:txBody>
      </p:sp>
      <p:sp>
        <p:nvSpPr>
          <p:cNvPr id="22" name="Shape 20"/>
          <p:cNvSpPr/>
          <p:nvPr/>
        </p:nvSpPr>
        <p:spPr>
          <a:xfrm>
            <a:off x="8979408" y="1600200"/>
            <a:ext cx="2645359" cy="4069080"/>
          </a:xfrm>
          <a:prstGeom prst="roundRect">
            <a:avLst>
              <a:gd name="adj" fmla="val 1037"/>
            </a:avLst>
          </a:prstGeom>
          <a:solidFill>
            <a:srgbClr val="FFFFFF"/>
          </a:solidFill>
          <a:ln w="15875">
            <a:solidFill>
              <a:srgbClr val="134074"/>
            </a:solidFill>
            <a:prstDash val="dash"/>
          </a:ln>
        </p:spPr>
      </p:sp>
      <p:sp>
        <p:nvSpPr>
          <p:cNvPr id="23" name="Shape 21"/>
          <p:cNvSpPr/>
          <p:nvPr/>
        </p:nvSpPr>
        <p:spPr>
          <a:xfrm>
            <a:off x="9125712" y="1746504"/>
            <a:ext cx="1417320" cy="274320"/>
          </a:xfrm>
          <a:prstGeom prst="roundRect">
            <a:avLst>
              <a:gd name="adj" fmla="val 66667"/>
            </a:avLst>
          </a:prstGeom>
          <a:solidFill>
            <a:srgbClr val="134074"/>
          </a:solidFill>
          <a:ln w="6350">
            <a:solidFill>
              <a:srgbClr val="134074"/>
            </a:solidFill>
            <a:prstDash val="solid"/>
          </a:ln>
        </p:spPr>
      </p:sp>
      <p:sp>
        <p:nvSpPr>
          <p:cNvPr id="24" name="Text 22"/>
          <p:cNvSpPr/>
          <p:nvPr/>
        </p:nvSpPr>
        <p:spPr>
          <a:xfrm>
            <a:off x="9125712" y="1746504"/>
            <a:ext cx="1417320" cy="274320"/>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Asap" pitchFamily="34" charset="0"/>
                <a:ea typeface="Asap" pitchFamily="34" charset="-122"/>
                <a:cs typeface="Asap" pitchFamily="34" charset="-120"/>
              </a:rPr>
              <a:t>SCREENSHOT B</a:t>
            </a:r>
            <a:endParaRPr lang="en-US" sz="900" dirty="0"/>
          </a:p>
        </p:txBody>
      </p:sp>
      <p:sp>
        <p:nvSpPr>
          <p:cNvPr id="25" name="Text 23"/>
          <p:cNvSpPr/>
          <p:nvPr/>
        </p:nvSpPr>
        <p:spPr>
          <a:xfrm>
            <a:off x="9253728" y="3214116"/>
            <a:ext cx="2096719" cy="457200"/>
          </a:xfrm>
          <a:prstGeom prst="rect">
            <a:avLst/>
          </a:prstGeom>
          <a:noFill/>
          <a:ln/>
        </p:spPr>
        <p:txBody>
          <a:bodyPr wrap="square" lIns="0" tIns="0" rIns="0" bIns="0" rtlCol="0" anchor="b"/>
          <a:lstStyle/>
          <a:p>
            <a:pPr algn="ctr" indent="0" marL="0">
              <a:buNone/>
            </a:pPr>
            <a:r>
              <a:rPr lang="en-US" sz="1400" b="1" dirty="0">
                <a:solidFill>
                  <a:srgbClr val="134074"/>
                </a:solidFill>
                <a:latin typeface="Asap" pitchFamily="34" charset="0"/>
                <a:ea typeface="Asap" pitchFamily="34" charset="-122"/>
                <a:cs typeface="Asap" pitchFamily="34" charset="-120"/>
              </a:rPr>
              <a:t>Role assignment</a:t>
            </a:r>
            <a:endParaRPr lang="en-US" sz="1400" dirty="0"/>
          </a:p>
        </p:txBody>
      </p:sp>
      <p:sp>
        <p:nvSpPr>
          <p:cNvPr id="26" name="Text 24"/>
          <p:cNvSpPr/>
          <p:nvPr/>
        </p:nvSpPr>
        <p:spPr>
          <a:xfrm>
            <a:off x="9253728" y="3689604"/>
            <a:ext cx="2096719" cy="868680"/>
          </a:xfrm>
          <a:prstGeom prst="rect">
            <a:avLst/>
          </a:prstGeom>
          <a:noFill/>
          <a:ln/>
        </p:spPr>
        <p:txBody>
          <a:bodyPr wrap="square" lIns="0" tIns="0" rIns="0" bIns="0" rtlCol="0" anchor="t"/>
          <a:lstStyle/>
          <a:p>
            <a:pPr algn="ctr" indent="0" marL="0">
              <a:lnSpc>
                <a:spcPct val="115000"/>
              </a:lnSpc>
              <a:buNone/>
            </a:pPr>
            <a:r>
              <a:rPr lang="en-US" sz="1050" i="1" dirty="0">
                <a:solidFill>
                  <a:srgbClr val="5C6B63"/>
                </a:solidFill>
                <a:latin typeface="Asap" pitchFamily="34" charset="0"/>
                <a:ea typeface="Asap" pitchFamily="34" charset="-122"/>
                <a:cs typeface="Asap" pitchFamily="34" charset="-120"/>
              </a:rPr>
              <a:t>The login screen, or the</a:t>
            </a:r>
            <a:endParaRPr lang="en-US" sz="1050" dirty="0"/>
          </a:p>
          <a:p>
            <a:pPr algn="ctr" indent="0" marL="0">
              <a:lnSpc>
                <a:spcPct val="115000"/>
              </a:lnSpc>
              <a:buNone/>
            </a:pPr>
            <a:r>
              <a:rPr lang="en-US" sz="1050" i="1" dirty="0">
                <a:solidFill>
                  <a:srgbClr val="5C6B63"/>
                </a:solidFill>
                <a:latin typeface="Asap" pitchFamily="34" charset="0"/>
                <a:ea typeface="Asap" pitchFamily="34" charset="-122"/>
                <a:cs typeface="Asap" pitchFamily="34" charset="-120"/>
              </a:rPr>
              <a:t>“assign role to user”</a:t>
            </a:r>
            <a:endParaRPr lang="en-US" sz="1050" dirty="0"/>
          </a:p>
          <a:p>
            <a:pPr algn="ctr" indent="0" marL="0">
              <a:lnSpc>
                <a:spcPct val="115000"/>
              </a:lnSpc>
              <a:buNone/>
            </a:pPr>
            <a:r>
              <a:rPr lang="en-US" sz="1050" i="1" dirty="0">
                <a:solidFill>
                  <a:srgbClr val="5C6B63"/>
                </a:solidFill>
                <a:latin typeface="Asap" pitchFamily="34" charset="0"/>
                <a:ea typeface="Asap" pitchFamily="34" charset="-122"/>
                <a:cs typeface="Asap" pitchFamily="34" charset="-120"/>
              </a:rPr>
              <a:t>screen with its plant scope.</a:t>
            </a:r>
            <a:endParaRPr lang="en-US" sz="1050" dirty="0"/>
          </a:p>
        </p:txBody>
      </p:sp>
      <p:sp>
        <p:nvSpPr>
          <p:cNvPr id="27" name="Shape 25"/>
          <p:cNvSpPr/>
          <p:nvPr/>
        </p:nvSpPr>
        <p:spPr>
          <a:xfrm>
            <a:off x="566928" y="6144768"/>
            <a:ext cx="11057839" cy="420624"/>
          </a:xfrm>
          <a:prstGeom prst="roundRect">
            <a:avLst>
              <a:gd name="adj" fmla="val 8696"/>
            </a:avLst>
          </a:prstGeom>
          <a:solidFill>
            <a:srgbClr val="134074"/>
          </a:solidFill>
          <a:ln w="6350">
            <a:solidFill>
              <a:srgbClr val="134074"/>
            </a:solidFill>
            <a:prstDash val="solid"/>
          </a:ln>
        </p:spPr>
      </p:sp>
      <p:sp>
        <p:nvSpPr>
          <p:cNvPr id="28" name="Text 26"/>
          <p:cNvSpPr/>
          <p:nvPr/>
        </p:nvSpPr>
        <p:spPr>
          <a:xfrm>
            <a:off x="804672" y="6144768"/>
            <a:ext cx="10600639" cy="420624"/>
          </a:xfrm>
          <a:prstGeom prst="rect">
            <a:avLst/>
          </a:prstGeom>
          <a:noFill/>
          <a:ln/>
        </p:spPr>
        <p:txBody>
          <a:bodyPr wrap="square" lIns="0" tIns="0" rIns="0" bIns="0" rtlCol="0" anchor="ctr"/>
          <a:lstStyle/>
          <a:p>
            <a:pPr indent="0" marL="0">
              <a:buNone/>
            </a:pPr>
            <a:r>
              <a:rPr lang="en-US" sz="1000" b="1" spc="140" kern="0" dirty="0">
                <a:solidFill>
                  <a:srgbClr val="8DA9C4"/>
                </a:solidFill>
                <a:latin typeface="Asap" pitchFamily="34" charset="0"/>
                <a:ea typeface="Asap" pitchFamily="34" charset="-122"/>
                <a:cs typeface="Asap" pitchFamily="34" charset="-120"/>
              </a:rPr>
              <a:t>IN THE DEMO CLIP   </a:t>
            </a:r>
            <a:pPr indent="0" marL="0">
              <a:buNone/>
            </a:pPr>
            <a:r>
              <a:rPr lang="en-US" sz="1150" dirty="0">
                <a:solidFill>
                  <a:srgbClr val="FFFFFF"/>
                </a:solidFill>
                <a:latin typeface="Asap" pitchFamily="34" charset="0"/>
                <a:ea typeface="Asap" pitchFamily="34" charset="-122"/>
                <a:cs typeface="Asap" pitchFamily="34" charset="-120"/>
              </a:rPr>
              <a:t>we log in as a manager and pick a plant — every action afterwards stays inside that plant.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EF4ED"/>
        </a:solidFill>
      </p:bgPr>
    </p:bg>
    <p:spTree>
      <p:nvGrpSpPr>
        <p:cNvPr id="1" name=""/>
        <p:cNvGrpSpPr/>
        <p:nvPr/>
      </p:nvGrpSpPr>
      <p:grpSpPr>
        <a:xfrm>
          <a:off x="0" y="0"/>
          <a:ext cx="0" cy="0"/>
          <a:chOff x="0" y="0"/>
          <a:chExt cx="0" cy="0"/>
        </a:xfrm>
      </p:grpSpPr>
      <p:sp>
        <p:nvSpPr>
          <p:cNvPr id="2" name="Text 0"/>
          <p:cNvSpPr/>
          <p:nvPr/>
        </p:nvSpPr>
        <p:spPr>
          <a:xfrm>
            <a:off x="566928" y="347472"/>
            <a:ext cx="10515600" cy="256032"/>
          </a:xfrm>
          <a:prstGeom prst="rect">
            <a:avLst/>
          </a:prstGeom>
          <a:noFill/>
          <a:ln/>
        </p:spPr>
        <p:txBody>
          <a:bodyPr wrap="square" lIns="0" tIns="0" rIns="0" bIns="0" rtlCol="0" anchor="ctr"/>
          <a:lstStyle/>
          <a:p>
            <a:pPr indent="0" marL="0">
              <a:buNone/>
            </a:pPr>
            <a:r>
              <a:rPr lang="en-US" sz="1100" b="1" spc="220" kern="0" dirty="0">
                <a:solidFill>
                  <a:srgbClr val="8DA9C4"/>
                </a:solidFill>
                <a:latin typeface="Asap" pitchFamily="34" charset="0"/>
                <a:ea typeface="Asap" pitchFamily="34" charset="-122"/>
                <a:cs typeface="Asap" pitchFamily="34" charset="-120"/>
              </a:rPr>
              <a:t>07 · MATERIAL PLANNING</a:t>
            </a:r>
            <a:endParaRPr lang="en-US" sz="1100" dirty="0"/>
          </a:p>
        </p:txBody>
      </p:sp>
      <p:sp>
        <p:nvSpPr>
          <p:cNvPr id="3" name="Text 1"/>
          <p:cNvSpPr/>
          <p:nvPr/>
        </p:nvSpPr>
        <p:spPr>
          <a:xfrm>
            <a:off x="566928" y="603504"/>
            <a:ext cx="10881360" cy="658368"/>
          </a:xfrm>
          <a:prstGeom prst="rect">
            <a:avLst/>
          </a:prstGeom>
          <a:noFill/>
          <a:ln/>
        </p:spPr>
        <p:txBody>
          <a:bodyPr wrap="square" lIns="0" tIns="0" rIns="0" bIns="0" rtlCol="0" anchor="t"/>
          <a:lstStyle/>
          <a:p>
            <a:pPr indent="0" marL="0">
              <a:buNone/>
            </a:pPr>
            <a:r>
              <a:rPr lang="en-US" sz="3100" b="1" dirty="0">
                <a:solidFill>
                  <a:srgbClr val="134074"/>
                </a:solidFill>
                <a:latin typeface="Asap" pitchFamily="34" charset="0"/>
                <a:ea typeface="Asap" pitchFamily="34" charset="-122"/>
                <a:cs typeface="Asap" pitchFamily="34" charset="-120"/>
              </a:rPr>
              <a:t>From Order to Answer: What to Make, What to Buy</a:t>
            </a:r>
            <a:endParaRPr lang="en-US" sz="3100" dirty="0"/>
          </a:p>
        </p:txBody>
      </p:sp>
      <p:sp>
        <p:nvSpPr>
          <p:cNvPr id="4" name="Shape 2"/>
          <p:cNvSpPr/>
          <p:nvPr/>
        </p:nvSpPr>
        <p:spPr>
          <a:xfrm>
            <a:off x="566928" y="1664208"/>
            <a:ext cx="365760" cy="365760"/>
          </a:xfrm>
          <a:prstGeom prst="roundRect">
            <a:avLst>
              <a:gd name="adj" fmla="val 17500"/>
            </a:avLst>
          </a:prstGeom>
          <a:solidFill>
            <a:srgbClr val="134074"/>
          </a:solidFill>
          <a:ln w="6350">
            <a:solidFill>
              <a:srgbClr val="134074"/>
            </a:solidFill>
            <a:prstDash val="solid"/>
          </a:ln>
        </p:spPr>
      </p:sp>
      <p:sp>
        <p:nvSpPr>
          <p:cNvPr id="5" name="Text 3"/>
          <p:cNvSpPr/>
          <p:nvPr/>
        </p:nvSpPr>
        <p:spPr>
          <a:xfrm>
            <a:off x="566928" y="166420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sap" pitchFamily="34" charset="0"/>
                <a:ea typeface="Asap" pitchFamily="34" charset="-122"/>
                <a:cs typeface="Asap" pitchFamily="34" charset="-120"/>
              </a:rPr>
              <a:t>1</a:t>
            </a:r>
            <a:endParaRPr lang="en-US" sz="1400" dirty="0"/>
          </a:p>
        </p:txBody>
      </p:sp>
      <p:sp>
        <p:nvSpPr>
          <p:cNvPr id="6" name="Text 4"/>
          <p:cNvSpPr/>
          <p:nvPr/>
        </p:nvSpPr>
        <p:spPr>
          <a:xfrm>
            <a:off x="1097280" y="1645920"/>
            <a:ext cx="3081528" cy="256032"/>
          </a:xfrm>
          <a:prstGeom prst="rect">
            <a:avLst/>
          </a:prstGeom>
          <a:noFill/>
          <a:ln/>
        </p:spPr>
        <p:txBody>
          <a:bodyPr wrap="square" lIns="0" tIns="0" rIns="0" bIns="0" rtlCol="0" anchor="t"/>
          <a:lstStyle/>
          <a:p>
            <a:pPr indent="0" marL="0">
              <a:buNone/>
            </a:pPr>
            <a:r>
              <a:rPr lang="en-US" sz="1350" b="1" dirty="0">
                <a:solidFill>
                  <a:srgbClr val="134074"/>
                </a:solidFill>
                <a:latin typeface="Asap" pitchFamily="34" charset="0"/>
                <a:ea typeface="Asap" pitchFamily="34" charset="-122"/>
                <a:cs typeface="Asap" pitchFamily="34" charset="-120"/>
              </a:rPr>
              <a:t>Pick the confirmed orders to plan</a:t>
            </a:r>
            <a:endParaRPr lang="en-US" sz="1350" dirty="0"/>
          </a:p>
        </p:txBody>
      </p:sp>
      <p:sp>
        <p:nvSpPr>
          <p:cNvPr id="7" name="Shape 5"/>
          <p:cNvSpPr/>
          <p:nvPr/>
        </p:nvSpPr>
        <p:spPr>
          <a:xfrm>
            <a:off x="566928" y="2249424"/>
            <a:ext cx="365760" cy="365760"/>
          </a:xfrm>
          <a:prstGeom prst="roundRect">
            <a:avLst>
              <a:gd name="adj" fmla="val 17500"/>
            </a:avLst>
          </a:prstGeom>
          <a:solidFill>
            <a:srgbClr val="134074"/>
          </a:solidFill>
          <a:ln w="6350">
            <a:solidFill>
              <a:srgbClr val="134074"/>
            </a:solidFill>
            <a:prstDash val="solid"/>
          </a:ln>
        </p:spPr>
      </p:sp>
      <p:sp>
        <p:nvSpPr>
          <p:cNvPr id="8" name="Text 6"/>
          <p:cNvSpPr/>
          <p:nvPr/>
        </p:nvSpPr>
        <p:spPr>
          <a:xfrm>
            <a:off x="566928" y="22494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sap" pitchFamily="34" charset="0"/>
                <a:ea typeface="Asap" pitchFamily="34" charset="-122"/>
                <a:cs typeface="Asap" pitchFamily="34" charset="-120"/>
              </a:rPr>
              <a:t>2</a:t>
            </a:r>
            <a:endParaRPr lang="en-US" sz="1400" dirty="0"/>
          </a:p>
        </p:txBody>
      </p:sp>
      <p:sp>
        <p:nvSpPr>
          <p:cNvPr id="9" name="Text 7"/>
          <p:cNvSpPr/>
          <p:nvPr/>
        </p:nvSpPr>
        <p:spPr>
          <a:xfrm>
            <a:off x="1097280" y="2231136"/>
            <a:ext cx="3081528" cy="256032"/>
          </a:xfrm>
          <a:prstGeom prst="rect">
            <a:avLst/>
          </a:prstGeom>
          <a:noFill/>
          <a:ln/>
        </p:spPr>
        <p:txBody>
          <a:bodyPr wrap="square" lIns="0" tIns="0" rIns="0" bIns="0" rtlCol="0" anchor="t"/>
          <a:lstStyle/>
          <a:p>
            <a:pPr indent="0" marL="0">
              <a:buNone/>
            </a:pPr>
            <a:r>
              <a:rPr lang="en-US" sz="1350" b="1" dirty="0">
                <a:solidFill>
                  <a:srgbClr val="134074"/>
                </a:solidFill>
                <a:latin typeface="Asap" pitchFamily="34" charset="0"/>
                <a:ea typeface="Asap" pitchFamily="34" charset="-122"/>
                <a:cs typeface="Asap" pitchFamily="34" charset="-120"/>
              </a:rPr>
              <a:t>Press “Run planning”</a:t>
            </a:r>
            <a:endParaRPr lang="en-US" sz="1350" dirty="0"/>
          </a:p>
        </p:txBody>
      </p:sp>
      <p:sp>
        <p:nvSpPr>
          <p:cNvPr id="10" name="Shape 8"/>
          <p:cNvSpPr/>
          <p:nvPr/>
        </p:nvSpPr>
        <p:spPr>
          <a:xfrm>
            <a:off x="566928" y="2834640"/>
            <a:ext cx="365760" cy="365760"/>
          </a:xfrm>
          <a:prstGeom prst="roundRect">
            <a:avLst>
              <a:gd name="adj" fmla="val 17500"/>
            </a:avLst>
          </a:prstGeom>
          <a:solidFill>
            <a:srgbClr val="134074"/>
          </a:solidFill>
          <a:ln w="6350">
            <a:solidFill>
              <a:srgbClr val="134074"/>
            </a:solidFill>
            <a:prstDash val="solid"/>
          </a:ln>
        </p:spPr>
      </p:sp>
      <p:sp>
        <p:nvSpPr>
          <p:cNvPr id="11" name="Text 9"/>
          <p:cNvSpPr/>
          <p:nvPr/>
        </p:nvSpPr>
        <p:spPr>
          <a:xfrm>
            <a:off x="566928" y="28346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sap" pitchFamily="34" charset="0"/>
                <a:ea typeface="Asap" pitchFamily="34" charset="-122"/>
                <a:cs typeface="Asap" pitchFamily="34" charset="-120"/>
              </a:rPr>
              <a:t>3</a:t>
            </a:r>
            <a:endParaRPr lang="en-US" sz="1400" dirty="0"/>
          </a:p>
        </p:txBody>
      </p:sp>
      <p:sp>
        <p:nvSpPr>
          <p:cNvPr id="12" name="Text 10"/>
          <p:cNvSpPr/>
          <p:nvPr/>
        </p:nvSpPr>
        <p:spPr>
          <a:xfrm>
            <a:off x="1097280" y="2816352"/>
            <a:ext cx="3081528" cy="256032"/>
          </a:xfrm>
          <a:prstGeom prst="rect">
            <a:avLst/>
          </a:prstGeom>
          <a:noFill/>
          <a:ln/>
        </p:spPr>
        <p:txBody>
          <a:bodyPr wrap="square" lIns="0" tIns="0" rIns="0" bIns="0" rtlCol="0" anchor="t"/>
          <a:lstStyle/>
          <a:p>
            <a:pPr indent="0" marL="0">
              <a:buNone/>
            </a:pPr>
            <a:r>
              <a:rPr lang="en-US" sz="1350" b="1" dirty="0">
                <a:solidFill>
                  <a:srgbClr val="134074"/>
                </a:solidFill>
                <a:latin typeface="Asap" pitchFamily="34" charset="0"/>
                <a:ea typeface="Asap" pitchFamily="34" charset="-122"/>
                <a:cs typeface="Asap" pitchFamily="34" charset="-120"/>
              </a:rPr>
              <a:t>Read the result</a:t>
            </a:r>
            <a:endParaRPr lang="en-US" sz="1350" dirty="0"/>
          </a:p>
        </p:txBody>
      </p:sp>
      <p:sp>
        <p:nvSpPr>
          <p:cNvPr id="13" name="Text 11"/>
          <p:cNvSpPr/>
          <p:nvPr/>
        </p:nvSpPr>
        <p:spPr>
          <a:xfrm>
            <a:off x="1097280" y="3072384"/>
            <a:ext cx="3081528" cy="914400"/>
          </a:xfrm>
          <a:prstGeom prst="rect">
            <a:avLst/>
          </a:prstGeom>
          <a:noFill/>
          <a:ln/>
        </p:spPr>
        <p:txBody>
          <a:bodyPr wrap="square" lIns="0" tIns="0" rIns="0" bIns="0" rtlCol="0" anchor="t"/>
          <a:lstStyle/>
          <a:p>
            <a:pPr indent="0" marL="0">
              <a:lnSpc>
                <a:spcPct val="112000"/>
              </a:lnSpc>
              <a:buNone/>
            </a:pPr>
            <a:r>
              <a:rPr lang="en-US" sz="1150" dirty="0">
                <a:solidFill>
                  <a:srgbClr val="5C6B63"/>
                </a:solidFill>
                <a:latin typeface="Asap" pitchFamily="34" charset="0"/>
                <a:ea typeface="Asap" pitchFamily="34" charset="-122"/>
                <a:cs typeface="Asap" pitchFamily="34" charset="-120"/>
              </a:rPr>
              <a:t>Per material: required · on hand · inbound · short.</a:t>
            </a:r>
            <a:endParaRPr lang="en-US" sz="1150" dirty="0"/>
          </a:p>
        </p:txBody>
      </p:sp>
      <p:sp>
        <p:nvSpPr>
          <p:cNvPr id="14" name="Shape 12"/>
          <p:cNvSpPr/>
          <p:nvPr/>
        </p:nvSpPr>
        <p:spPr>
          <a:xfrm>
            <a:off x="566928" y="3749040"/>
            <a:ext cx="365760" cy="365760"/>
          </a:xfrm>
          <a:prstGeom prst="roundRect">
            <a:avLst>
              <a:gd name="adj" fmla="val 17500"/>
            </a:avLst>
          </a:prstGeom>
          <a:solidFill>
            <a:srgbClr val="134074"/>
          </a:solidFill>
          <a:ln w="6350">
            <a:solidFill>
              <a:srgbClr val="134074"/>
            </a:solidFill>
            <a:prstDash val="solid"/>
          </a:ln>
        </p:spPr>
      </p:sp>
      <p:sp>
        <p:nvSpPr>
          <p:cNvPr id="15" name="Text 13"/>
          <p:cNvSpPr/>
          <p:nvPr/>
        </p:nvSpPr>
        <p:spPr>
          <a:xfrm>
            <a:off x="566928" y="37490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sap" pitchFamily="34" charset="0"/>
                <a:ea typeface="Asap" pitchFamily="34" charset="-122"/>
                <a:cs typeface="Asap" pitchFamily="34" charset="-120"/>
              </a:rPr>
              <a:t>4</a:t>
            </a:r>
            <a:endParaRPr lang="en-US" sz="1400" dirty="0"/>
          </a:p>
        </p:txBody>
      </p:sp>
      <p:sp>
        <p:nvSpPr>
          <p:cNvPr id="16" name="Text 14"/>
          <p:cNvSpPr/>
          <p:nvPr/>
        </p:nvSpPr>
        <p:spPr>
          <a:xfrm>
            <a:off x="1097280" y="3730752"/>
            <a:ext cx="3081528" cy="256032"/>
          </a:xfrm>
          <a:prstGeom prst="rect">
            <a:avLst/>
          </a:prstGeom>
          <a:noFill/>
          <a:ln/>
        </p:spPr>
        <p:txBody>
          <a:bodyPr wrap="square" lIns="0" tIns="0" rIns="0" bIns="0" rtlCol="0" anchor="t"/>
          <a:lstStyle/>
          <a:p>
            <a:pPr indent="0" marL="0">
              <a:buNone/>
            </a:pPr>
            <a:r>
              <a:rPr lang="en-US" sz="1350" b="1" dirty="0">
                <a:solidFill>
                  <a:srgbClr val="134074"/>
                </a:solidFill>
                <a:latin typeface="Asap" pitchFamily="34" charset="0"/>
                <a:ea typeface="Asap" pitchFamily="34" charset="-122"/>
                <a:cs typeface="Asap" pitchFamily="34" charset="-120"/>
              </a:rPr>
              <a:t>MAKE or BUY</a:t>
            </a:r>
            <a:endParaRPr lang="en-US" sz="1350" dirty="0"/>
          </a:p>
        </p:txBody>
      </p:sp>
      <p:sp>
        <p:nvSpPr>
          <p:cNvPr id="17" name="Text 15"/>
          <p:cNvSpPr/>
          <p:nvPr/>
        </p:nvSpPr>
        <p:spPr>
          <a:xfrm>
            <a:off x="1097280" y="3986784"/>
            <a:ext cx="3081528" cy="914400"/>
          </a:xfrm>
          <a:prstGeom prst="rect">
            <a:avLst/>
          </a:prstGeom>
          <a:noFill/>
          <a:ln/>
        </p:spPr>
        <p:txBody>
          <a:bodyPr wrap="square" lIns="0" tIns="0" rIns="0" bIns="0" rtlCol="0" anchor="t"/>
          <a:lstStyle/>
          <a:p>
            <a:pPr indent="0" marL="0">
              <a:lnSpc>
                <a:spcPct val="112000"/>
              </a:lnSpc>
              <a:buNone/>
            </a:pPr>
            <a:r>
              <a:rPr lang="en-US" sz="1150" dirty="0">
                <a:solidFill>
                  <a:srgbClr val="5C6B63"/>
                </a:solidFill>
                <a:latin typeface="Asap" pitchFamily="34" charset="0"/>
                <a:ea typeface="Asap" pitchFamily="34" charset="-122"/>
                <a:cs typeface="Asap" pitchFamily="34" charset="-120"/>
              </a:rPr>
              <a:t>Each shortage line is tagged: we can produce it, or we must buy it.</a:t>
            </a:r>
            <a:endParaRPr lang="en-US" sz="1150" dirty="0"/>
          </a:p>
        </p:txBody>
      </p:sp>
      <p:sp>
        <p:nvSpPr>
          <p:cNvPr id="18" name="Shape 16"/>
          <p:cNvSpPr/>
          <p:nvPr/>
        </p:nvSpPr>
        <p:spPr>
          <a:xfrm>
            <a:off x="566928" y="4663440"/>
            <a:ext cx="365760" cy="365760"/>
          </a:xfrm>
          <a:prstGeom prst="roundRect">
            <a:avLst>
              <a:gd name="adj" fmla="val 17500"/>
            </a:avLst>
          </a:prstGeom>
          <a:solidFill>
            <a:srgbClr val="134074"/>
          </a:solidFill>
          <a:ln w="6350">
            <a:solidFill>
              <a:srgbClr val="134074"/>
            </a:solidFill>
            <a:prstDash val="solid"/>
          </a:ln>
        </p:spPr>
      </p:sp>
      <p:sp>
        <p:nvSpPr>
          <p:cNvPr id="19" name="Text 17"/>
          <p:cNvSpPr/>
          <p:nvPr/>
        </p:nvSpPr>
        <p:spPr>
          <a:xfrm>
            <a:off x="566928" y="46634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sap" pitchFamily="34" charset="0"/>
                <a:ea typeface="Asap" pitchFamily="34" charset="-122"/>
                <a:cs typeface="Asap" pitchFamily="34" charset="-120"/>
              </a:rPr>
              <a:t>5</a:t>
            </a:r>
            <a:endParaRPr lang="en-US" sz="1400" dirty="0"/>
          </a:p>
        </p:txBody>
      </p:sp>
      <p:sp>
        <p:nvSpPr>
          <p:cNvPr id="20" name="Text 18"/>
          <p:cNvSpPr/>
          <p:nvPr/>
        </p:nvSpPr>
        <p:spPr>
          <a:xfrm>
            <a:off x="1097280" y="4645152"/>
            <a:ext cx="3081528" cy="256032"/>
          </a:xfrm>
          <a:prstGeom prst="rect">
            <a:avLst/>
          </a:prstGeom>
          <a:noFill/>
          <a:ln/>
        </p:spPr>
        <p:txBody>
          <a:bodyPr wrap="square" lIns="0" tIns="0" rIns="0" bIns="0" rtlCol="0" anchor="t"/>
          <a:lstStyle/>
          <a:p>
            <a:pPr indent="0" marL="0">
              <a:buNone/>
            </a:pPr>
            <a:r>
              <a:rPr lang="en-US" sz="1350" b="1" dirty="0">
                <a:solidFill>
                  <a:srgbClr val="134074"/>
                </a:solidFill>
                <a:latin typeface="Asap" pitchFamily="34" charset="0"/>
                <a:ea typeface="Asap" pitchFamily="34" charset="-122"/>
                <a:cs typeface="Asap" pitchFamily="34" charset="-120"/>
              </a:rPr>
              <a:t>Approve → work order</a:t>
            </a:r>
            <a:endParaRPr lang="en-US" sz="1350" dirty="0"/>
          </a:p>
        </p:txBody>
      </p:sp>
      <p:sp>
        <p:nvSpPr>
          <p:cNvPr id="21" name="Text 19"/>
          <p:cNvSpPr/>
          <p:nvPr/>
        </p:nvSpPr>
        <p:spPr>
          <a:xfrm>
            <a:off x="1097280" y="4901184"/>
            <a:ext cx="3081528" cy="914400"/>
          </a:xfrm>
          <a:prstGeom prst="rect">
            <a:avLst/>
          </a:prstGeom>
          <a:noFill/>
          <a:ln/>
        </p:spPr>
        <p:txBody>
          <a:bodyPr wrap="square" lIns="0" tIns="0" rIns="0" bIns="0" rtlCol="0" anchor="t"/>
          <a:lstStyle/>
          <a:p>
            <a:pPr indent="0" marL="0">
              <a:lnSpc>
                <a:spcPct val="112000"/>
              </a:lnSpc>
              <a:buNone/>
            </a:pPr>
            <a:r>
              <a:rPr lang="en-US" sz="1150" dirty="0">
                <a:solidFill>
                  <a:srgbClr val="5C6B63"/>
                </a:solidFill>
                <a:latin typeface="Asap" pitchFamily="34" charset="0"/>
                <a:ea typeface="Asap" pitchFamily="34" charset="-122"/>
                <a:cs typeface="Asap" pitchFamily="34" charset="-120"/>
              </a:rPr>
              <a:t>Product, quantity and due date carry over — nothing is retyped.</a:t>
            </a:r>
            <a:endParaRPr lang="en-US" sz="1150" dirty="0"/>
          </a:p>
        </p:txBody>
      </p:sp>
      <p:sp>
        <p:nvSpPr>
          <p:cNvPr id="22" name="Text 20"/>
          <p:cNvSpPr/>
          <p:nvPr/>
        </p:nvSpPr>
        <p:spPr>
          <a:xfrm>
            <a:off x="566928" y="5486400"/>
            <a:ext cx="3611880" cy="457200"/>
          </a:xfrm>
          <a:prstGeom prst="rect">
            <a:avLst/>
          </a:prstGeom>
          <a:noFill/>
          <a:ln/>
        </p:spPr>
        <p:txBody>
          <a:bodyPr wrap="square" lIns="0" tIns="0" rIns="0" bIns="0" rtlCol="0" anchor="ctr"/>
          <a:lstStyle/>
          <a:p>
            <a:pPr indent="0" marL="0">
              <a:lnSpc>
                <a:spcPct val="120000"/>
              </a:lnSpc>
              <a:buNone/>
            </a:pPr>
            <a:r>
              <a:rPr lang="en-US" sz="1150" b="1" i="1" dirty="0">
                <a:solidFill>
                  <a:srgbClr val="134074"/>
                </a:solidFill>
                <a:latin typeface="Asap" pitchFamily="34" charset="0"/>
                <a:ea typeface="Asap" pitchFamily="34" charset="-122"/>
                <a:cs typeface="Asap" pitchFamily="34" charset="-120"/>
              </a:rPr>
              <a:t>No more planning in spreadsheets — and every run is stored as its own record.</a:t>
            </a:r>
            <a:endParaRPr lang="en-US" sz="1150" dirty="0"/>
          </a:p>
        </p:txBody>
      </p:sp>
      <p:sp>
        <p:nvSpPr>
          <p:cNvPr id="23" name="Shape 21"/>
          <p:cNvSpPr/>
          <p:nvPr/>
        </p:nvSpPr>
        <p:spPr>
          <a:xfrm>
            <a:off x="4590288" y="1600200"/>
            <a:ext cx="4069080" cy="4069080"/>
          </a:xfrm>
          <a:prstGeom prst="roundRect">
            <a:avLst>
              <a:gd name="adj" fmla="val 674"/>
            </a:avLst>
          </a:prstGeom>
          <a:solidFill>
            <a:srgbClr val="FFFFFF"/>
          </a:solidFill>
          <a:ln w="15875">
            <a:solidFill>
              <a:srgbClr val="134074"/>
            </a:solidFill>
            <a:prstDash val="dash"/>
          </a:ln>
        </p:spPr>
      </p:sp>
      <p:sp>
        <p:nvSpPr>
          <p:cNvPr id="24" name="Shape 22"/>
          <p:cNvSpPr/>
          <p:nvPr/>
        </p:nvSpPr>
        <p:spPr>
          <a:xfrm>
            <a:off x="4736592" y="1746504"/>
            <a:ext cx="1417320" cy="274320"/>
          </a:xfrm>
          <a:prstGeom prst="roundRect">
            <a:avLst>
              <a:gd name="adj" fmla="val 66667"/>
            </a:avLst>
          </a:prstGeom>
          <a:solidFill>
            <a:srgbClr val="134074"/>
          </a:solidFill>
          <a:ln w="6350">
            <a:solidFill>
              <a:srgbClr val="134074"/>
            </a:solidFill>
            <a:prstDash val="solid"/>
          </a:ln>
        </p:spPr>
      </p:sp>
      <p:sp>
        <p:nvSpPr>
          <p:cNvPr id="25" name="Text 23"/>
          <p:cNvSpPr/>
          <p:nvPr/>
        </p:nvSpPr>
        <p:spPr>
          <a:xfrm>
            <a:off x="4736592" y="1746504"/>
            <a:ext cx="1417320" cy="274320"/>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Asap" pitchFamily="34" charset="0"/>
                <a:ea typeface="Asap" pitchFamily="34" charset="-122"/>
                <a:cs typeface="Asap" pitchFamily="34" charset="-120"/>
              </a:rPr>
              <a:t>SCREENSHOT A</a:t>
            </a:r>
            <a:endParaRPr lang="en-US" sz="900" dirty="0"/>
          </a:p>
        </p:txBody>
      </p:sp>
      <p:sp>
        <p:nvSpPr>
          <p:cNvPr id="26" name="Text 24"/>
          <p:cNvSpPr/>
          <p:nvPr/>
        </p:nvSpPr>
        <p:spPr>
          <a:xfrm>
            <a:off x="4864608" y="3214116"/>
            <a:ext cx="3520440" cy="457200"/>
          </a:xfrm>
          <a:prstGeom prst="rect">
            <a:avLst/>
          </a:prstGeom>
          <a:noFill/>
          <a:ln/>
        </p:spPr>
        <p:txBody>
          <a:bodyPr wrap="square" lIns="0" tIns="0" rIns="0" bIns="0" rtlCol="0" anchor="b"/>
          <a:lstStyle/>
          <a:p>
            <a:pPr algn="ctr" indent="0" marL="0">
              <a:buNone/>
            </a:pPr>
            <a:r>
              <a:rPr lang="en-US" sz="1400" b="1" dirty="0">
                <a:solidFill>
                  <a:srgbClr val="134074"/>
                </a:solidFill>
                <a:latin typeface="Asap" pitchFamily="34" charset="0"/>
                <a:ea typeface="Asap" pitchFamily="34" charset="-122"/>
                <a:cs typeface="Asap" pitchFamily="34" charset="-120"/>
              </a:rPr>
              <a:t>Planning run detail</a:t>
            </a:r>
            <a:endParaRPr lang="en-US" sz="1400" dirty="0"/>
          </a:p>
        </p:txBody>
      </p:sp>
      <p:sp>
        <p:nvSpPr>
          <p:cNvPr id="27" name="Text 25"/>
          <p:cNvSpPr/>
          <p:nvPr/>
        </p:nvSpPr>
        <p:spPr>
          <a:xfrm>
            <a:off x="4864608" y="3689604"/>
            <a:ext cx="3520440" cy="868680"/>
          </a:xfrm>
          <a:prstGeom prst="rect">
            <a:avLst/>
          </a:prstGeom>
          <a:noFill/>
          <a:ln/>
        </p:spPr>
        <p:txBody>
          <a:bodyPr wrap="square" lIns="0" tIns="0" rIns="0" bIns="0" rtlCol="0" anchor="t"/>
          <a:lstStyle/>
          <a:p>
            <a:pPr algn="ctr" indent="0" marL="0">
              <a:lnSpc>
                <a:spcPct val="115000"/>
              </a:lnSpc>
              <a:buNone/>
            </a:pPr>
            <a:r>
              <a:rPr lang="en-US" sz="1050" i="1" dirty="0">
                <a:solidFill>
                  <a:srgbClr val="5C6B63"/>
                </a:solidFill>
                <a:latin typeface="Asap" pitchFamily="34" charset="0"/>
                <a:ea typeface="Asap" pitchFamily="34" charset="-122"/>
                <a:cs typeface="Asap" pitchFamily="34" charset="-120"/>
              </a:rPr>
              <a:t>The requirement list with the Shortage column clearly visible</a:t>
            </a:r>
            <a:endParaRPr lang="en-US" sz="1050" dirty="0"/>
          </a:p>
          <a:p>
            <a:pPr algn="ctr" indent="0" marL="0">
              <a:lnSpc>
                <a:spcPct val="115000"/>
              </a:lnSpc>
              <a:buNone/>
            </a:pPr>
            <a:r>
              <a:rPr lang="en-US" sz="1050" i="1" dirty="0">
                <a:solidFill>
                  <a:srgbClr val="5C6B63"/>
                </a:solidFill>
                <a:latin typeface="Asap" pitchFamily="34" charset="0"/>
                <a:ea typeface="Asap" pitchFamily="34" charset="-122"/>
                <a:cs typeface="Asap" pitchFamily="34" charset="-120"/>
              </a:rPr>
              <a:t>and the MAKE / BUY tag on each line.</a:t>
            </a:r>
            <a:endParaRPr lang="en-US" sz="1050" dirty="0"/>
          </a:p>
          <a:p>
            <a:pPr algn="ctr" indent="0" marL="0">
              <a:lnSpc>
                <a:spcPct val="115000"/>
              </a:lnSpc>
              <a:buNone/>
            </a:pPr>
            <a:r>
              <a:rPr lang="en-US" sz="1050" i="1" dirty="0">
                <a:solidFill>
                  <a:srgbClr val="5C6B63"/>
                </a:solidFill>
                <a:latin typeface="Asap" pitchFamily="34" charset="0"/>
                <a:ea typeface="Asap" pitchFamily="34" charset="-122"/>
                <a:cs typeface="Asap" pitchFamily="34" charset="-120"/>
              </a:rPr>
              <a:t>This is the main image — make it large and readable.</a:t>
            </a:r>
            <a:endParaRPr lang="en-US" sz="1050" dirty="0"/>
          </a:p>
        </p:txBody>
      </p:sp>
      <p:sp>
        <p:nvSpPr>
          <p:cNvPr id="28" name="Shape 26"/>
          <p:cNvSpPr/>
          <p:nvPr/>
        </p:nvSpPr>
        <p:spPr>
          <a:xfrm>
            <a:off x="8979408" y="1600200"/>
            <a:ext cx="2645359" cy="4069080"/>
          </a:xfrm>
          <a:prstGeom prst="roundRect">
            <a:avLst>
              <a:gd name="adj" fmla="val 1037"/>
            </a:avLst>
          </a:prstGeom>
          <a:solidFill>
            <a:srgbClr val="FFFFFF"/>
          </a:solidFill>
          <a:ln w="15875">
            <a:solidFill>
              <a:srgbClr val="134074"/>
            </a:solidFill>
            <a:prstDash val="dash"/>
          </a:ln>
        </p:spPr>
      </p:sp>
      <p:sp>
        <p:nvSpPr>
          <p:cNvPr id="29" name="Shape 27"/>
          <p:cNvSpPr/>
          <p:nvPr/>
        </p:nvSpPr>
        <p:spPr>
          <a:xfrm>
            <a:off x="9125712" y="1746504"/>
            <a:ext cx="1417320" cy="274320"/>
          </a:xfrm>
          <a:prstGeom prst="roundRect">
            <a:avLst>
              <a:gd name="adj" fmla="val 66667"/>
            </a:avLst>
          </a:prstGeom>
          <a:solidFill>
            <a:srgbClr val="134074"/>
          </a:solidFill>
          <a:ln w="6350">
            <a:solidFill>
              <a:srgbClr val="134074"/>
            </a:solidFill>
            <a:prstDash val="solid"/>
          </a:ln>
        </p:spPr>
      </p:sp>
      <p:sp>
        <p:nvSpPr>
          <p:cNvPr id="30" name="Text 28"/>
          <p:cNvSpPr/>
          <p:nvPr/>
        </p:nvSpPr>
        <p:spPr>
          <a:xfrm>
            <a:off x="9125712" y="1746504"/>
            <a:ext cx="1417320" cy="274320"/>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Asap" pitchFamily="34" charset="0"/>
                <a:ea typeface="Asap" pitchFamily="34" charset="-122"/>
                <a:cs typeface="Asap" pitchFamily="34" charset="-120"/>
              </a:rPr>
              <a:t>SCREENSHOT B</a:t>
            </a:r>
            <a:endParaRPr lang="en-US" sz="900" dirty="0"/>
          </a:p>
        </p:txBody>
      </p:sp>
      <p:sp>
        <p:nvSpPr>
          <p:cNvPr id="31" name="Text 29"/>
          <p:cNvSpPr/>
          <p:nvPr/>
        </p:nvSpPr>
        <p:spPr>
          <a:xfrm>
            <a:off x="9253728" y="3214116"/>
            <a:ext cx="2096719" cy="457200"/>
          </a:xfrm>
          <a:prstGeom prst="rect">
            <a:avLst/>
          </a:prstGeom>
          <a:noFill/>
          <a:ln/>
        </p:spPr>
        <p:txBody>
          <a:bodyPr wrap="square" lIns="0" tIns="0" rIns="0" bIns="0" rtlCol="0" anchor="b"/>
          <a:lstStyle/>
          <a:p>
            <a:pPr algn="ctr" indent="0" marL="0">
              <a:buNone/>
            </a:pPr>
            <a:r>
              <a:rPr lang="en-US" sz="1400" b="1" dirty="0">
                <a:solidFill>
                  <a:srgbClr val="134074"/>
                </a:solidFill>
                <a:latin typeface="Asap" pitchFamily="34" charset="0"/>
                <a:ea typeface="Asap" pitchFamily="34" charset="-122"/>
                <a:cs typeface="Asap" pitchFamily="34" charset="-120"/>
              </a:rPr>
              <a:t>Demand selection</a:t>
            </a:r>
            <a:endParaRPr lang="en-US" sz="1400" dirty="0"/>
          </a:p>
        </p:txBody>
      </p:sp>
      <p:sp>
        <p:nvSpPr>
          <p:cNvPr id="32" name="Text 30"/>
          <p:cNvSpPr/>
          <p:nvPr/>
        </p:nvSpPr>
        <p:spPr>
          <a:xfrm>
            <a:off x="9253728" y="3689604"/>
            <a:ext cx="2096719" cy="868680"/>
          </a:xfrm>
          <a:prstGeom prst="rect">
            <a:avLst/>
          </a:prstGeom>
          <a:noFill/>
          <a:ln/>
        </p:spPr>
        <p:txBody>
          <a:bodyPr wrap="square" lIns="0" tIns="0" rIns="0" bIns="0" rtlCol="0" anchor="t"/>
          <a:lstStyle/>
          <a:p>
            <a:pPr algn="ctr" indent="0" marL="0">
              <a:lnSpc>
                <a:spcPct val="115000"/>
              </a:lnSpc>
              <a:buNone/>
            </a:pPr>
            <a:r>
              <a:rPr lang="en-US" sz="1050" i="1" dirty="0">
                <a:solidFill>
                  <a:srgbClr val="5C6B63"/>
                </a:solidFill>
                <a:latin typeface="Asap" pitchFamily="34" charset="0"/>
                <a:ea typeface="Asap" pitchFamily="34" charset="-122"/>
                <a:cs typeface="Asap" pitchFamily="34" charset="-120"/>
              </a:rPr>
              <a:t>The screen where the</a:t>
            </a:r>
            <a:endParaRPr lang="en-US" sz="1050" dirty="0"/>
          </a:p>
          <a:p>
            <a:pPr algn="ctr" indent="0" marL="0">
              <a:lnSpc>
                <a:spcPct val="115000"/>
              </a:lnSpc>
              <a:buNone/>
            </a:pPr>
            <a:r>
              <a:rPr lang="en-US" sz="1050" i="1" dirty="0">
                <a:solidFill>
                  <a:srgbClr val="5C6B63"/>
                </a:solidFill>
                <a:latin typeface="Asap" pitchFamily="34" charset="0"/>
                <a:ea typeface="Asap" pitchFamily="34" charset="-122"/>
                <a:cs typeface="Asap" pitchFamily="34" charset="-120"/>
              </a:rPr>
              <a:t>manager ticks which</a:t>
            </a:r>
            <a:endParaRPr lang="en-US" sz="1050" dirty="0"/>
          </a:p>
          <a:p>
            <a:pPr algn="ctr" indent="0" marL="0">
              <a:lnSpc>
                <a:spcPct val="115000"/>
              </a:lnSpc>
              <a:buNone/>
            </a:pPr>
            <a:r>
              <a:rPr lang="en-US" sz="1050" i="1" dirty="0">
                <a:solidFill>
                  <a:srgbClr val="5C6B63"/>
                </a:solidFill>
                <a:latin typeface="Asap" pitchFamily="34" charset="0"/>
                <a:ea typeface="Asap" pitchFamily="34" charset="-122"/>
                <a:cs typeface="Asap" pitchFamily="34" charset="-120"/>
              </a:rPr>
              <a:t>confirmed demands to plan.</a:t>
            </a:r>
            <a:endParaRPr lang="en-US" sz="1050" dirty="0"/>
          </a:p>
        </p:txBody>
      </p:sp>
      <p:sp>
        <p:nvSpPr>
          <p:cNvPr id="33" name="Shape 31"/>
          <p:cNvSpPr/>
          <p:nvPr/>
        </p:nvSpPr>
        <p:spPr>
          <a:xfrm>
            <a:off x="566928" y="6144768"/>
            <a:ext cx="11057839" cy="420624"/>
          </a:xfrm>
          <a:prstGeom prst="roundRect">
            <a:avLst>
              <a:gd name="adj" fmla="val 8696"/>
            </a:avLst>
          </a:prstGeom>
          <a:solidFill>
            <a:srgbClr val="134074"/>
          </a:solidFill>
          <a:ln w="6350">
            <a:solidFill>
              <a:srgbClr val="134074"/>
            </a:solidFill>
            <a:prstDash val="solid"/>
          </a:ln>
        </p:spPr>
      </p:sp>
      <p:sp>
        <p:nvSpPr>
          <p:cNvPr id="34" name="Text 32"/>
          <p:cNvSpPr/>
          <p:nvPr/>
        </p:nvSpPr>
        <p:spPr>
          <a:xfrm>
            <a:off x="804672" y="6144768"/>
            <a:ext cx="10600639" cy="420624"/>
          </a:xfrm>
          <a:prstGeom prst="rect">
            <a:avLst/>
          </a:prstGeom>
          <a:noFill/>
          <a:ln/>
        </p:spPr>
        <p:txBody>
          <a:bodyPr wrap="square" lIns="0" tIns="0" rIns="0" bIns="0" rtlCol="0" anchor="ctr"/>
          <a:lstStyle/>
          <a:p>
            <a:pPr indent="0" marL="0">
              <a:buNone/>
            </a:pPr>
            <a:r>
              <a:rPr lang="en-US" sz="1000" b="1" spc="140" kern="0" dirty="0">
                <a:solidFill>
                  <a:srgbClr val="8DA9C4"/>
                </a:solidFill>
                <a:latin typeface="Asap" pitchFamily="34" charset="0"/>
                <a:ea typeface="Asap" pitchFamily="34" charset="-122"/>
                <a:cs typeface="Asap" pitchFamily="34" charset="-120"/>
              </a:rPr>
              <a:t>IN THE DEMO CLIP   </a:t>
            </a:r>
            <a:pPr indent="0" marL="0">
              <a:buNone/>
            </a:pPr>
            <a:r>
              <a:rPr lang="en-US" sz="1150" dirty="0">
                <a:solidFill>
                  <a:srgbClr val="FFFFFF"/>
                </a:solidFill>
                <a:latin typeface="Asap" pitchFamily="34" charset="0"/>
                <a:ea typeface="Asap" pitchFamily="34" charset="-122"/>
                <a:cs typeface="Asap" pitchFamily="34" charset="-120"/>
              </a:rPr>
              <a:t>we run a real planning cycle and watch the shortage figures appear.</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EF4ED"/>
        </a:solidFill>
      </p:bgPr>
    </p:bg>
    <p:spTree>
      <p:nvGrpSpPr>
        <p:cNvPr id="1" name=""/>
        <p:cNvGrpSpPr/>
        <p:nvPr/>
      </p:nvGrpSpPr>
      <p:grpSpPr>
        <a:xfrm>
          <a:off x="0" y="0"/>
          <a:ext cx="0" cy="0"/>
          <a:chOff x="0" y="0"/>
          <a:chExt cx="0" cy="0"/>
        </a:xfrm>
      </p:grpSpPr>
      <p:sp>
        <p:nvSpPr>
          <p:cNvPr id="2" name="Text 0"/>
          <p:cNvSpPr/>
          <p:nvPr/>
        </p:nvSpPr>
        <p:spPr>
          <a:xfrm>
            <a:off x="566928" y="347472"/>
            <a:ext cx="10515600" cy="256032"/>
          </a:xfrm>
          <a:prstGeom prst="rect">
            <a:avLst/>
          </a:prstGeom>
          <a:noFill/>
          <a:ln/>
        </p:spPr>
        <p:txBody>
          <a:bodyPr wrap="square" lIns="0" tIns="0" rIns="0" bIns="0" rtlCol="0" anchor="ctr"/>
          <a:lstStyle/>
          <a:p>
            <a:pPr indent="0" marL="0">
              <a:buNone/>
            </a:pPr>
            <a:r>
              <a:rPr lang="en-US" sz="1100" b="1" spc="220" kern="0" dirty="0">
                <a:solidFill>
                  <a:srgbClr val="8DA9C4"/>
                </a:solidFill>
                <a:latin typeface="Asap" pitchFamily="34" charset="0"/>
                <a:ea typeface="Asap" pitchFamily="34" charset="-122"/>
                <a:cs typeface="Asap" pitchFamily="34" charset="-120"/>
              </a:rPr>
              <a:t>08 · WORK ORDERS</a:t>
            </a:r>
            <a:endParaRPr lang="en-US" sz="1100" dirty="0"/>
          </a:p>
        </p:txBody>
      </p:sp>
      <p:sp>
        <p:nvSpPr>
          <p:cNvPr id="3" name="Text 1"/>
          <p:cNvSpPr/>
          <p:nvPr/>
        </p:nvSpPr>
        <p:spPr>
          <a:xfrm>
            <a:off x="566928" y="603504"/>
            <a:ext cx="10881360" cy="658368"/>
          </a:xfrm>
          <a:prstGeom prst="rect">
            <a:avLst/>
          </a:prstGeom>
          <a:noFill/>
          <a:ln/>
        </p:spPr>
        <p:txBody>
          <a:bodyPr wrap="square" lIns="0" tIns="0" rIns="0" bIns="0" rtlCol="0" anchor="t"/>
          <a:lstStyle/>
          <a:p>
            <a:pPr indent="0" marL="0">
              <a:buNone/>
            </a:pPr>
            <a:r>
              <a:rPr lang="en-US" sz="3100" b="1" dirty="0">
                <a:solidFill>
                  <a:srgbClr val="134074"/>
                </a:solidFill>
                <a:latin typeface="Asap" pitchFamily="34" charset="0"/>
                <a:ea typeface="Asap" pitchFamily="34" charset="-122"/>
                <a:cs typeface="Asap" pitchFamily="34" charset="-120"/>
              </a:rPr>
              <a:t>No Materials, No Release</a:t>
            </a:r>
            <a:endParaRPr lang="en-US" sz="3100" dirty="0"/>
          </a:p>
        </p:txBody>
      </p:sp>
      <p:sp>
        <p:nvSpPr>
          <p:cNvPr id="4" name="Shape 2"/>
          <p:cNvSpPr/>
          <p:nvPr/>
        </p:nvSpPr>
        <p:spPr>
          <a:xfrm>
            <a:off x="566928" y="1691640"/>
            <a:ext cx="365760" cy="365760"/>
          </a:xfrm>
          <a:prstGeom prst="roundRect">
            <a:avLst>
              <a:gd name="adj" fmla="val 17500"/>
            </a:avLst>
          </a:prstGeom>
          <a:solidFill>
            <a:srgbClr val="134074"/>
          </a:solidFill>
          <a:ln w="6350">
            <a:solidFill>
              <a:srgbClr val="134074"/>
            </a:solidFill>
            <a:prstDash val="solid"/>
          </a:ln>
        </p:spPr>
      </p:sp>
      <p:sp>
        <p:nvSpPr>
          <p:cNvPr id="5" name="Text 3"/>
          <p:cNvSpPr/>
          <p:nvPr/>
        </p:nvSpPr>
        <p:spPr>
          <a:xfrm>
            <a:off x="566928" y="16916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sap" pitchFamily="34" charset="0"/>
                <a:ea typeface="Asap" pitchFamily="34" charset="-122"/>
                <a:cs typeface="Asap" pitchFamily="34" charset="-120"/>
              </a:rPr>
              <a:t>1</a:t>
            </a:r>
            <a:endParaRPr lang="en-US" sz="1400" dirty="0"/>
          </a:p>
        </p:txBody>
      </p:sp>
      <p:sp>
        <p:nvSpPr>
          <p:cNvPr id="6" name="Text 4"/>
          <p:cNvSpPr/>
          <p:nvPr/>
        </p:nvSpPr>
        <p:spPr>
          <a:xfrm>
            <a:off x="1097280" y="1673352"/>
            <a:ext cx="3081528" cy="256032"/>
          </a:xfrm>
          <a:prstGeom prst="rect">
            <a:avLst/>
          </a:prstGeom>
          <a:noFill/>
          <a:ln/>
        </p:spPr>
        <p:txBody>
          <a:bodyPr wrap="square" lIns="0" tIns="0" rIns="0" bIns="0" rtlCol="0" anchor="t"/>
          <a:lstStyle/>
          <a:p>
            <a:pPr indent="0" marL="0">
              <a:buNone/>
            </a:pPr>
            <a:r>
              <a:rPr lang="en-US" sz="1350" b="1" dirty="0">
                <a:solidFill>
                  <a:srgbClr val="134074"/>
                </a:solidFill>
                <a:latin typeface="Asap" pitchFamily="34" charset="0"/>
                <a:ea typeface="Asap" pitchFamily="34" charset="-122"/>
                <a:cs typeface="Asap" pitchFamily="34" charset="-120"/>
              </a:rPr>
              <a:t>Open the work order</a:t>
            </a:r>
            <a:endParaRPr lang="en-US" sz="1350" dirty="0"/>
          </a:p>
        </p:txBody>
      </p:sp>
      <p:sp>
        <p:nvSpPr>
          <p:cNvPr id="7" name="Text 5"/>
          <p:cNvSpPr/>
          <p:nvPr/>
        </p:nvSpPr>
        <p:spPr>
          <a:xfrm>
            <a:off x="1097280" y="1929384"/>
            <a:ext cx="3081528" cy="914400"/>
          </a:xfrm>
          <a:prstGeom prst="rect">
            <a:avLst/>
          </a:prstGeom>
          <a:noFill/>
          <a:ln/>
        </p:spPr>
        <p:txBody>
          <a:bodyPr wrap="square" lIns="0" tIns="0" rIns="0" bIns="0" rtlCol="0" anchor="t"/>
          <a:lstStyle/>
          <a:p>
            <a:pPr indent="0" marL="0">
              <a:lnSpc>
                <a:spcPct val="112000"/>
              </a:lnSpc>
              <a:buNone/>
            </a:pPr>
            <a:r>
              <a:rPr lang="en-US" sz="1150" dirty="0">
                <a:solidFill>
                  <a:srgbClr val="5C6B63"/>
                </a:solidFill>
                <a:latin typeface="Asap" pitchFamily="34" charset="0"/>
                <a:ea typeface="Asap" pitchFamily="34" charset="-122"/>
                <a:cs typeface="Asap" pitchFamily="34" charset="-120"/>
              </a:rPr>
              <a:t>See the material table: what is required, what is short.</a:t>
            </a:r>
            <a:endParaRPr lang="en-US" sz="1150" dirty="0"/>
          </a:p>
        </p:txBody>
      </p:sp>
      <p:sp>
        <p:nvSpPr>
          <p:cNvPr id="8" name="Shape 6"/>
          <p:cNvSpPr/>
          <p:nvPr/>
        </p:nvSpPr>
        <p:spPr>
          <a:xfrm>
            <a:off x="566928" y="2734056"/>
            <a:ext cx="365760" cy="365760"/>
          </a:xfrm>
          <a:prstGeom prst="roundRect">
            <a:avLst>
              <a:gd name="adj" fmla="val 17500"/>
            </a:avLst>
          </a:prstGeom>
          <a:solidFill>
            <a:srgbClr val="134074"/>
          </a:solidFill>
          <a:ln w="6350">
            <a:solidFill>
              <a:srgbClr val="134074"/>
            </a:solidFill>
            <a:prstDash val="solid"/>
          </a:ln>
        </p:spPr>
      </p:sp>
      <p:sp>
        <p:nvSpPr>
          <p:cNvPr id="9" name="Text 7"/>
          <p:cNvSpPr/>
          <p:nvPr/>
        </p:nvSpPr>
        <p:spPr>
          <a:xfrm>
            <a:off x="566928" y="273405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sap" pitchFamily="34" charset="0"/>
                <a:ea typeface="Asap" pitchFamily="34" charset="-122"/>
                <a:cs typeface="Asap" pitchFamily="34" charset="-120"/>
              </a:rPr>
              <a:t>2</a:t>
            </a:r>
            <a:endParaRPr lang="en-US" sz="1400" dirty="0"/>
          </a:p>
        </p:txBody>
      </p:sp>
      <p:sp>
        <p:nvSpPr>
          <p:cNvPr id="10" name="Text 8"/>
          <p:cNvSpPr/>
          <p:nvPr/>
        </p:nvSpPr>
        <p:spPr>
          <a:xfrm>
            <a:off x="1097280" y="2715768"/>
            <a:ext cx="3081528" cy="256032"/>
          </a:xfrm>
          <a:prstGeom prst="rect">
            <a:avLst/>
          </a:prstGeom>
          <a:noFill/>
          <a:ln/>
        </p:spPr>
        <p:txBody>
          <a:bodyPr wrap="square" lIns="0" tIns="0" rIns="0" bIns="0" rtlCol="0" anchor="t"/>
          <a:lstStyle/>
          <a:p>
            <a:pPr indent="0" marL="0">
              <a:buNone/>
            </a:pPr>
            <a:r>
              <a:rPr lang="en-US" sz="1350" b="1" dirty="0">
                <a:solidFill>
                  <a:srgbClr val="134074"/>
                </a:solidFill>
                <a:latin typeface="Asap" pitchFamily="34" charset="0"/>
                <a:ea typeface="Asap" pitchFamily="34" charset="-122"/>
                <a:cs typeface="Asap" pitchFamily="34" charset="-120"/>
              </a:rPr>
              <a:t>Reserve materials</a:t>
            </a:r>
            <a:endParaRPr lang="en-US" sz="1350" dirty="0"/>
          </a:p>
        </p:txBody>
      </p:sp>
      <p:sp>
        <p:nvSpPr>
          <p:cNvPr id="11" name="Text 9"/>
          <p:cNvSpPr/>
          <p:nvPr/>
        </p:nvSpPr>
        <p:spPr>
          <a:xfrm>
            <a:off x="1097280" y="2971800"/>
            <a:ext cx="3081528" cy="914400"/>
          </a:xfrm>
          <a:prstGeom prst="rect">
            <a:avLst/>
          </a:prstGeom>
          <a:noFill/>
          <a:ln/>
        </p:spPr>
        <p:txBody>
          <a:bodyPr wrap="square" lIns="0" tIns="0" rIns="0" bIns="0" rtlCol="0" anchor="t"/>
          <a:lstStyle/>
          <a:p>
            <a:pPr indent="0" marL="0">
              <a:lnSpc>
                <a:spcPct val="112000"/>
              </a:lnSpc>
              <a:buNone/>
            </a:pPr>
            <a:r>
              <a:rPr lang="en-US" sz="1150" dirty="0">
                <a:solidFill>
                  <a:srgbClr val="5C6B63"/>
                </a:solidFill>
                <a:latin typeface="Asap" pitchFamily="34" charset="0"/>
                <a:ea typeface="Asap" pitchFamily="34" charset="-122"/>
                <a:cs typeface="Asap" pitchFamily="34" charset="-120"/>
              </a:rPr>
              <a:t>One button — the system finds and holds the stock. Reserved stock is untouchable by other orders.</a:t>
            </a:r>
            <a:endParaRPr lang="en-US" sz="1150" dirty="0"/>
          </a:p>
        </p:txBody>
      </p:sp>
      <p:sp>
        <p:nvSpPr>
          <p:cNvPr id="12" name="Shape 10"/>
          <p:cNvSpPr/>
          <p:nvPr/>
        </p:nvSpPr>
        <p:spPr>
          <a:xfrm>
            <a:off x="566928" y="3776472"/>
            <a:ext cx="365760" cy="365760"/>
          </a:xfrm>
          <a:prstGeom prst="roundRect">
            <a:avLst>
              <a:gd name="adj" fmla="val 17500"/>
            </a:avLst>
          </a:prstGeom>
          <a:solidFill>
            <a:srgbClr val="134074"/>
          </a:solidFill>
          <a:ln w="6350">
            <a:solidFill>
              <a:srgbClr val="134074"/>
            </a:solidFill>
            <a:prstDash val="solid"/>
          </a:ln>
        </p:spPr>
      </p:sp>
      <p:sp>
        <p:nvSpPr>
          <p:cNvPr id="13" name="Text 11"/>
          <p:cNvSpPr/>
          <p:nvPr/>
        </p:nvSpPr>
        <p:spPr>
          <a:xfrm>
            <a:off x="566928" y="377647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sap" pitchFamily="34" charset="0"/>
                <a:ea typeface="Asap" pitchFamily="34" charset="-122"/>
                <a:cs typeface="Asap" pitchFamily="34" charset="-120"/>
              </a:rPr>
              <a:t>3</a:t>
            </a:r>
            <a:endParaRPr lang="en-US" sz="1400" dirty="0"/>
          </a:p>
        </p:txBody>
      </p:sp>
      <p:sp>
        <p:nvSpPr>
          <p:cNvPr id="14" name="Text 12"/>
          <p:cNvSpPr/>
          <p:nvPr/>
        </p:nvSpPr>
        <p:spPr>
          <a:xfrm>
            <a:off x="1097280" y="3758184"/>
            <a:ext cx="3081528" cy="256032"/>
          </a:xfrm>
          <a:prstGeom prst="rect">
            <a:avLst/>
          </a:prstGeom>
          <a:noFill/>
          <a:ln/>
        </p:spPr>
        <p:txBody>
          <a:bodyPr wrap="square" lIns="0" tIns="0" rIns="0" bIns="0" rtlCol="0" anchor="t"/>
          <a:lstStyle/>
          <a:p>
            <a:pPr indent="0" marL="0">
              <a:buNone/>
            </a:pPr>
            <a:r>
              <a:rPr lang="en-US" sz="1350" b="1" dirty="0">
                <a:solidFill>
                  <a:srgbClr val="134074"/>
                </a:solidFill>
                <a:latin typeface="Asap" pitchFamily="34" charset="0"/>
                <a:ea typeface="Asap" pitchFamily="34" charset="-122"/>
                <a:cs typeface="Asap" pitchFamily="34" charset="-120"/>
              </a:rPr>
              <a:t>100% covered → Release unlocks</a:t>
            </a:r>
            <a:endParaRPr lang="en-US" sz="1350" dirty="0"/>
          </a:p>
        </p:txBody>
      </p:sp>
      <p:sp>
        <p:nvSpPr>
          <p:cNvPr id="15" name="Text 13"/>
          <p:cNvSpPr/>
          <p:nvPr/>
        </p:nvSpPr>
        <p:spPr>
          <a:xfrm>
            <a:off x="1097280" y="4014216"/>
            <a:ext cx="3081528" cy="914400"/>
          </a:xfrm>
          <a:prstGeom prst="rect">
            <a:avLst/>
          </a:prstGeom>
          <a:noFill/>
          <a:ln/>
        </p:spPr>
        <p:txBody>
          <a:bodyPr wrap="square" lIns="0" tIns="0" rIns="0" bIns="0" rtlCol="0" anchor="t"/>
          <a:lstStyle/>
          <a:p>
            <a:pPr indent="0" marL="0">
              <a:lnSpc>
                <a:spcPct val="112000"/>
              </a:lnSpc>
              <a:buNone/>
            </a:pPr>
            <a:r>
              <a:rPr lang="en-US" sz="1150" dirty="0">
                <a:solidFill>
                  <a:srgbClr val="5C6B63"/>
                </a:solidFill>
                <a:latin typeface="Asap" pitchFamily="34" charset="0"/>
                <a:ea typeface="Asap" pitchFamily="34" charset="-122"/>
                <a:cs typeface="Asap" pitchFamily="34" charset="-120"/>
              </a:rPr>
              <a:t>The Release button only becomes active when every line is fully covered.</a:t>
            </a:r>
            <a:endParaRPr lang="en-US" sz="1150" dirty="0"/>
          </a:p>
        </p:txBody>
      </p:sp>
      <p:sp>
        <p:nvSpPr>
          <p:cNvPr id="16" name="Shape 14"/>
          <p:cNvSpPr/>
          <p:nvPr/>
        </p:nvSpPr>
        <p:spPr>
          <a:xfrm>
            <a:off x="566928" y="4818888"/>
            <a:ext cx="365760" cy="365760"/>
          </a:xfrm>
          <a:prstGeom prst="roundRect">
            <a:avLst>
              <a:gd name="adj" fmla="val 17500"/>
            </a:avLst>
          </a:prstGeom>
          <a:solidFill>
            <a:srgbClr val="134074"/>
          </a:solidFill>
          <a:ln w="6350">
            <a:solidFill>
              <a:srgbClr val="134074"/>
            </a:solidFill>
            <a:prstDash val="solid"/>
          </a:ln>
        </p:spPr>
      </p:sp>
      <p:sp>
        <p:nvSpPr>
          <p:cNvPr id="17" name="Text 15"/>
          <p:cNvSpPr/>
          <p:nvPr/>
        </p:nvSpPr>
        <p:spPr>
          <a:xfrm>
            <a:off x="566928" y="481888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sap" pitchFamily="34" charset="0"/>
                <a:ea typeface="Asap" pitchFamily="34" charset="-122"/>
                <a:cs typeface="Asap" pitchFamily="34" charset="-120"/>
              </a:rPr>
              <a:t>4</a:t>
            </a:r>
            <a:endParaRPr lang="en-US" sz="1400" dirty="0"/>
          </a:p>
        </p:txBody>
      </p:sp>
      <p:sp>
        <p:nvSpPr>
          <p:cNvPr id="18" name="Text 16"/>
          <p:cNvSpPr/>
          <p:nvPr/>
        </p:nvSpPr>
        <p:spPr>
          <a:xfrm>
            <a:off x="1097280" y="4800600"/>
            <a:ext cx="3081528" cy="256032"/>
          </a:xfrm>
          <a:prstGeom prst="rect">
            <a:avLst/>
          </a:prstGeom>
          <a:noFill/>
          <a:ln/>
        </p:spPr>
        <p:txBody>
          <a:bodyPr wrap="square" lIns="0" tIns="0" rIns="0" bIns="0" rtlCol="0" anchor="t"/>
          <a:lstStyle/>
          <a:p>
            <a:pPr indent="0" marL="0">
              <a:buNone/>
            </a:pPr>
            <a:r>
              <a:rPr lang="en-US" sz="1350" b="1" dirty="0">
                <a:solidFill>
                  <a:srgbClr val="134074"/>
                </a:solidFill>
                <a:latin typeface="Asap" pitchFamily="34" charset="0"/>
                <a:ea typeface="Asap" pitchFamily="34" charset="-122"/>
                <a:cs typeface="Asap" pitchFamily="34" charset="-120"/>
              </a:rPr>
              <a:t>Short → BLOCKED</a:t>
            </a:r>
            <a:endParaRPr lang="en-US" sz="1350" dirty="0"/>
          </a:p>
        </p:txBody>
      </p:sp>
      <p:sp>
        <p:nvSpPr>
          <p:cNvPr id="19" name="Text 17"/>
          <p:cNvSpPr/>
          <p:nvPr/>
        </p:nvSpPr>
        <p:spPr>
          <a:xfrm>
            <a:off x="1097280" y="5056632"/>
            <a:ext cx="3081528" cy="914400"/>
          </a:xfrm>
          <a:prstGeom prst="rect">
            <a:avLst/>
          </a:prstGeom>
          <a:noFill/>
          <a:ln/>
        </p:spPr>
        <p:txBody>
          <a:bodyPr wrap="square" lIns="0" tIns="0" rIns="0" bIns="0" rtlCol="0" anchor="t"/>
          <a:lstStyle/>
          <a:p>
            <a:pPr indent="0" marL="0">
              <a:lnSpc>
                <a:spcPct val="112000"/>
              </a:lnSpc>
              <a:buNone/>
            </a:pPr>
            <a:r>
              <a:rPr lang="en-US" sz="1150" dirty="0">
                <a:solidFill>
                  <a:srgbClr val="5C6B63"/>
                </a:solidFill>
                <a:latin typeface="Asap" pitchFamily="34" charset="0"/>
                <a:ea typeface="Asap" pitchFamily="34" charset="-122"/>
                <a:cs typeface="Asap" pitchFamily="34" charset="-120"/>
              </a:rPr>
              <a:t>The order moves to BLOCKED and states exactly which line is missing.</a:t>
            </a:r>
            <a:endParaRPr lang="en-US" sz="1150" dirty="0"/>
          </a:p>
        </p:txBody>
      </p:sp>
      <p:sp>
        <p:nvSpPr>
          <p:cNvPr id="20" name="Text 18"/>
          <p:cNvSpPr/>
          <p:nvPr/>
        </p:nvSpPr>
        <p:spPr>
          <a:xfrm>
            <a:off x="566928" y="5596128"/>
            <a:ext cx="3611880" cy="457200"/>
          </a:xfrm>
          <a:prstGeom prst="rect">
            <a:avLst/>
          </a:prstGeom>
          <a:noFill/>
          <a:ln/>
        </p:spPr>
        <p:txBody>
          <a:bodyPr wrap="square" lIns="0" tIns="0" rIns="0" bIns="0" rtlCol="0" anchor="ctr"/>
          <a:lstStyle/>
          <a:p>
            <a:pPr indent="0" marL="0">
              <a:lnSpc>
                <a:spcPct val="120000"/>
              </a:lnSpc>
              <a:buNone/>
            </a:pPr>
            <a:r>
              <a:rPr lang="en-US" sz="1150" b="1" i="1" dirty="0">
                <a:solidFill>
                  <a:srgbClr val="134074"/>
                </a:solidFill>
                <a:latin typeface="Asap" pitchFamily="34" charset="0"/>
                <a:ea typeface="Asap" pitchFamily="34" charset="-122"/>
                <a:cs typeface="Asap" pitchFamily="34" charset="-120"/>
              </a:rPr>
              <a:t>A planner scans the list and sees which orders are stuck on materials.</a:t>
            </a:r>
            <a:endParaRPr lang="en-US" sz="1150" dirty="0"/>
          </a:p>
        </p:txBody>
      </p:sp>
      <p:sp>
        <p:nvSpPr>
          <p:cNvPr id="21" name="Shape 19"/>
          <p:cNvSpPr/>
          <p:nvPr/>
        </p:nvSpPr>
        <p:spPr>
          <a:xfrm>
            <a:off x="4590288" y="1600200"/>
            <a:ext cx="4069080" cy="4069080"/>
          </a:xfrm>
          <a:prstGeom prst="roundRect">
            <a:avLst>
              <a:gd name="adj" fmla="val 674"/>
            </a:avLst>
          </a:prstGeom>
          <a:solidFill>
            <a:srgbClr val="FFFFFF"/>
          </a:solidFill>
          <a:ln w="15875">
            <a:solidFill>
              <a:srgbClr val="134074"/>
            </a:solidFill>
            <a:prstDash val="dash"/>
          </a:ln>
        </p:spPr>
      </p:sp>
      <p:sp>
        <p:nvSpPr>
          <p:cNvPr id="22" name="Shape 20"/>
          <p:cNvSpPr/>
          <p:nvPr/>
        </p:nvSpPr>
        <p:spPr>
          <a:xfrm>
            <a:off x="4736592" y="1746504"/>
            <a:ext cx="1417320" cy="274320"/>
          </a:xfrm>
          <a:prstGeom prst="roundRect">
            <a:avLst>
              <a:gd name="adj" fmla="val 66667"/>
            </a:avLst>
          </a:prstGeom>
          <a:solidFill>
            <a:srgbClr val="134074"/>
          </a:solidFill>
          <a:ln w="6350">
            <a:solidFill>
              <a:srgbClr val="134074"/>
            </a:solidFill>
            <a:prstDash val="solid"/>
          </a:ln>
        </p:spPr>
      </p:sp>
      <p:sp>
        <p:nvSpPr>
          <p:cNvPr id="23" name="Text 21"/>
          <p:cNvSpPr/>
          <p:nvPr/>
        </p:nvSpPr>
        <p:spPr>
          <a:xfrm>
            <a:off x="4736592" y="1746504"/>
            <a:ext cx="1417320" cy="274320"/>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Asap" pitchFamily="34" charset="0"/>
                <a:ea typeface="Asap" pitchFamily="34" charset="-122"/>
                <a:cs typeface="Asap" pitchFamily="34" charset="-120"/>
              </a:rPr>
              <a:t>SCREENSHOT A</a:t>
            </a:r>
            <a:endParaRPr lang="en-US" sz="900" dirty="0"/>
          </a:p>
        </p:txBody>
      </p:sp>
      <p:sp>
        <p:nvSpPr>
          <p:cNvPr id="24" name="Text 22"/>
          <p:cNvSpPr/>
          <p:nvPr/>
        </p:nvSpPr>
        <p:spPr>
          <a:xfrm>
            <a:off x="4864608" y="3214116"/>
            <a:ext cx="3520440" cy="457200"/>
          </a:xfrm>
          <a:prstGeom prst="rect">
            <a:avLst/>
          </a:prstGeom>
          <a:noFill/>
          <a:ln/>
        </p:spPr>
        <p:txBody>
          <a:bodyPr wrap="square" lIns="0" tIns="0" rIns="0" bIns="0" rtlCol="0" anchor="b"/>
          <a:lstStyle/>
          <a:p>
            <a:pPr algn="ctr" indent="0" marL="0">
              <a:buNone/>
            </a:pPr>
            <a:r>
              <a:rPr lang="en-US" sz="1400" b="1" dirty="0">
                <a:solidFill>
                  <a:srgbClr val="134074"/>
                </a:solidFill>
                <a:latin typeface="Asap" pitchFamily="34" charset="0"/>
                <a:ea typeface="Asap" pitchFamily="34" charset="-122"/>
                <a:cs typeface="Asap" pitchFamily="34" charset="-120"/>
              </a:rPr>
              <a:t>Work order detail</a:t>
            </a:r>
            <a:endParaRPr lang="en-US" sz="1400" dirty="0"/>
          </a:p>
        </p:txBody>
      </p:sp>
      <p:sp>
        <p:nvSpPr>
          <p:cNvPr id="25" name="Text 23"/>
          <p:cNvSpPr/>
          <p:nvPr/>
        </p:nvSpPr>
        <p:spPr>
          <a:xfrm>
            <a:off x="4864608" y="3689604"/>
            <a:ext cx="3520440" cy="868680"/>
          </a:xfrm>
          <a:prstGeom prst="rect">
            <a:avLst/>
          </a:prstGeom>
          <a:noFill/>
          <a:ln/>
        </p:spPr>
        <p:txBody>
          <a:bodyPr wrap="square" lIns="0" tIns="0" rIns="0" bIns="0" rtlCol="0" anchor="t"/>
          <a:lstStyle/>
          <a:p>
            <a:pPr algn="ctr" indent="0" marL="0">
              <a:lnSpc>
                <a:spcPct val="115000"/>
              </a:lnSpc>
              <a:buNone/>
            </a:pPr>
            <a:r>
              <a:rPr lang="en-US" sz="1050" i="1" dirty="0">
                <a:solidFill>
                  <a:srgbClr val="5C6B63"/>
                </a:solidFill>
                <a:latin typeface="Asap" pitchFamily="34" charset="0"/>
                <a:ea typeface="Asap" pitchFamily="34" charset="-122"/>
                <a:cs typeface="Asap" pitchFamily="34" charset="-120"/>
              </a:rPr>
              <a:t>The material readiness table must be clearly legible:</a:t>
            </a:r>
            <a:endParaRPr lang="en-US" sz="1050" dirty="0"/>
          </a:p>
          <a:p>
            <a:pPr algn="ctr" indent="0" marL="0">
              <a:lnSpc>
                <a:spcPct val="115000"/>
              </a:lnSpc>
              <a:buNone/>
            </a:pPr>
            <a:r>
              <a:rPr lang="en-US" sz="1050" i="1" dirty="0">
                <a:solidFill>
                  <a:srgbClr val="5C6B63"/>
                </a:solidFill>
                <a:latin typeface="Asap" pitchFamily="34" charset="0"/>
                <a:ea typeface="Asap" pitchFamily="34" charset="-122"/>
                <a:cs typeface="Asap" pitchFamily="34" charset="-120"/>
              </a:rPr>
              <a:t>Required / Reserved / Short per component,</a:t>
            </a:r>
            <a:endParaRPr lang="en-US" sz="1050" dirty="0"/>
          </a:p>
          <a:p>
            <a:pPr algn="ctr" indent="0" marL="0">
              <a:lnSpc>
                <a:spcPct val="115000"/>
              </a:lnSpc>
              <a:buNone/>
            </a:pPr>
            <a:r>
              <a:rPr lang="en-US" sz="1050" i="1" dirty="0">
                <a:solidFill>
                  <a:srgbClr val="5C6B63"/>
                </a:solidFill>
                <a:latin typeface="Asap" pitchFamily="34" charset="0"/>
                <a:ea typeface="Asap" pitchFamily="34" charset="-122"/>
                <a:cs typeface="Asap" pitchFamily="34" charset="-120"/>
              </a:rPr>
              <a:t>plus the state of the Release button.</a:t>
            </a:r>
            <a:endParaRPr lang="en-US" sz="1050" dirty="0"/>
          </a:p>
        </p:txBody>
      </p:sp>
      <p:sp>
        <p:nvSpPr>
          <p:cNvPr id="26" name="Shape 24"/>
          <p:cNvSpPr/>
          <p:nvPr/>
        </p:nvSpPr>
        <p:spPr>
          <a:xfrm>
            <a:off x="8979408" y="1600200"/>
            <a:ext cx="2645359" cy="4069080"/>
          </a:xfrm>
          <a:prstGeom prst="roundRect">
            <a:avLst>
              <a:gd name="adj" fmla="val 1037"/>
            </a:avLst>
          </a:prstGeom>
          <a:solidFill>
            <a:srgbClr val="FFFFFF"/>
          </a:solidFill>
          <a:ln w="15875">
            <a:solidFill>
              <a:srgbClr val="134074"/>
            </a:solidFill>
            <a:prstDash val="dash"/>
          </a:ln>
        </p:spPr>
      </p:sp>
      <p:sp>
        <p:nvSpPr>
          <p:cNvPr id="27" name="Shape 25"/>
          <p:cNvSpPr/>
          <p:nvPr/>
        </p:nvSpPr>
        <p:spPr>
          <a:xfrm>
            <a:off x="9125712" y="1746504"/>
            <a:ext cx="1417320" cy="274320"/>
          </a:xfrm>
          <a:prstGeom prst="roundRect">
            <a:avLst>
              <a:gd name="adj" fmla="val 66667"/>
            </a:avLst>
          </a:prstGeom>
          <a:solidFill>
            <a:srgbClr val="134074"/>
          </a:solidFill>
          <a:ln w="6350">
            <a:solidFill>
              <a:srgbClr val="134074"/>
            </a:solidFill>
            <a:prstDash val="solid"/>
          </a:ln>
        </p:spPr>
      </p:sp>
      <p:sp>
        <p:nvSpPr>
          <p:cNvPr id="28" name="Text 26"/>
          <p:cNvSpPr/>
          <p:nvPr/>
        </p:nvSpPr>
        <p:spPr>
          <a:xfrm>
            <a:off x="9125712" y="1746504"/>
            <a:ext cx="1417320" cy="274320"/>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Asap" pitchFamily="34" charset="0"/>
                <a:ea typeface="Asap" pitchFamily="34" charset="-122"/>
                <a:cs typeface="Asap" pitchFamily="34" charset="-120"/>
              </a:rPr>
              <a:t>SCREENSHOT B</a:t>
            </a:r>
            <a:endParaRPr lang="en-US" sz="900" dirty="0"/>
          </a:p>
        </p:txBody>
      </p:sp>
      <p:sp>
        <p:nvSpPr>
          <p:cNvPr id="29" name="Text 27"/>
          <p:cNvSpPr/>
          <p:nvPr/>
        </p:nvSpPr>
        <p:spPr>
          <a:xfrm>
            <a:off x="9253728" y="3214116"/>
            <a:ext cx="2096719" cy="457200"/>
          </a:xfrm>
          <a:prstGeom prst="rect">
            <a:avLst/>
          </a:prstGeom>
          <a:noFill/>
          <a:ln/>
        </p:spPr>
        <p:txBody>
          <a:bodyPr wrap="square" lIns="0" tIns="0" rIns="0" bIns="0" rtlCol="0" anchor="b"/>
          <a:lstStyle/>
          <a:p>
            <a:pPr algn="ctr" indent="0" marL="0">
              <a:buNone/>
            </a:pPr>
            <a:r>
              <a:rPr lang="en-US" sz="1400" b="1" dirty="0">
                <a:solidFill>
                  <a:srgbClr val="134074"/>
                </a:solidFill>
                <a:latin typeface="Asap" pitchFamily="34" charset="0"/>
                <a:ea typeface="Asap" pitchFamily="34" charset="-122"/>
                <a:cs typeface="Asap" pitchFamily="34" charset="-120"/>
              </a:rPr>
              <a:t>Work order list</a:t>
            </a:r>
            <a:endParaRPr lang="en-US" sz="1400" dirty="0"/>
          </a:p>
        </p:txBody>
      </p:sp>
      <p:sp>
        <p:nvSpPr>
          <p:cNvPr id="30" name="Text 28"/>
          <p:cNvSpPr/>
          <p:nvPr/>
        </p:nvSpPr>
        <p:spPr>
          <a:xfrm>
            <a:off x="9253728" y="3689604"/>
            <a:ext cx="2096719" cy="868680"/>
          </a:xfrm>
          <a:prstGeom prst="rect">
            <a:avLst/>
          </a:prstGeom>
          <a:noFill/>
          <a:ln/>
        </p:spPr>
        <p:txBody>
          <a:bodyPr wrap="square" lIns="0" tIns="0" rIns="0" bIns="0" rtlCol="0" anchor="t"/>
          <a:lstStyle/>
          <a:p>
            <a:pPr algn="ctr" indent="0" marL="0">
              <a:lnSpc>
                <a:spcPct val="115000"/>
              </a:lnSpc>
              <a:buNone/>
            </a:pPr>
            <a:r>
              <a:rPr lang="en-US" sz="1050" i="1" dirty="0">
                <a:solidFill>
                  <a:srgbClr val="5C6B63"/>
                </a:solidFill>
                <a:latin typeface="Asap" pitchFamily="34" charset="0"/>
                <a:ea typeface="Asap" pitchFamily="34" charset="-122"/>
                <a:cs typeface="Asap" pitchFamily="34" charset="-120"/>
              </a:rPr>
              <a:t>The list view with its</a:t>
            </a:r>
            <a:endParaRPr lang="en-US" sz="1050" dirty="0"/>
          </a:p>
          <a:p>
            <a:pPr algn="ctr" indent="0" marL="0">
              <a:lnSpc>
                <a:spcPct val="115000"/>
              </a:lnSpc>
              <a:buNone/>
            </a:pPr>
            <a:r>
              <a:rPr lang="en-US" sz="1050" i="1" dirty="0">
                <a:solidFill>
                  <a:srgbClr val="5C6B63"/>
                </a:solidFill>
                <a:latin typeface="Asap" pitchFamily="34" charset="0"/>
                <a:ea typeface="Asap" pitchFamily="34" charset="-122"/>
                <a:cs typeface="Asap" pitchFamily="34" charset="-120"/>
              </a:rPr>
              <a:t>coloured status tags</a:t>
            </a:r>
            <a:endParaRPr lang="en-US" sz="1050" dirty="0"/>
          </a:p>
          <a:p>
            <a:pPr algn="ctr" indent="0" marL="0">
              <a:lnSpc>
                <a:spcPct val="115000"/>
              </a:lnSpc>
              <a:buNone/>
            </a:pPr>
            <a:r>
              <a:rPr lang="en-US" sz="1050" i="1" dirty="0">
                <a:solidFill>
                  <a:srgbClr val="5C6B63"/>
                </a:solidFill>
                <a:latin typeface="Asap" pitchFamily="34" charset="0"/>
                <a:ea typeface="Asap" pitchFamily="34" charset="-122"/>
                <a:cs typeface="Asap" pitchFamily="34" charset="-120"/>
              </a:rPr>
              <a:t>(draft, planned, running,</a:t>
            </a:r>
            <a:endParaRPr lang="en-US" sz="1050" dirty="0"/>
          </a:p>
          <a:p>
            <a:pPr algn="ctr" indent="0" marL="0">
              <a:lnSpc>
                <a:spcPct val="115000"/>
              </a:lnSpc>
              <a:buNone/>
            </a:pPr>
            <a:r>
              <a:rPr lang="en-US" sz="1050" i="1" dirty="0">
                <a:solidFill>
                  <a:srgbClr val="5C6B63"/>
                </a:solidFill>
                <a:latin typeface="Asap" pitchFamily="34" charset="0"/>
                <a:ea typeface="Asap" pitchFamily="34" charset="-122"/>
                <a:cs typeface="Asap" pitchFamily="34" charset="-120"/>
              </a:rPr>
              <a:t>blocked, completed).</a:t>
            </a:r>
            <a:endParaRPr lang="en-US" sz="1050" dirty="0"/>
          </a:p>
        </p:txBody>
      </p:sp>
      <p:sp>
        <p:nvSpPr>
          <p:cNvPr id="31" name="Shape 29"/>
          <p:cNvSpPr/>
          <p:nvPr/>
        </p:nvSpPr>
        <p:spPr>
          <a:xfrm>
            <a:off x="566928" y="6144768"/>
            <a:ext cx="11057839" cy="420624"/>
          </a:xfrm>
          <a:prstGeom prst="roundRect">
            <a:avLst>
              <a:gd name="adj" fmla="val 8696"/>
            </a:avLst>
          </a:prstGeom>
          <a:solidFill>
            <a:srgbClr val="134074"/>
          </a:solidFill>
          <a:ln w="6350">
            <a:solidFill>
              <a:srgbClr val="134074"/>
            </a:solidFill>
            <a:prstDash val="solid"/>
          </a:ln>
        </p:spPr>
      </p:sp>
      <p:sp>
        <p:nvSpPr>
          <p:cNvPr id="32" name="Text 30"/>
          <p:cNvSpPr/>
          <p:nvPr/>
        </p:nvSpPr>
        <p:spPr>
          <a:xfrm>
            <a:off x="804672" y="6144768"/>
            <a:ext cx="10600639" cy="420624"/>
          </a:xfrm>
          <a:prstGeom prst="rect">
            <a:avLst/>
          </a:prstGeom>
          <a:noFill/>
          <a:ln/>
        </p:spPr>
        <p:txBody>
          <a:bodyPr wrap="square" lIns="0" tIns="0" rIns="0" bIns="0" rtlCol="0" anchor="ctr"/>
          <a:lstStyle/>
          <a:p>
            <a:pPr indent="0" marL="0">
              <a:buNone/>
            </a:pPr>
            <a:r>
              <a:rPr lang="en-US" sz="1000" b="1" spc="140" kern="0" dirty="0">
                <a:solidFill>
                  <a:srgbClr val="8DA9C4"/>
                </a:solidFill>
                <a:latin typeface="Asap" pitchFamily="34" charset="0"/>
                <a:ea typeface="Asap" pitchFamily="34" charset="-122"/>
                <a:cs typeface="Asap" pitchFamily="34" charset="-120"/>
              </a:rPr>
              <a:t>IN THE DEMO CLIP   </a:t>
            </a:r>
            <a:pPr indent="0" marL="0">
              <a:buNone/>
            </a:pPr>
            <a:r>
              <a:rPr lang="en-US" sz="1150" dirty="0">
                <a:solidFill>
                  <a:srgbClr val="FFFFFF"/>
                </a:solidFill>
                <a:latin typeface="Asap" pitchFamily="34" charset="0"/>
                <a:ea typeface="Asap" pitchFamily="34" charset="-122"/>
                <a:cs typeface="Asap" pitchFamily="34" charset="-120"/>
              </a:rPr>
              <a:t>we reserve materials and release the order — the Release button goes from greyed out to active.</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EF4ED"/>
        </a:solidFill>
      </p:bgPr>
    </p:bg>
    <p:spTree>
      <p:nvGrpSpPr>
        <p:cNvPr id="1" name=""/>
        <p:cNvGrpSpPr/>
        <p:nvPr/>
      </p:nvGrpSpPr>
      <p:grpSpPr>
        <a:xfrm>
          <a:off x="0" y="0"/>
          <a:ext cx="0" cy="0"/>
          <a:chOff x="0" y="0"/>
          <a:chExt cx="0" cy="0"/>
        </a:xfrm>
      </p:grpSpPr>
      <p:sp>
        <p:nvSpPr>
          <p:cNvPr id="2" name="Text 0"/>
          <p:cNvSpPr/>
          <p:nvPr/>
        </p:nvSpPr>
        <p:spPr>
          <a:xfrm>
            <a:off x="566928" y="347472"/>
            <a:ext cx="10515600" cy="256032"/>
          </a:xfrm>
          <a:prstGeom prst="rect">
            <a:avLst/>
          </a:prstGeom>
          <a:noFill/>
          <a:ln/>
        </p:spPr>
        <p:txBody>
          <a:bodyPr wrap="square" lIns="0" tIns="0" rIns="0" bIns="0" rtlCol="0" anchor="ctr"/>
          <a:lstStyle/>
          <a:p>
            <a:pPr indent="0" marL="0">
              <a:buNone/>
            </a:pPr>
            <a:r>
              <a:rPr lang="en-US" sz="1100" b="1" spc="220" kern="0" dirty="0">
                <a:solidFill>
                  <a:srgbClr val="8DA9C4"/>
                </a:solidFill>
                <a:latin typeface="Asap" pitchFamily="34" charset="0"/>
                <a:ea typeface="Asap" pitchFamily="34" charset="-122"/>
                <a:cs typeface="Asap" pitchFamily="34" charset="-120"/>
              </a:rPr>
              <a:t>09 · GOODS RECEIPT &amp; QUALITY</a:t>
            </a:r>
            <a:endParaRPr lang="en-US" sz="1100" dirty="0"/>
          </a:p>
        </p:txBody>
      </p:sp>
      <p:sp>
        <p:nvSpPr>
          <p:cNvPr id="3" name="Text 1"/>
          <p:cNvSpPr/>
          <p:nvPr/>
        </p:nvSpPr>
        <p:spPr>
          <a:xfrm>
            <a:off x="566928" y="603504"/>
            <a:ext cx="10881360" cy="658368"/>
          </a:xfrm>
          <a:prstGeom prst="rect">
            <a:avLst/>
          </a:prstGeom>
          <a:noFill/>
          <a:ln/>
        </p:spPr>
        <p:txBody>
          <a:bodyPr wrap="square" lIns="0" tIns="0" rIns="0" bIns="0" rtlCol="0" anchor="t"/>
          <a:lstStyle/>
          <a:p>
            <a:pPr indent="0" marL="0">
              <a:buNone/>
            </a:pPr>
            <a:r>
              <a:rPr lang="en-US" sz="3100" b="1" dirty="0">
                <a:solidFill>
                  <a:srgbClr val="134074"/>
                </a:solidFill>
                <a:latin typeface="Asap" pitchFamily="34" charset="0"/>
                <a:ea typeface="Asap" pitchFamily="34" charset="-122"/>
                <a:cs typeface="Asap" pitchFamily="34" charset="-120"/>
              </a:rPr>
              <a:t>In the Warehouse ≠ Usable</a:t>
            </a:r>
            <a:endParaRPr lang="en-US" sz="3100" dirty="0"/>
          </a:p>
        </p:txBody>
      </p:sp>
      <p:sp>
        <p:nvSpPr>
          <p:cNvPr id="4" name="Shape 2"/>
          <p:cNvSpPr/>
          <p:nvPr/>
        </p:nvSpPr>
        <p:spPr>
          <a:xfrm>
            <a:off x="566928" y="1664208"/>
            <a:ext cx="365760" cy="365760"/>
          </a:xfrm>
          <a:prstGeom prst="roundRect">
            <a:avLst>
              <a:gd name="adj" fmla="val 17500"/>
            </a:avLst>
          </a:prstGeom>
          <a:solidFill>
            <a:srgbClr val="134074"/>
          </a:solidFill>
          <a:ln w="6350">
            <a:solidFill>
              <a:srgbClr val="134074"/>
            </a:solidFill>
            <a:prstDash val="solid"/>
          </a:ln>
        </p:spPr>
      </p:sp>
      <p:sp>
        <p:nvSpPr>
          <p:cNvPr id="5" name="Text 3"/>
          <p:cNvSpPr/>
          <p:nvPr/>
        </p:nvSpPr>
        <p:spPr>
          <a:xfrm>
            <a:off x="566928" y="166420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sap" pitchFamily="34" charset="0"/>
                <a:ea typeface="Asap" pitchFamily="34" charset="-122"/>
                <a:cs typeface="Asap" pitchFamily="34" charset="-120"/>
              </a:rPr>
              <a:t>1</a:t>
            </a:r>
            <a:endParaRPr lang="en-US" sz="1400" dirty="0"/>
          </a:p>
        </p:txBody>
      </p:sp>
      <p:sp>
        <p:nvSpPr>
          <p:cNvPr id="6" name="Text 4"/>
          <p:cNvSpPr/>
          <p:nvPr/>
        </p:nvSpPr>
        <p:spPr>
          <a:xfrm>
            <a:off x="1097280" y="1645920"/>
            <a:ext cx="4178808" cy="256032"/>
          </a:xfrm>
          <a:prstGeom prst="rect">
            <a:avLst/>
          </a:prstGeom>
          <a:noFill/>
          <a:ln/>
        </p:spPr>
        <p:txBody>
          <a:bodyPr wrap="square" lIns="0" tIns="0" rIns="0" bIns="0" rtlCol="0" anchor="t"/>
          <a:lstStyle/>
          <a:p>
            <a:pPr indent="0" marL="0">
              <a:buNone/>
            </a:pPr>
            <a:r>
              <a:rPr lang="en-US" sz="1350" b="1" dirty="0">
                <a:solidFill>
                  <a:srgbClr val="134074"/>
                </a:solidFill>
                <a:latin typeface="Asap" pitchFamily="34" charset="0"/>
                <a:ea typeface="Asap" pitchFamily="34" charset="-122"/>
                <a:cs typeface="Asap" pitchFamily="34" charset="-120"/>
              </a:rPr>
              <a:t>Issue and report</a:t>
            </a:r>
            <a:endParaRPr lang="en-US" sz="1350" dirty="0"/>
          </a:p>
        </p:txBody>
      </p:sp>
      <p:sp>
        <p:nvSpPr>
          <p:cNvPr id="7" name="Text 5"/>
          <p:cNvSpPr/>
          <p:nvPr/>
        </p:nvSpPr>
        <p:spPr>
          <a:xfrm>
            <a:off x="1097280" y="1901952"/>
            <a:ext cx="4178808" cy="914400"/>
          </a:xfrm>
          <a:prstGeom prst="rect">
            <a:avLst/>
          </a:prstGeom>
          <a:noFill/>
          <a:ln/>
        </p:spPr>
        <p:txBody>
          <a:bodyPr wrap="square" lIns="0" tIns="0" rIns="0" bIns="0" rtlCol="0" anchor="t"/>
          <a:lstStyle/>
          <a:p>
            <a:pPr indent="0" marL="0">
              <a:lnSpc>
                <a:spcPct val="112000"/>
              </a:lnSpc>
              <a:buNone/>
            </a:pPr>
            <a:r>
              <a:rPr lang="en-US" sz="1150" dirty="0">
                <a:solidFill>
                  <a:srgbClr val="5C6B63"/>
                </a:solidFill>
                <a:latin typeface="Asap" pitchFamily="34" charset="0"/>
                <a:ea typeface="Asap" pitchFamily="34" charset="-122"/>
                <a:cs typeface="Asap" pitchFamily="34" charset="-120"/>
              </a:rPr>
              <a:t>The operator issues the reserved materials and reports output: good, scrap, rework, with actual times.</a:t>
            </a:r>
            <a:endParaRPr lang="en-US" sz="1150" dirty="0"/>
          </a:p>
        </p:txBody>
      </p:sp>
      <p:sp>
        <p:nvSpPr>
          <p:cNvPr id="8" name="Shape 6"/>
          <p:cNvSpPr/>
          <p:nvPr/>
        </p:nvSpPr>
        <p:spPr>
          <a:xfrm>
            <a:off x="566928" y="2724912"/>
            <a:ext cx="365760" cy="365760"/>
          </a:xfrm>
          <a:prstGeom prst="roundRect">
            <a:avLst>
              <a:gd name="adj" fmla="val 17500"/>
            </a:avLst>
          </a:prstGeom>
          <a:solidFill>
            <a:srgbClr val="134074"/>
          </a:solidFill>
          <a:ln w="6350">
            <a:solidFill>
              <a:srgbClr val="134074"/>
            </a:solidFill>
            <a:prstDash val="solid"/>
          </a:ln>
        </p:spPr>
      </p:sp>
      <p:sp>
        <p:nvSpPr>
          <p:cNvPr id="9" name="Text 7"/>
          <p:cNvSpPr/>
          <p:nvPr/>
        </p:nvSpPr>
        <p:spPr>
          <a:xfrm>
            <a:off x="566928" y="272491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sap" pitchFamily="34" charset="0"/>
                <a:ea typeface="Asap" pitchFamily="34" charset="-122"/>
                <a:cs typeface="Asap" pitchFamily="34" charset="-120"/>
              </a:rPr>
              <a:t>2</a:t>
            </a:r>
            <a:endParaRPr lang="en-US" sz="1400" dirty="0"/>
          </a:p>
        </p:txBody>
      </p:sp>
      <p:sp>
        <p:nvSpPr>
          <p:cNvPr id="10" name="Text 8"/>
          <p:cNvSpPr/>
          <p:nvPr/>
        </p:nvSpPr>
        <p:spPr>
          <a:xfrm>
            <a:off x="1097280" y="2706624"/>
            <a:ext cx="4178808" cy="256032"/>
          </a:xfrm>
          <a:prstGeom prst="rect">
            <a:avLst/>
          </a:prstGeom>
          <a:noFill/>
          <a:ln/>
        </p:spPr>
        <p:txBody>
          <a:bodyPr wrap="square" lIns="0" tIns="0" rIns="0" bIns="0" rtlCol="0" anchor="t"/>
          <a:lstStyle/>
          <a:p>
            <a:pPr indent="0" marL="0">
              <a:buNone/>
            </a:pPr>
            <a:r>
              <a:rPr lang="en-US" sz="1350" b="1" dirty="0">
                <a:solidFill>
                  <a:srgbClr val="134074"/>
                </a:solidFill>
                <a:latin typeface="Asap" pitchFamily="34" charset="0"/>
                <a:ea typeface="Asap" pitchFamily="34" charset="-122"/>
                <a:cs typeface="Asap" pitchFamily="34" charset="-120"/>
              </a:rPr>
              <a:t>Create receipt → Submit</a:t>
            </a:r>
            <a:endParaRPr lang="en-US" sz="1350" dirty="0"/>
          </a:p>
        </p:txBody>
      </p:sp>
      <p:sp>
        <p:nvSpPr>
          <p:cNvPr id="11" name="Text 9"/>
          <p:cNvSpPr/>
          <p:nvPr/>
        </p:nvSpPr>
        <p:spPr>
          <a:xfrm>
            <a:off x="1097280" y="2962656"/>
            <a:ext cx="4178808" cy="914400"/>
          </a:xfrm>
          <a:prstGeom prst="rect">
            <a:avLst/>
          </a:prstGeom>
          <a:noFill/>
          <a:ln/>
        </p:spPr>
        <p:txBody>
          <a:bodyPr wrap="square" lIns="0" tIns="0" rIns="0" bIns="0" rtlCol="0" anchor="t"/>
          <a:lstStyle/>
          <a:p>
            <a:pPr indent="0" marL="0">
              <a:lnSpc>
                <a:spcPct val="112000"/>
              </a:lnSpc>
              <a:buNone/>
            </a:pPr>
            <a:r>
              <a:rPr lang="en-US" sz="1150" dirty="0">
                <a:solidFill>
                  <a:srgbClr val="5C6B63"/>
                </a:solidFill>
                <a:latin typeface="Asap" pitchFamily="34" charset="0"/>
                <a:ea typeface="Asap" pitchFamily="34" charset="-122"/>
                <a:cs typeface="Asap" pitchFamily="34" charset="-120"/>
              </a:rPr>
              <a:t>Nothing in the warehouse changes yet. The document is simply waiting for approval.</a:t>
            </a:r>
            <a:endParaRPr lang="en-US" sz="1150" dirty="0"/>
          </a:p>
        </p:txBody>
      </p:sp>
      <p:sp>
        <p:nvSpPr>
          <p:cNvPr id="12" name="Shape 10"/>
          <p:cNvSpPr/>
          <p:nvPr/>
        </p:nvSpPr>
        <p:spPr>
          <a:xfrm>
            <a:off x="566928" y="3785616"/>
            <a:ext cx="365760" cy="365760"/>
          </a:xfrm>
          <a:prstGeom prst="roundRect">
            <a:avLst>
              <a:gd name="adj" fmla="val 17500"/>
            </a:avLst>
          </a:prstGeom>
          <a:solidFill>
            <a:srgbClr val="134074"/>
          </a:solidFill>
          <a:ln w="6350">
            <a:solidFill>
              <a:srgbClr val="134074"/>
            </a:solidFill>
            <a:prstDash val="solid"/>
          </a:ln>
        </p:spPr>
      </p:sp>
      <p:sp>
        <p:nvSpPr>
          <p:cNvPr id="13" name="Text 11"/>
          <p:cNvSpPr/>
          <p:nvPr/>
        </p:nvSpPr>
        <p:spPr>
          <a:xfrm>
            <a:off x="566928" y="378561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sap" pitchFamily="34" charset="0"/>
                <a:ea typeface="Asap" pitchFamily="34" charset="-122"/>
                <a:cs typeface="Asap" pitchFamily="34" charset="-120"/>
              </a:rPr>
              <a:t>3</a:t>
            </a:r>
            <a:endParaRPr lang="en-US" sz="1400" dirty="0"/>
          </a:p>
        </p:txBody>
      </p:sp>
      <p:sp>
        <p:nvSpPr>
          <p:cNvPr id="14" name="Text 12"/>
          <p:cNvSpPr/>
          <p:nvPr/>
        </p:nvSpPr>
        <p:spPr>
          <a:xfrm>
            <a:off x="1097280" y="3767328"/>
            <a:ext cx="4178808" cy="256032"/>
          </a:xfrm>
          <a:prstGeom prst="rect">
            <a:avLst/>
          </a:prstGeom>
          <a:noFill/>
          <a:ln/>
        </p:spPr>
        <p:txBody>
          <a:bodyPr wrap="square" lIns="0" tIns="0" rIns="0" bIns="0" rtlCol="0" anchor="t"/>
          <a:lstStyle/>
          <a:p>
            <a:pPr indent="0" marL="0">
              <a:buNone/>
            </a:pPr>
            <a:r>
              <a:rPr lang="en-US" sz="1350" b="1" dirty="0">
                <a:solidFill>
                  <a:srgbClr val="134074"/>
                </a:solidFill>
                <a:latin typeface="Asap" pitchFamily="34" charset="0"/>
                <a:ea typeface="Asap" pitchFamily="34" charset="-122"/>
                <a:cs typeface="Asap" pitchFamily="34" charset="-120"/>
              </a:rPr>
              <a:t>Manager approves</a:t>
            </a:r>
            <a:endParaRPr lang="en-US" sz="1350" dirty="0"/>
          </a:p>
        </p:txBody>
      </p:sp>
      <p:sp>
        <p:nvSpPr>
          <p:cNvPr id="15" name="Text 13"/>
          <p:cNvSpPr/>
          <p:nvPr/>
        </p:nvSpPr>
        <p:spPr>
          <a:xfrm>
            <a:off x="1097280" y="4023360"/>
            <a:ext cx="4178808" cy="914400"/>
          </a:xfrm>
          <a:prstGeom prst="rect">
            <a:avLst/>
          </a:prstGeom>
          <a:noFill/>
          <a:ln/>
        </p:spPr>
        <p:txBody>
          <a:bodyPr wrap="square" lIns="0" tIns="0" rIns="0" bIns="0" rtlCol="0" anchor="t"/>
          <a:lstStyle/>
          <a:p>
            <a:pPr indent="0" marL="0">
              <a:lnSpc>
                <a:spcPct val="112000"/>
              </a:lnSpc>
              <a:buNone/>
            </a:pPr>
            <a:r>
              <a:rPr lang="en-US" sz="1150" dirty="0">
                <a:solidFill>
                  <a:srgbClr val="5C6B63"/>
                </a:solidFill>
                <a:latin typeface="Asap" pitchFamily="34" charset="0"/>
                <a:ea typeface="Asap" pitchFamily="34" charset="-122"/>
                <a:cs typeface="Asap" pitchFamily="34" charset="-120"/>
              </a:rPr>
              <a:t>Now the goods really enter the warehouse — on HOLD, availability 0.</a:t>
            </a:r>
            <a:endParaRPr lang="en-US" sz="1150" dirty="0"/>
          </a:p>
        </p:txBody>
      </p:sp>
      <p:sp>
        <p:nvSpPr>
          <p:cNvPr id="16" name="Shape 14"/>
          <p:cNvSpPr/>
          <p:nvPr/>
        </p:nvSpPr>
        <p:spPr>
          <a:xfrm>
            <a:off x="566928" y="4846320"/>
            <a:ext cx="365760" cy="365760"/>
          </a:xfrm>
          <a:prstGeom prst="roundRect">
            <a:avLst>
              <a:gd name="adj" fmla="val 17500"/>
            </a:avLst>
          </a:prstGeom>
          <a:solidFill>
            <a:srgbClr val="134074"/>
          </a:solidFill>
          <a:ln w="6350">
            <a:solidFill>
              <a:srgbClr val="134074"/>
            </a:solidFill>
            <a:prstDash val="solid"/>
          </a:ln>
        </p:spPr>
      </p:sp>
      <p:sp>
        <p:nvSpPr>
          <p:cNvPr id="17" name="Text 15"/>
          <p:cNvSpPr/>
          <p:nvPr/>
        </p:nvSpPr>
        <p:spPr>
          <a:xfrm>
            <a:off x="566928" y="48463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sap" pitchFamily="34" charset="0"/>
                <a:ea typeface="Asap" pitchFamily="34" charset="-122"/>
                <a:cs typeface="Asap" pitchFamily="34" charset="-120"/>
              </a:rPr>
              <a:t>4</a:t>
            </a:r>
            <a:endParaRPr lang="en-US" sz="1400" dirty="0"/>
          </a:p>
        </p:txBody>
      </p:sp>
      <p:sp>
        <p:nvSpPr>
          <p:cNvPr id="18" name="Text 16"/>
          <p:cNvSpPr/>
          <p:nvPr/>
        </p:nvSpPr>
        <p:spPr>
          <a:xfrm>
            <a:off x="1097280" y="4828032"/>
            <a:ext cx="4178808" cy="256032"/>
          </a:xfrm>
          <a:prstGeom prst="rect">
            <a:avLst/>
          </a:prstGeom>
          <a:noFill/>
          <a:ln/>
        </p:spPr>
        <p:txBody>
          <a:bodyPr wrap="square" lIns="0" tIns="0" rIns="0" bIns="0" rtlCol="0" anchor="t"/>
          <a:lstStyle/>
          <a:p>
            <a:pPr indent="0" marL="0">
              <a:buNone/>
            </a:pPr>
            <a:r>
              <a:rPr lang="en-US" sz="1350" b="1" dirty="0">
                <a:solidFill>
                  <a:srgbClr val="134074"/>
                </a:solidFill>
                <a:latin typeface="Asap" pitchFamily="34" charset="0"/>
                <a:ea typeface="Asap" pitchFamily="34" charset="-122"/>
                <a:cs typeface="Asap" pitchFamily="34" charset="-120"/>
              </a:rPr>
              <a:t>Quality rules</a:t>
            </a:r>
            <a:endParaRPr lang="en-US" sz="1350" dirty="0"/>
          </a:p>
        </p:txBody>
      </p:sp>
      <p:sp>
        <p:nvSpPr>
          <p:cNvPr id="19" name="Text 17"/>
          <p:cNvSpPr/>
          <p:nvPr/>
        </p:nvSpPr>
        <p:spPr>
          <a:xfrm>
            <a:off x="1097280" y="5084064"/>
            <a:ext cx="4178808" cy="914400"/>
          </a:xfrm>
          <a:prstGeom prst="rect">
            <a:avLst/>
          </a:prstGeom>
          <a:noFill/>
          <a:ln/>
        </p:spPr>
        <p:txBody>
          <a:bodyPr wrap="square" lIns="0" tIns="0" rIns="0" bIns="0" rtlCol="0" anchor="t"/>
          <a:lstStyle/>
          <a:p>
            <a:pPr indent="0" marL="0">
              <a:lnSpc>
                <a:spcPct val="112000"/>
              </a:lnSpc>
              <a:buNone/>
            </a:pPr>
            <a:r>
              <a:rPr lang="en-US" sz="1150" dirty="0">
                <a:solidFill>
                  <a:srgbClr val="5C6B63"/>
                </a:solidFill>
                <a:latin typeface="Asap" pitchFamily="34" charset="0"/>
                <a:ea typeface="Asap" pitchFamily="34" charset="-122"/>
                <a:cs typeface="Asap" pitchFamily="34" charset="-120"/>
              </a:rPr>
              <a:t>PASS → stock becomes available and the sales order moves to partially fulfilled.</a:t>
            </a:r>
            <a:endParaRPr lang="en-US" sz="1150" dirty="0"/>
          </a:p>
          <a:p>
            <a:pPr indent="0" marL="0">
              <a:lnSpc>
                <a:spcPct val="112000"/>
              </a:lnSpc>
              <a:buNone/>
            </a:pPr>
            <a:r>
              <a:rPr lang="en-US" sz="1150" dirty="0">
                <a:solidFill>
                  <a:srgbClr val="5C6B63"/>
                </a:solidFill>
                <a:latin typeface="Asap" pitchFamily="34" charset="0"/>
                <a:ea typeface="Asap" pitchFamily="34" charset="-122"/>
                <a:cs typeface="Asap" pitchFamily="34" charset="-120"/>
              </a:rPr>
              <a:t>FAIL → still fully traceable, but nobody can ever draw it out.</a:t>
            </a:r>
            <a:endParaRPr lang="en-US" sz="1150" dirty="0"/>
          </a:p>
        </p:txBody>
      </p:sp>
      <p:sp>
        <p:nvSpPr>
          <p:cNvPr id="20" name="Shape 18"/>
          <p:cNvSpPr/>
          <p:nvPr/>
        </p:nvSpPr>
        <p:spPr>
          <a:xfrm>
            <a:off x="5687568" y="1600200"/>
            <a:ext cx="5937199" cy="2487168"/>
          </a:xfrm>
          <a:prstGeom prst="roundRect">
            <a:avLst>
              <a:gd name="adj" fmla="val 1103"/>
            </a:avLst>
          </a:prstGeom>
          <a:solidFill>
            <a:srgbClr val="FFFFFF"/>
          </a:solidFill>
          <a:ln w="15875">
            <a:solidFill>
              <a:srgbClr val="134074"/>
            </a:solidFill>
            <a:prstDash val="dash"/>
          </a:ln>
        </p:spPr>
      </p:sp>
      <p:sp>
        <p:nvSpPr>
          <p:cNvPr id="21" name="Shape 19"/>
          <p:cNvSpPr/>
          <p:nvPr/>
        </p:nvSpPr>
        <p:spPr>
          <a:xfrm>
            <a:off x="5833872" y="1746504"/>
            <a:ext cx="1417320" cy="274320"/>
          </a:xfrm>
          <a:prstGeom prst="roundRect">
            <a:avLst>
              <a:gd name="adj" fmla="val 66667"/>
            </a:avLst>
          </a:prstGeom>
          <a:solidFill>
            <a:srgbClr val="134074"/>
          </a:solidFill>
          <a:ln w="6350">
            <a:solidFill>
              <a:srgbClr val="134074"/>
            </a:solidFill>
            <a:prstDash val="solid"/>
          </a:ln>
        </p:spPr>
      </p:sp>
      <p:sp>
        <p:nvSpPr>
          <p:cNvPr id="22" name="Text 20"/>
          <p:cNvSpPr/>
          <p:nvPr/>
        </p:nvSpPr>
        <p:spPr>
          <a:xfrm>
            <a:off x="5833872" y="1746504"/>
            <a:ext cx="1417320" cy="274320"/>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Asap" pitchFamily="34" charset="0"/>
                <a:ea typeface="Asap" pitchFamily="34" charset="-122"/>
                <a:cs typeface="Asap" pitchFamily="34" charset="-120"/>
              </a:rPr>
              <a:t>SCREENSHOT</a:t>
            </a:r>
            <a:endParaRPr lang="en-US" sz="900" dirty="0"/>
          </a:p>
        </p:txBody>
      </p:sp>
      <p:sp>
        <p:nvSpPr>
          <p:cNvPr id="23" name="Text 21"/>
          <p:cNvSpPr/>
          <p:nvPr/>
        </p:nvSpPr>
        <p:spPr>
          <a:xfrm>
            <a:off x="5961888" y="2423160"/>
            <a:ext cx="5388559" cy="457200"/>
          </a:xfrm>
          <a:prstGeom prst="rect">
            <a:avLst/>
          </a:prstGeom>
          <a:noFill/>
          <a:ln/>
        </p:spPr>
        <p:txBody>
          <a:bodyPr wrap="square" lIns="0" tIns="0" rIns="0" bIns="0" rtlCol="0" anchor="b"/>
          <a:lstStyle/>
          <a:p>
            <a:pPr algn="ctr" indent="0" marL="0">
              <a:buNone/>
            </a:pPr>
            <a:r>
              <a:rPr lang="en-US" sz="1400" b="1" dirty="0">
                <a:solidFill>
                  <a:srgbClr val="134074"/>
                </a:solidFill>
                <a:latin typeface="Asap" pitchFamily="34" charset="0"/>
                <a:ea typeface="Asap" pitchFamily="34" charset="-122"/>
                <a:cs typeface="Asap" pitchFamily="34" charset="-120"/>
              </a:rPr>
              <a:t>Lot list — the key frame</a:t>
            </a:r>
            <a:endParaRPr lang="en-US" sz="1400" dirty="0"/>
          </a:p>
        </p:txBody>
      </p:sp>
      <p:sp>
        <p:nvSpPr>
          <p:cNvPr id="24" name="Text 22"/>
          <p:cNvSpPr/>
          <p:nvPr/>
        </p:nvSpPr>
        <p:spPr>
          <a:xfrm>
            <a:off x="5961888" y="2898648"/>
            <a:ext cx="5388559" cy="868680"/>
          </a:xfrm>
          <a:prstGeom prst="rect">
            <a:avLst/>
          </a:prstGeom>
          <a:noFill/>
          <a:ln/>
        </p:spPr>
        <p:txBody>
          <a:bodyPr wrap="square" lIns="0" tIns="0" rIns="0" bIns="0" rtlCol="0" anchor="t"/>
          <a:lstStyle/>
          <a:p>
            <a:pPr algn="ctr" indent="0" marL="0">
              <a:lnSpc>
                <a:spcPct val="115000"/>
              </a:lnSpc>
              <a:buNone/>
            </a:pPr>
            <a:r>
              <a:rPr lang="en-US" sz="1050" i="1" dirty="0">
                <a:solidFill>
                  <a:srgbClr val="5C6B63"/>
                </a:solidFill>
                <a:latin typeface="Asap" pitchFamily="34" charset="0"/>
                <a:ea typeface="Asap" pitchFamily="34" charset="-122"/>
                <a:cs typeface="Asap" pitchFamily="34" charset="-120"/>
              </a:rPr>
              <a:t>One row must clearly show On hand = 50 while Available = 0.</a:t>
            </a:r>
            <a:endParaRPr lang="en-US" sz="1050" dirty="0"/>
          </a:p>
          <a:p>
            <a:pPr algn="ctr" indent="0" marL="0">
              <a:lnSpc>
                <a:spcPct val="115000"/>
              </a:lnSpc>
              <a:buNone/>
            </a:pPr>
            <a:r>
              <a:rPr lang="en-US" sz="1050" i="1" dirty="0">
                <a:solidFill>
                  <a:srgbClr val="5C6B63"/>
                </a:solidFill>
                <a:latin typeface="Asap" pitchFamily="34" charset="0"/>
                <a:ea typeface="Asap" pitchFamily="34" charset="-122"/>
                <a:cs typeface="Asap" pitchFamily="34" charset="-120"/>
              </a:rPr>
              <a:t>Zoom in on exactly that row.</a:t>
            </a:r>
            <a:endParaRPr lang="en-US" sz="1050" dirty="0"/>
          </a:p>
        </p:txBody>
      </p:sp>
      <p:sp>
        <p:nvSpPr>
          <p:cNvPr id="25" name="Shape 23"/>
          <p:cNvSpPr/>
          <p:nvPr/>
        </p:nvSpPr>
        <p:spPr>
          <a:xfrm>
            <a:off x="5687568" y="4251960"/>
            <a:ext cx="5937199" cy="1737360"/>
          </a:xfrm>
          <a:prstGeom prst="roundRect">
            <a:avLst>
              <a:gd name="adj" fmla="val 1579"/>
            </a:avLst>
          </a:prstGeom>
          <a:solidFill>
            <a:srgbClr val="134074"/>
          </a:solidFill>
          <a:ln w="12700">
            <a:solidFill>
              <a:srgbClr val="134074"/>
            </a:solidFill>
            <a:prstDash val="solid"/>
          </a:ln>
        </p:spPr>
      </p:sp>
      <p:sp>
        <p:nvSpPr>
          <p:cNvPr id="26" name="Text 24"/>
          <p:cNvSpPr/>
          <p:nvPr/>
        </p:nvSpPr>
        <p:spPr>
          <a:xfrm>
            <a:off x="6007608" y="4443984"/>
            <a:ext cx="5297119" cy="502920"/>
          </a:xfrm>
          <a:prstGeom prst="rect">
            <a:avLst/>
          </a:prstGeom>
          <a:noFill/>
          <a:ln/>
        </p:spPr>
        <p:txBody>
          <a:bodyPr wrap="square" lIns="0" tIns="0" rIns="0" bIns="0" rtlCol="0" anchor="ctr"/>
          <a:lstStyle/>
          <a:p>
            <a:pPr indent="0" marL="0">
              <a:buNone/>
            </a:pPr>
            <a:r>
              <a:rPr lang="en-US" sz="2600" b="1" dirty="0">
                <a:solidFill>
                  <a:srgbClr val="FFFFFF"/>
                </a:solidFill>
                <a:latin typeface="Asap" pitchFamily="34" charset="0"/>
                <a:ea typeface="Asap" pitchFamily="34" charset="-122"/>
                <a:cs typeface="Asap" pitchFamily="34" charset="-120"/>
              </a:rPr>
              <a:t>On hand 50</a:t>
            </a:r>
            <a:pPr indent="0" marL="0">
              <a:buNone/>
            </a:pPr>
            <a:r>
              <a:rPr lang="en-US" sz="2600" b="1" dirty="0">
                <a:solidFill>
                  <a:srgbClr val="B5561F"/>
                </a:solidFill>
                <a:latin typeface="Asap" pitchFamily="34" charset="0"/>
                <a:ea typeface="Asap" pitchFamily="34" charset="-122"/>
                <a:cs typeface="Asap" pitchFamily="34" charset="-120"/>
              </a:rPr>
              <a:t>     Available 0</a:t>
            </a:r>
            <a:endParaRPr lang="en-US" sz="2600" dirty="0"/>
          </a:p>
        </p:txBody>
      </p:sp>
      <p:sp>
        <p:nvSpPr>
          <p:cNvPr id="27" name="Text 25"/>
          <p:cNvSpPr/>
          <p:nvPr/>
        </p:nvSpPr>
        <p:spPr>
          <a:xfrm>
            <a:off x="6007608" y="4974336"/>
            <a:ext cx="5297119" cy="914400"/>
          </a:xfrm>
          <a:prstGeom prst="rect">
            <a:avLst/>
          </a:prstGeom>
          <a:noFill/>
          <a:ln/>
        </p:spPr>
        <p:txBody>
          <a:bodyPr wrap="square" lIns="0" tIns="0" rIns="0" bIns="0" rtlCol="0" anchor="ctr"/>
          <a:lstStyle/>
          <a:p>
            <a:pPr indent="0" marL="0">
              <a:lnSpc>
                <a:spcPct val="118000"/>
              </a:lnSpc>
              <a:buNone/>
            </a:pPr>
            <a:r>
              <a:rPr lang="en-US" sz="1150" dirty="0">
                <a:solidFill>
                  <a:srgbClr val="8DA9C4"/>
                </a:solidFill>
                <a:latin typeface="Asap" pitchFamily="34" charset="0"/>
                <a:ea typeface="Asap" pitchFamily="34" charset="-122"/>
                <a:cs typeface="Asap" pitchFamily="34" charset="-120"/>
              </a:rPr>
              <a:t>The goods are physically in the warehouse — countable, weighable. Nobody may use them yet, because they are waiting on quality. Approving the receipt and ruling on quality are two different permissions, held by two different people.</a:t>
            </a:r>
            <a:endParaRPr lang="en-US" sz="1150" dirty="0"/>
          </a:p>
        </p:txBody>
      </p:sp>
      <p:sp>
        <p:nvSpPr>
          <p:cNvPr id="28" name="Shape 26"/>
          <p:cNvSpPr/>
          <p:nvPr/>
        </p:nvSpPr>
        <p:spPr>
          <a:xfrm>
            <a:off x="566928" y="6144768"/>
            <a:ext cx="11057839" cy="420624"/>
          </a:xfrm>
          <a:prstGeom prst="roundRect">
            <a:avLst>
              <a:gd name="adj" fmla="val 8696"/>
            </a:avLst>
          </a:prstGeom>
          <a:solidFill>
            <a:srgbClr val="134074"/>
          </a:solidFill>
          <a:ln w="6350">
            <a:solidFill>
              <a:srgbClr val="134074"/>
            </a:solidFill>
            <a:prstDash val="solid"/>
          </a:ln>
        </p:spPr>
      </p:sp>
      <p:sp>
        <p:nvSpPr>
          <p:cNvPr id="29" name="Text 27"/>
          <p:cNvSpPr/>
          <p:nvPr/>
        </p:nvSpPr>
        <p:spPr>
          <a:xfrm>
            <a:off x="804672" y="6144768"/>
            <a:ext cx="10600639" cy="420624"/>
          </a:xfrm>
          <a:prstGeom prst="rect">
            <a:avLst/>
          </a:prstGeom>
          <a:noFill/>
          <a:ln/>
        </p:spPr>
        <p:txBody>
          <a:bodyPr wrap="square" lIns="0" tIns="0" rIns="0" bIns="0" rtlCol="0" anchor="ctr"/>
          <a:lstStyle/>
          <a:p>
            <a:pPr indent="0" marL="0">
              <a:buNone/>
            </a:pPr>
            <a:r>
              <a:rPr lang="en-US" sz="1000" b="1" spc="140" kern="0" dirty="0">
                <a:solidFill>
                  <a:srgbClr val="8DA9C4"/>
                </a:solidFill>
                <a:latin typeface="Asap" pitchFamily="34" charset="0"/>
                <a:ea typeface="Asap" pitchFamily="34" charset="-122"/>
                <a:cs typeface="Asap" pitchFamily="34" charset="-120"/>
              </a:rPr>
              <a:t>IN THE DEMO CLIP   </a:t>
            </a:r>
            <a:pPr indent="0" marL="0">
              <a:buNone/>
            </a:pPr>
            <a:r>
              <a:rPr lang="en-US" sz="1150" dirty="0">
                <a:solidFill>
                  <a:srgbClr val="FFFFFF"/>
                </a:solidFill>
                <a:latin typeface="Asap" pitchFamily="34" charset="0"/>
                <a:ea typeface="Asap" pitchFamily="34" charset="-122"/>
                <a:cs typeface="Asap" pitchFamily="34" charset="-120"/>
              </a:rPr>
              <a:t>the climax — availability jumps from 0 to 50, and the sales order changes state at the same moment.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EF4ED"/>
        </a:solidFill>
      </p:bgPr>
    </p:bg>
    <p:spTree>
      <p:nvGrpSpPr>
        <p:cNvPr id="1" name=""/>
        <p:cNvGrpSpPr/>
        <p:nvPr/>
      </p:nvGrpSpPr>
      <p:grpSpPr>
        <a:xfrm>
          <a:off x="0" y="0"/>
          <a:ext cx="0" cy="0"/>
          <a:chOff x="0" y="0"/>
          <a:chExt cx="0" cy="0"/>
        </a:xfrm>
      </p:grpSpPr>
      <p:sp>
        <p:nvSpPr>
          <p:cNvPr id="2" name="Text 0"/>
          <p:cNvSpPr/>
          <p:nvPr/>
        </p:nvSpPr>
        <p:spPr>
          <a:xfrm>
            <a:off x="566928" y="347472"/>
            <a:ext cx="10515600" cy="256032"/>
          </a:xfrm>
          <a:prstGeom prst="rect">
            <a:avLst/>
          </a:prstGeom>
          <a:noFill/>
          <a:ln/>
        </p:spPr>
        <p:txBody>
          <a:bodyPr wrap="square" lIns="0" tIns="0" rIns="0" bIns="0" rtlCol="0" anchor="ctr"/>
          <a:lstStyle/>
          <a:p>
            <a:pPr indent="0" marL="0">
              <a:buNone/>
            </a:pPr>
            <a:r>
              <a:rPr lang="en-US" sz="1100" b="1" spc="220" kern="0" dirty="0">
                <a:solidFill>
                  <a:srgbClr val="8DA9C4"/>
                </a:solidFill>
                <a:latin typeface="Asap" pitchFamily="34" charset="0"/>
                <a:ea typeface="Asap" pitchFamily="34" charset="-122"/>
                <a:cs typeface="Asap" pitchFamily="34" charset="-120"/>
              </a:rPr>
              <a:t>10 · ROADMAP</a:t>
            </a:r>
            <a:endParaRPr lang="en-US" sz="1100" dirty="0"/>
          </a:p>
        </p:txBody>
      </p:sp>
      <p:sp>
        <p:nvSpPr>
          <p:cNvPr id="3" name="Text 1"/>
          <p:cNvSpPr/>
          <p:nvPr/>
        </p:nvSpPr>
        <p:spPr>
          <a:xfrm>
            <a:off x="566928" y="603504"/>
            <a:ext cx="10881360" cy="658368"/>
          </a:xfrm>
          <a:prstGeom prst="rect">
            <a:avLst/>
          </a:prstGeom>
          <a:noFill/>
          <a:ln/>
        </p:spPr>
        <p:txBody>
          <a:bodyPr wrap="square" lIns="0" tIns="0" rIns="0" bIns="0" rtlCol="0" anchor="t"/>
          <a:lstStyle/>
          <a:p>
            <a:pPr indent="0" marL="0">
              <a:buNone/>
            </a:pPr>
            <a:r>
              <a:rPr lang="en-US" sz="3100" b="1" dirty="0">
                <a:solidFill>
                  <a:srgbClr val="134074"/>
                </a:solidFill>
                <a:latin typeface="Asap" pitchFamily="34" charset="0"/>
                <a:ea typeface="Asap" pitchFamily="34" charset="-122"/>
                <a:cs typeface="Asap" pitchFamily="34" charset="-120"/>
              </a:rPr>
              <a:t>What Comes Next</a:t>
            </a:r>
            <a:endParaRPr lang="en-US" sz="3100" dirty="0"/>
          </a:p>
        </p:txBody>
      </p:sp>
      <p:sp>
        <p:nvSpPr>
          <p:cNvPr id="4" name="Shape 2"/>
          <p:cNvSpPr/>
          <p:nvPr/>
        </p:nvSpPr>
        <p:spPr>
          <a:xfrm>
            <a:off x="566928" y="1572768"/>
            <a:ext cx="5806440" cy="4069080"/>
          </a:xfrm>
          <a:prstGeom prst="roundRect">
            <a:avLst>
              <a:gd name="adj" fmla="val 674"/>
            </a:avLst>
          </a:prstGeom>
          <a:solidFill>
            <a:srgbClr val="FFFFFF"/>
          </a:solidFill>
          <a:ln w="12700">
            <a:solidFill>
              <a:srgbClr val="FFFFFF"/>
            </a:solidFill>
            <a:prstDash val="solid"/>
          </a:ln>
        </p:spPr>
      </p:sp>
      <p:sp>
        <p:nvSpPr>
          <p:cNvPr id="5" name="Text 3"/>
          <p:cNvSpPr/>
          <p:nvPr/>
        </p:nvSpPr>
        <p:spPr>
          <a:xfrm>
            <a:off x="859536" y="1810512"/>
            <a:ext cx="5221224" cy="274320"/>
          </a:xfrm>
          <a:prstGeom prst="rect">
            <a:avLst/>
          </a:prstGeom>
          <a:noFill/>
          <a:ln/>
        </p:spPr>
        <p:txBody>
          <a:bodyPr wrap="square" lIns="0" tIns="0" rIns="0" bIns="0" rtlCol="0" anchor="ctr"/>
          <a:lstStyle/>
          <a:p>
            <a:pPr indent="0" marL="0">
              <a:buNone/>
            </a:pPr>
            <a:r>
              <a:rPr lang="en-US" sz="1050" b="1" spc="110" kern="0" dirty="0">
                <a:solidFill>
                  <a:srgbClr val="134074"/>
                </a:solidFill>
                <a:latin typeface="Asap" pitchFamily="34" charset="0"/>
                <a:ea typeface="Asap" pitchFamily="34" charset="-122"/>
                <a:cs typeface="Asap" pitchFamily="34" charset="-120"/>
              </a:rPr>
              <a:t>GROUP A — BACKEND DONE, INTERFACE IN PROGRESS</a:t>
            </a:r>
            <a:endParaRPr lang="en-US" sz="1050" dirty="0"/>
          </a:p>
        </p:txBody>
      </p:sp>
      <p:sp>
        <p:nvSpPr>
          <p:cNvPr id="6" name="Text 4"/>
          <p:cNvSpPr/>
          <p:nvPr/>
        </p:nvSpPr>
        <p:spPr>
          <a:xfrm>
            <a:off x="859536" y="2231136"/>
            <a:ext cx="1417320" cy="256032"/>
          </a:xfrm>
          <a:prstGeom prst="rect">
            <a:avLst/>
          </a:prstGeom>
          <a:noFill/>
          <a:ln/>
        </p:spPr>
        <p:txBody>
          <a:bodyPr wrap="square" lIns="0" tIns="0" rIns="0" bIns="0" rtlCol="0" anchor="ctr"/>
          <a:lstStyle/>
          <a:p>
            <a:pPr indent="0" marL="0">
              <a:buNone/>
            </a:pPr>
            <a:r>
              <a:rPr lang="en-US" sz="1200" b="1" dirty="0">
                <a:solidFill>
                  <a:srgbClr val="134074"/>
                </a:solidFill>
                <a:latin typeface="Asap" pitchFamily="34" charset="0"/>
                <a:ea typeface="Asap" pitchFamily="34" charset="-122"/>
                <a:cs typeface="Asap" pitchFamily="34" charset="-120"/>
              </a:rPr>
              <a:t>Routing</a:t>
            </a:r>
            <a:endParaRPr lang="en-US" sz="1200" dirty="0"/>
          </a:p>
        </p:txBody>
      </p:sp>
      <p:sp>
        <p:nvSpPr>
          <p:cNvPr id="7" name="Text 5"/>
          <p:cNvSpPr/>
          <p:nvPr/>
        </p:nvSpPr>
        <p:spPr>
          <a:xfrm>
            <a:off x="2350008" y="2203704"/>
            <a:ext cx="2331720" cy="603504"/>
          </a:xfrm>
          <a:prstGeom prst="rect">
            <a:avLst/>
          </a:prstGeom>
          <a:noFill/>
          <a:ln/>
        </p:spPr>
        <p:txBody>
          <a:bodyPr wrap="square" lIns="0" tIns="0" rIns="0" bIns="0" rtlCol="0" anchor="ctr"/>
          <a:lstStyle/>
          <a:p>
            <a:pPr indent="0" marL="0">
              <a:lnSpc>
                <a:spcPct val="110000"/>
              </a:lnSpc>
              <a:buNone/>
            </a:pPr>
            <a:r>
              <a:rPr lang="en-US" sz="1000" dirty="0">
                <a:solidFill>
                  <a:srgbClr val="5C6B63"/>
                </a:solidFill>
                <a:latin typeface="Asap" pitchFamily="34" charset="0"/>
                <a:ea typeface="Asap" pitchFamily="34" charset="-122"/>
                <a:cs typeface="Asap" pitchFamily="34" charset="-120"/>
              </a:rPr>
              <a:t>Full API — draft / active / inactive lifecycle, snapshot onto the work order</a:t>
            </a:r>
            <a:endParaRPr lang="en-US" sz="1000" dirty="0"/>
          </a:p>
        </p:txBody>
      </p:sp>
      <p:sp>
        <p:nvSpPr>
          <p:cNvPr id="8" name="Text 6"/>
          <p:cNvSpPr/>
          <p:nvPr/>
        </p:nvSpPr>
        <p:spPr>
          <a:xfrm>
            <a:off x="4791456" y="2203704"/>
            <a:ext cx="1481328" cy="603504"/>
          </a:xfrm>
          <a:prstGeom prst="rect">
            <a:avLst/>
          </a:prstGeom>
          <a:noFill/>
          <a:ln/>
        </p:spPr>
        <p:txBody>
          <a:bodyPr wrap="square" lIns="0" tIns="0" rIns="0" bIns="0" rtlCol="0" anchor="ctr"/>
          <a:lstStyle/>
          <a:p>
            <a:pPr indent="0" marL="0">
              <a:lnSpc>
                <a:spcPct val="110000"/>
              </a:lnSpc>
              <a:buNone/>
            </a:pPr>
            <a:r>
              <a:rPr lang="en-US" sz="1000" i="1" dirty="0">
                <a:solidFill>
                  <a:srgbClr val="B5561F"/>
                </a:solidFill>
                <a:latin typeface="Asap" pitchFamily="34" charset="0"/>
                <a:ea typeface="Asap" pitchFamily="34" charset="-122"/>
                <a:cs typeface="Asap" pitchFamily="34" charset="-120"/>
              </a:rPr>
              <a:t>Missing: Operation management screen</a:t>
            </a:r>
            <a:endParaRPr lang="en-US" sz="1000" dirty="0"/>
          </a:p>
        </p:txBody>
      </p:sp>
      <p:sp>
        <p:nvSpPr>
          <p:cNvPr id="9" name="Text 7"/>
          <p:cNvSpPr/>
          <p:nvPr/>
        </p:nvSpPr>
        <p:spPr>
          <a:xfrm>
            <a:off x="859536" y="3017520"/>
            <a:ext cx="1417320" cy="256032"/>
          </a:xfrm>
          <a:prstGeom prst="rect">
            <a:avLst/>
          </a:prstGeom>
          <a:noFill/>
          <a:ln/>
        </p:spPr>
        <p:txBody>
          <a:bodyPr wrap="square" lIns="0" tIns="0" rIns="0" bIns="0" rtlCol="0" anchor="ctr"/>
          <a:lstStyle/>
          <a:p>
            <a:pPr indent="0" marL="0">
              <a:buNone/>
            </a:pPr>
            <a:r>
              <a:rPr lang="en-US" sz="1200" b="1" dirty="0">
                <a:solidFill>
                  <a:srgbClr val="134074"/>
                </a:solidFill>
                <a:latin typeface="Asap" pitchFamily="34" charset="0"/>
                <a:ea typeface="Asap" pitchFamily="34" charset="-122"/>
                <a:cs typeface="Asap" pitchFamily="34" charset="-120"/>
              </a:rPr>
              <a:t>Capacity board</a:t>
            </a:r>
            <a:endParaRPr lang="en-US" sz="1200" dirty="0"/>
          </a:p>
        </p:txBody>
      </p:sp>
      <p:sp>
        <p:nvSpPr>
          <p:cNvPr id="10" name="Text 8"/>
          <p:cNvSpPr/>
          <p:nvPr/>
        </p:nvSpPr>
        <p:spPr>
          <a:xfrm>
            <a:off x="2350008" y="2990088"/>
            <a:ext cx="2331720" cy="603504"/>
          </a:xfrm>
          <a:prstGeom prst="rect">
            <a:avLst/>
          </a:prstGeom>
          <a:noFill/>
          <a:ln/>
        </p:spPr>
        <p:txBody>
          <a:bodyPr wrap="square" lIns="0" tIns="0" rIns="0" bIns="0" rtlCol="0" anchor="ctr"/>
          <a:lstStyle/>
          <a:p>
            <a:pPr indent="0" marL="0">
              <a:lnSpc>
                <a:spcPct val="110000"/>
              </a:lnSpc>
              <a:buNone/>
            </a:pPr>
            <a:r>
              <a:rPr lang="en-US" sz="1000" dirty="0">
                <a:solidFill>
                  <a:srgbClr val="5C6B63"/>
                </a:solidFill>
                <a:latin typeface="Asap" pitchFamily="34" charset="0"/>
                <a:ea typeface="Asap" pitchFamily="34" charset="-122"/>
                <a:cs typeface="Asap" pitchFamily="34" charset="-120"/>
              </a:rPr>
              <a:t>API plus overload warnings per work centre and day</a:t>
            </a:r>
            <a:endParaRPr lang="en-US" sz="1000" dirty="0"/>
          </a:p>
        </p:txBody>
      </p:sp>
      <p:sp>
        <p:nvSpPr>
          <p:cNvPr id="11" name="Text 9"/>
          <p:cNvSpPr/>
          <p:nvPr/>
        </p:nvSpPr>
        <p:spPr>
          <a:xfrm>
            <a:off x="4791456" y="2990088"/>
            <a:ext cx="1481328" cy="603504"/>
          </a:xfrm>
          <a:prstGeom prst="rect">
            <a:avLst/>
          </a:prstGeom>
          <a:noFill/>
          <a:ln/>
        </p:spPr>
        <p:txBody>
          <a:bodyPr wrap="square" lIns="0" tIns="0" rIns="0" bIns="0" rtlCol="0" anchor="ctr"/>
          <a:lstStyle/>
          <a:p>
            <a:pPr indent="0" marL="0">
              <a:lnSpc>
                <a:spcPct val="110000"/>
              </a:lnSpc>
              <a:buNone/>
            </a:pPr>
            <a:r>
              <a:rPr lang="en-US" sz="1000" i="1" dirty="0">
                <a:solidFill>
                  <a:srgbClr val="B5561F"/>
                </a:solidFill>
                <a:latin typeface="Asap" pitchFamily="34" charset="0"/>
                <a:ea typeface="Asap" pitchFamily="34" charset="-122"/>
                <a:cs typeface="Asap" pitchFamily="34" charset="-120"/>
              </a:rPr>
              <a:t>Missing: Load chart screen</a:t>
            </a:r>
            <a:endParaRPr lang="en-US" sz="1000" dirty="0"/>
          </a:p>
        </p:txBody>
      </p:sp>
      <p:sp>
        <p:nvSpPr>
          <p:cNvPr id="12" name="Text 10"/>
          <p:cNvSpPr/>
          <p:nvPr/>
        </p:nvSpPr>
        <p:spPr>
          <a:xfrm>
            <a:off x="859536" y="3803904"/>
            <a:ext cx="1417320" cy="256032"/>
          </a:xfrm>
          <a:prstGeom prst="rect">
            <a:avLst/>
          </a:prstGeom>
          <a:noFill/>
          <a:ln/>
        </p:spPr>
        <p:txBody>
          <a:bodyPr wrap="square" lIns="0" tIns="0" rIns="0" bIns="0" rtlCol="0" anchor="ctr"/>
          <a:lstStyle/>
          <a:p>
            <a:pPr indent="0" marL="0">
              <a:buNone/>
            </a:pPr>
            <a:r>
              <a:rPr lang="en-US" sz="1200" b="1" dirty="0">
                <a:solidFill>
                  <a:srgbClr val="134074"/>
                </a:solidFill>
                <a:latin typeface="Asap" pitchFamily="34" charset="0"/>
                <a:ea typeface="Asap" pitchFamily="34" charset="-122"/>
                <a:cs typeface="Asap" pitchFamily="34" charset="-120"/>
              </a:rPr>
              <a:t>Excel import</a:t>
            </a:r>
            <a:endParaRPr lang="en-US" sz="1200" dirty="0"/>
          </a:p>
        </p:txBody>
      </p:sp>
      <p:sp>
        <p:nvSpPr>
          <p:cNvPr id="13" name="Text 11"/>
          <p:cNvSpPr/>
          <p:nvPr/>
        </p:nvSpPr>
        <p:spPr>
          <a:xfrm>
            <a:off x="2350008" y="3776472"/>
            <a:ext cx="2331720" cy="603504"/>
          </a:xfrm>
          <a:prstGeom prst="rect">
            <a:avLst/>
          </a:prstGeom>
          <a:noFill/>
          <a:ln/>
        </p:spPr>
        <p:txBody>
          <a:bodyPr wrap="square" lIns="0" tIns="0" rIns="0" bIns="0" rtlCol="0" anchor="ctr"/>
          <a:lstStyle/>
          <a:p>
            <a:pPr indent="0" marL="0">
              <a:lnSpc>
                <a:spcPct val="110000"/>
              </a:lnSpc>
              <a:buNone/>
            </a:pPr>
            <a:r>
              <a:rPr lang="en-US" sz="1000" dirty="0">
                <a:solidFill>
                  <a:srgbClr val="5C6B63"/>
                </a:solidFill>
                <a:latin typeface="Asap" pitchFamily="34" charset="0"/>
                <a:ea typeface="Asap" pitchFamily="34" charset="-122"/>
                <a:cs typeface="Asap" pitchFamily="34" charset="-120"/>
              </a:rPr>
              <a:t>Download template → upload → validate → apply → cancel</a:t>
            </a:r>
            <a:endParaRPr lang="en-US" sz="1000" dirty="0"/>
          </a:p>
        </p:txBody>
      </p:sp>
      <p:sp>
        <p:nvSpPr>
          <p:cNvPr id="14" name="Text 12"/>
          <p:cNvSpPr/>
          <p:nvPr/>
        </p:nvSpPr>
        <p:spPr>
          <a:xfrm>
            <a:off x="4791456" y="3776472"/>
            <a:ext cx="1481328" cy="603504"/>
          </a:xfrm>
          <a:prstGeom prst="rect">
            <a:avLst/>
          </a:prstGeom>
          <a:noFill/>
          <a:ln/>
        </p:spPr>
        <p:txBody>
          <a:bodyPr wrap="square" lIns="0" tIns="0" rIns="0" bIns="0" rtlCol="0" anchor="ctr"/>
          <a:lstStyle/>
          <a:p>
            <a:pPr indent="0" marL="0">
              <a:lnSpc>
                <a:spcPct val="110000"/>
              </a:lnSpc>
              <a:buNone/>
            </a:pPr>
            <a:r>
              <a:rPr lang="en-US" sz="1000" i="1" dirty="0">
                <a:solidFill>
                  <a:srgbClr val="B5561F"/>
                </a:solidFill>
                <a:latin typeface="Asap" pitchFamily="34" charset="0"/>
                <a:ea typeface="Asap" pitchFamily="34" charset="-122"/>
                <a:cs typeface="Asap" pitchFamily="34" charset="-120"/>
              </a:rPr>
              <a:t>Missing: Step-by-step import screen</a:t>
            </a:r>
            <a:endParaRPr lang="en-US" sz="1000" dirty="0"/>
          </a:p>
        </p:txBody>
      </p:sp>
      <p:sp>
        <p:nvSpPr>
          <p:cNvPr id="15" name="Text 13"/>
          <p:cNvSpPr/>
          <p:nvPr/>
        </p:nvSpPr>
        <p:spPr>
          <a:xfrm>
            <a:off x="859536" y="4590288"/>
            <a:ext cx="1417320" cy="256032"/>
          </a:xfrm>
          <a:prstGeom prst="rect">
            <a:avLst/>
          </a:prstGeom>
          <a:noFill/>
          <a:ln/>
        </p:spPr>
        <p:txBody>
          <a:bodyPr wrap="square" lIns="0" tIns="0" rIns="0" bIns="0" rtlCol="0" anchor="ctr"/>
          <a:lstStyle/>
          <a:p>
            <a:pPr indent="0" marL="0">
              <a:buNone/>
            </a:pPr>
            <a:r>
              <a:rPr lang="en-US" sz="1200" b="1" dirty="0">
                <a:solidFill>
                  <a:srgbClr val="134074"/>
                </a:solidFill>
                <a:latin typeface="Asap" pitchFamily="34" charset="0"/>
                <a:ea typeface="Asap" pitchFamily="34" charset="-122"/>
                <a:cs typeface="Asap" pitchFamily="34" charset="-120"/>
              </a:rPr>
              <a:t>Purchasing</a:t>
            </a:r>
            <a:endParaRPr lang="en-US" sz="1200" dirty="0"/>
          </a:p>
        </p:txBody>
      </p:sp>
      <p:sp>
        <p:nvSpPr>
          <p:cNvPr id="16" name="Text 14"/>
          <p:cNvSpPr/>
          <p:nvPr/>
        </p:nvSpPr>
        <p:spPr>
          <a:xfrm>
            <a:off x="2350008" y="4562856"/>
            <a:ext cx="2331720" cy="603504"/>
          </a:xfrm>
          <a:prstGeom prst="rect">
            <a:avLst/>
          </a:prstGeom>
          <a:noFill/>
          <a:ln/>
        </p:spPr>
        <p:txBody>
          <a:bodyPr wrap="square" lIns="0" tIns="0" rIns="0" bIns="0" rtlCol="0" anchor="ctr"/>
          <a:lstStyle/>
          <a:p>
            <a:pPr indent="0" marL="0">
              <a:lnSpc>
                <a:spcPct val="110000"/>
              </a:lnSpc>
              <a:buNone/>
            </a:pPr>
            <a:r>
              <a:rPr lang="en-US" sz="1000" dirty="0">
                <a:solidFill>
                  <a:srgbClr val="5C6B63"/>
                </a:solidFill>
                <a:latin typeface="Asap" pitchFamily="34" charset="0"/>
                <a:ea typeface="Asap" pitchFamily="34" charset="-122"/>
                <a:cs typeface="Asap" pitchFamily="34" charset="-120"/>
              </a:rPr>
              <a:t>Supplier → requisition → purchase order → goods receipt</a:t>
            </a:r>
            <a:endParaRPr lang="en-US" sz="1000" dirty="0"/>
          </a:p>
        </p:txBody>
      </p:sp>
      <p:sp>
        <p:nvSpPr>
          <p:cNvPr id="17" name="Text 15"/>
          <p:cNvSpPr/>
          <p:nvPr/>
        </p:nvSpPr>
        <p:spPr>
          <a:xfrm>
            <a:off x="4791456" y="4562856"/>
            <a:ext cx="1481328" cy="603504"/>
          </a:xfrm>
          <a:prstGeom prst="rect">
            <a:avLst/>
          </a:prstGeom>
          <a:noFill/>
          <a:ln/>
        </p:spPr>
        <p:txBody>
          <a:bodyPr wrap="square" lIns="0" tIns="0" rIns="0" bIns="0" rtlCol="0" anchor="ctr"/>
          <a:lstStyle/>
          <a:p>
            <a:pPr indent="0" marL="0">
              <a:lnSpc>
                <a:spcPct val="110000"/>
              </a:lnSpc>
              <a:buNone/>
            </a:pPr>
            <a:r>
              <a:rPr lang="en-US" sz="1000" i="1" dirty="0">
                <a:solidFill>
                  <a:srgbClr val="B5561F"/>
                </a:solidFill>
                <a:latin typeface="Asap" pitchFamily="34" charset="0"/>
                <a:ea typeface="Asap" pitchFamily="34" charset="-122"/>
                <a:cs typeface="Asap" pitchFamily="34" charset="-120"/>
              </a:rPr>
              <a:t>Missing: Purchasing workflow screens</a:t>
            </a:r>
            <a:endParaRPr lang="en-US" sz="1000" dirty="0"/>
          </a:p>
        </p:txBody>
      </p:sp>
      <p:sp>
        <p:nvSpPr>
          <p:cNvPr id="18" name="Text 16"/>
          <p:cNvSpPr/>
          <p:nvPr/>
        </p:nvSpPr>
        <p:spPr>
          <a:xfrm>
            <a:off x="859536" y="5138928"/>
            <a:ext cx="5221224" cy="457200"/>
          </a:xfrm>
          <a:prstGeom prst="rect">
            <a:avLst/>
          </a:prstGeom>
          <a:noFill/>
          <a:ln/>
        </p:spPr>
        <p:txBody>
          <a:bodyPr wrap="square" lIns="0" tIns="0" rIns="0" bIns="0" rtlCol="0" anchor="ctr"/>
          <a:lstStyle/>
          <a:p>
            <a:pPr indent="0" marL="0">
              <a:lnSpc>
                <a:spcPct val="115000"/>
              </a:lnSpc>
              <a:buNone/>
            </a:pPr>
            <a:r>
              <a:rPr lang="en-US" sz="1050" i="1" dirty="0">
                <a:solidFill>
                  <a:srgbClr val="134074"/>
                </a:solidFill>
                <a:latin typeface="Asap" pitchFamily="34" charset="0"/>
                <a:ea typeface="Asap" pitchFamily="34" charset="-122"/>
                <a:cs typeface="Asap" pitchFamily="34" charset="-120"/>
              </a:rPr>
              <a:t>The APIs run and are covered by tests — but without finished screens we keep them out of today’s scope.</a:t>
            </a:r>
            <a:endParaRPr lang="en-US" sz="1050" dirty="0"/>
          </a:p>
        </p:txBody>
      </p:sp>
      <p:sp>
        <p:nvSpPr>
          <p:cNvPr id="19" name="Shape 17"/>
          <p:cNvSpPr/>
          <p:nvPr/>
        </p:nvSpPr>
        <p:spPr>
          <a:xfrm>
            <a:off x="6739128" y="1572768"/>
            <a:ext cx="4885639" cy="4069080"/>
          </a:xfrm>
          <a:prstGeom prst="roundRect">
            <a:avLst>
              <a:gd name="adj" fmla="val 674"/>
            </a:avLst>
          </a:prstGeom>
          <a:solidFill>
            <a:srgbClr val="FFFFFF"/>
          </a:solidFill>
          <a:ln w="12700">
            <a:solidFill>
              <a:srgbClr val="FFFFFF"/>
            </a:solidFill>
            <a:prstDash val="solid"/>
          </a:ln>
        </p:spPr>
      </p:sp>
      <p:sp>
        <p:nvSpPr>
          <p:cNvPr id="20" name="Text 18"/>
          <p:cNvSpPr/>
          <p:nvPr/>
        </p:nvSpPr>
        <p:spPr>
          <a:xfrm>
            <a:off x="7031736" y="1810512"/>
            <a:ext cx="4300423" cy="274320"/>
          </a:xfrm>
          <a:prstGeom prst="rect">
            <a:avLst/>
          </a:prstGeom>
          <a:noFill/>
          <a:ln/>
        </p:spPr>
        <p:txBody>
          <a:bodyPr wrap="square" lIns="0" tIns="0" rIns="0" bIns="0" rtlCol="0" anchor="ctr"/>
          <a:lstStyle/>
          <a:p>
            <a:pPr indent="0" marL="0">
              <a:buNone/>
            </a:pPr>
            <a:r>
              <a:rPr lang="en-US" sz="1050" b="1" spc="110" kern="0" dirty="0">
                <a:solidFill>
                  <a:srgbClr val="8DA9C4"/>
                </a:solidFill>
                <a:latin typeface="Asap" pitchFamily="34" charset="0"/>
                <a:ea typeface="Asap" pitchFamily="34" charset="-122"/>
                <a:cs typeface="Asap" pitchFamily="34" charset="-120"/>
              </a:rPr>
              <a:t>GROUP B — NOT BUILT YET, PLANNED FOR CAPSTONE 3</a:t>
            </a:r>
            <a:endParaRPr lang="en-US" sz="1050" dirty="0"/>
          </a:p>
        </p:txBody>
      </p:sp>
      <p:sp>
        <p:nvSpPr>
          <p:cNvPr id="21" name="Shape 19"/>
          <p:cNvSpPr/>
          <p:nvPr/>
        </p:nvSpPr>
        <p:spPr>
          <a:xfrm>
            <a:off x="7031736" y="2231136"/>
            <a:ext cx="365760" cy="365760"/>
          </a:xfrm>
          <a:prstGeom prst="roundRect">
            <a:avLst>
              <a:gd name="adj" fmla="val 17500"/>
            </a:avLst>
          </a:prstGeom>
          <a:solidFill>
            <a:srgbClr val="134074"/>
          </a:solidFill>
          <a:ln w="6350">
            <a:solidFill>
              <a:srgbClr val="134074"/>
            </a:solidFill>
            <a:prstDash val="solid"/>
          </a:ln>
        </p:spPr>
      </p:sp>
      <p:sp>
        <p:nvSpPr>
          <p:cNvPr id="22" name="Text 20"/>
          <p:cNvSpPr/>
          <p:nvPr/>
        </p:nvSpPr>
        <p:spPr>
          <a:xfrm>
            <a:off x="7031736" y="22311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sap" pitchFamily="34" charset="0"/>
                <a:ea typeface="Asap" pitchFamily="34" charset="-122"/>
                <a:cs typeface="Asap" pitchFamily="34" charset="-120"/>
              </a:rPr>
              <a:t>1</a:t>
            </a:r>
            <a:endParaRPr lang="en-US" sz="1400" dirty="0"/>
          </a:p>
        </p:txBody>
      </p:sp>
      <p:sp>
        <p:nvSpPr>
          <p:cNvPr id="23" name="Text 21"/>
          <p:cNvSpPr/>
          <p:nvPr/>
        </p:nvSpPr>
        <p:spPr>
          <a:xfrm>
            <a:off x="7525512" y="2203704"/>
            <a:ext cx="3788359" cy="274320"/>
          </a:xfrm>
          <a:prstGeom prst="rect">
            <a:avLst/>
          </a:prstGeom>
          <a:noFill/>
          <a:ln/>
        </p:spPr>
        <p:txBody>
          <a:bodyPr wrap="square" lIns="0" tIns="0" rIns="0" bIns="0" rtlCol="0" anchor="ctr"/>
          <a:lstStyle/>
          <a:p>
            <a:pPr indent="0" marL="0">
              <a:buNone/>
            </a:pPr>
            <a:r>
              <a:rPr lang="en-US" sz="1200" b="1" dirty="0">
                <a:solidFill>
                  <a:srgbClr val="134074"/>
                </a:solidFill>
                <a:latin typeface="Asap" pitchFamily="34" charset="0"/>
                <a:ea typeface="Asap" pitchFamily="34" charset="-122"/>
                <a:cs typeface="Asap" pitchFamily="34" charset="-120"/>
              </a:rPr>
              <a:t>Finish purchasing + inbound supply</a:t>
            </a:r>
            <a:endParaRPr lang="en-US" sz="1200" dirty="0"/>
          </a:p>
        </p:txBody>
      </p:sp>
      <p:sp>
        <p:nvSpPr>
          <p:cNvPr id="24" name="Text 22"/>
          <p:cNvSpPr/>
          <p:nvPr/>
        </p:nvSpPr>
        <p:spPr>
          <a:xfrm>
            <a:off x="7525512" y="2468880"/>
            <a:ext cx="3788359" cy="384048"/>
          </a:xfrm>
          <a:prstGeom prst="rect">
            <a:avLst/>
          </a:prstGeom>
          <a:noFill/>
          <a:ln/>
        </p:spPr>
        <p:txBody>
          <a:bodyPr wrap="square" lIns="0" tIns="0" rIns="0" bIns="0" rtlCol="0" anchor="ctr"/>
          <a:lstStyle/>
          <a:p>
            <a:pPr indent="0" marL="0">
              <a:lnSpc>
                <a:spcPct val="110000"/>
              </a:lnSpc>
              <a:buNone/>
            </a:pPr>
            <a:r>
              <a:rPr lang="en-US" sz="1000" dirty="0">
                <a:solidFill>
                  <a:srgbClr val="5C6B63"/>
                </a:solidFill>
                <a:latin typeface="Asap" pitchFamily="34" charset="0"/>
                <a:ea typeface="Asap" pitchFamily="34" charset="-122"/>
                <a:cs typeface="Asap" pitchFamily="34" charset="-120"/>
              </a:rPr>
              <a:t>Closes the BUY proposal and sharpens every later planning figure</a:t>
            </a:r>
            <a:endParaRPr lang="en-US" sz="1000" dirty="0"/>
          </a:p>
        </p:txBody>
      </p:sp>
      <p:sp>
        <p:nvSpPr>
          <p:cNvPr id="25" name="Shape 23"/>
          <p:cNvSpPr/>
          <p:nvPr/>
        </p:nvSpPr>
        <p:spPr>
          <a:xfrm>
            <a:off x="7031736" y="2889504"/>
            <a:ext cx="365760" cy="365760"/>
          </a:xfrm>
          <a:prstGeom prst="roundRect">
            <a:avLst>
              <a:gd name="adj" fmla="val 17500"/>
            </a:avLst>
          </a:prstGeom>
          <a:solidFill>
            <a:srgbClr val="134074"/>
          </a:solidFill>
          <a:ln w="6350">
            <a:solidFill>
              <a:srgbClr val="134074"/>
            </a:solidFill>
            <a:prstDash val="solid"/>
          </a:ln>
        </p:spPr>
      </p:sp>
      <p:sp>
        <p:nvSpPr>
          <p:cNvPr id="26" name="Text 24"/>
          <p:cNvSpPr/>
          <p:nvPr/>
        </p:nvSpPr>
        <p:spPr>
          <a:xfrm>
            <a:off x="7031736" y="288950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sap" pitchFamily="34" charset="0"/>
                <a:ea typeface="Asap" pitchFamily="34" charset="-122"/>
                <a:cs typeface="Asap" pitchFamily="34" charset="-120"/>
              </a:rPr>
              <a:t>2</a:t>
            </a:r>
            <a:endParaRPr lang="en-US" sz="1400" dirty="0"/>
          </a:p>
        </p:txBody>
      </p:sp>
      <p:sp>
        <p:nvSpPr>
          <p:cNvPr id="27" name="Text 25"/>
          <p:cNvSpPr/>
          <p:nvPr/>
        </p:nvSpPr>
        <p:spPr>
          <a:xfrm>
            <a:off x="7525512" y="2862072"/>
            <a:ext cx="3788359" cy="274320"/>
          </a:xfrm>
          <a:prstGeom prst="rect">
            <a:avLst/>
          </a:prstGeom>
          <a:noFill/>
          <a:ln/>
        </p:spPr>
        <p:txBody>
          <a:bodyPr wrap="square" lIns="0" tIns="0" rIns="0" bIns="0" rtlCol="0" anchor="ctr"/>
          <a:lstStyle/>
          <a:p>
            <a:pPr indent="0" marL="0">
              <a:buNone/>
            </a:pPr>
            <a:r>
              <a:rPr lang="en-US" sz="1200" b="1" dirty="0">
                <a:solidFill>
                  <a:srgbClr val="134074"/>
                </a:solidFill>
                <a:latin typeface="Asap" pitchFamily="34" charset="0"/>
                <a:ea typeface="Asap" pitchFamily="34" charset="-122"/>
                <a:cs typeface="Asap" pitchFamily="34" charset="-120"/>
              </a:rPr>
              <a:t>Delivery, invoicing, receivables</a:t>
            </a:r>
            <a:endParaRPr lang="en-US" sz="1200" dirty="0"/>
          </a:p>
        </p:txBody>
      </p:sp>
      <p:sp>
        <p:nvSpPr>
          <p:cNvPr id="28" name="Text 26"/>
          <p:cNvSpPr/>
          <p:nvPr/>
        </p:nvSpPr>
        <p:spPr>
          <a:xfrm>
            <a:off x="7525512" y="3127248"/>
            <a:ext cx="3788359" cy="384048"/>
          </a:xfrm>
          <a:prstGeom prst="rect">
            <a:avLst/>
          </a:prstGeom>
          <a:noFill/>
          <a:ln/>
        </p:spPr>
        <p:txBody>
          <a:bodyPr wrap="square" lIns="0" tIns="0" rIns="0" bIns="0" rtlCol="0" anchor="ctr"/>
          <a:lstStyle/>
          <a:p>
            <a:pPr indent="0" marL="0">
              <a:lnSpc>
                <a:spcPct val="110000"/>
              </a:lnSpc>
              <a:buNone/>
            </a:pPr>
            <a:r>
              <a:rPr lang="en-US" sz="1000" dirty="0">
                <a:solidFill>
                  <a:srgbClr val="5C6B63"/>
                </a:solidFill>
                <a:latin typeface="Asap" pitchFamily="34" charset="0"/>
                <a:ea typeface="Asap" pitchFamily="34" charset="-122"/>
                <a:cs typeface="Asap" pitchFamily="34" charset="-120"/>
              </a:rPr>
              <a:t>Closes the sales loop after production</a:t>
            </a:r>
            <a:endParaRPr lang="en-US" sz="1000" dirty="0"/>
          </a:p>
        </p:txBody>
      </p:sp>
      <p:sp>
        <p:nvSpPr>
          <p:cNvPr id="29" name="Shape 27"/>
          <p:cNvSpPr/>
          <p:nvPr/>
        </p:nvSpPr>
        <p:spPr>
          <a:xfrm>
            <a:off x="7031736" y="3547872"/>
            <a:ext cx="365760" cy="365760"/>
          </a:xfrm>
          <a:prstGeom prst="roundRect">
            <a:avLst>
              <a:gd name="adj" fmla="val 17500"/>
            </a:avLst>
          </a:prstGeom>
          <a:solidFill>
            <a:srgbClr val="134074"/>
          </a:solidFill>
          <a:ln w="6350">
            <a:solidFill>
              <a:srgbClr val="134074"/>
            </a:solidFill>
            <a:prstDash val="solid"/>
          </a:ln>
        </p:spPr>
      </p:sp>
      <p:sp>
        <p:nvSpPr>
          <p:cNvPr id="30" name="Text 28"/>
          <p:cNvSpPr/>
          <p:nvPr/>
        </p:nvSpPr>
        <p:spPr>
          <a:xfrm>
            <a:off x="7031736" y="354787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sap" pitchFamily="34" charset="0"/>
                <a:ea typeface="Asap" pitchFamily="34" charset="-122"/>
                <a:cs typeface="Asap" pitchFamily="34" charset="-120"/>
              </a:rPr>
              <a:t>3</a:t>
            </a:r>
            <a:endParaRPr lang="en-US" sz="1400" dirty="0"/>
          </a:p>
        </p:txBody>
      </p:sp>
      <p:sp>
        <p:nvSpPr>
          <p:cNvPr id="31" name="Text 29"/>
          <p:cNvSpPr/>
          <p:nvPr/>
        </p:nvSpPr>
        <p:spPr>
          <a:xfrm>
            <a:off x="7525512" y="3520440"/>
            <a:ext cx="3788359" cy="274320"/>
          </a:xfrm>
          <a:prstGeom prst="rect">
            <a:avLst/>
          </a:prstGeom>
          <a:noFill/>
          <a:ln/>
        </p:spPr>
        <p:txBody>
          <a:bodyPr wrap="square" lIns="0" tIns="0" rIns="0" bIns="0" rtlCol="0" anchor="ctr"/>
          <a:lstStyle/>
          <a:p>
            <a:pPr indent="0" marL="0">
              <a:buNone/>
            </a:pPr>
            <a:r>
              <a:rPr lang="en-US" sz="1200" b="1" dirty="0">
                <a:solidFill>
                  <a:srgbClr val="134074"/>
                </a:solidFill>
                <a:latin typeface="Asap" pitchFamily="34" charset="0"/>
                <a:ea typeface="Asap" pitchFamily="34" charset="-122"/>
                <a:cs typeface="Asap" pitchFamily="34" charset="-120"/>
              </a:rPr>
              <a:t>Costing &amp; variance analysis</a:t>
            </a:r>
            <a:endParaRPr lang="en-US" sz="1200" dirty="0"/>
          </a:p>
        </p:txBody>
      </p:sp>
      <p:sp>
        <p:nvSpPr>
          <p:cNvPr id="32" name="Text 30"/>
          <p:cNvSpPr/>
          <p:nvPr/>
        </p:nvSpPr>
        <p:spPr>
          <a:xfrm>
            <a:off x="7525512" y="3785616"/>
            <a:ext cx="3788359" cy="384048"/>
          </a:xfrm>
          <a:prstGeom prst="rect">
            <a:avLst/>
          </a:prstGeom>
          <a:noFill/>
          <a:ln/>
        </p:spPr>
        <p:txBody>
          <a:bodyPr wrap="square" lIns="0" tIns="0" rIns="0" bIns="0" rtlCol="0" anchor="ctr"/>
          <a:lstStyle/>
          <a:p>
            <a:pPr indent="0" marL="0">
              <a:lnSpc>
                <a:spcPct val="110000"/>
              </a:lnSpc>
              <a:buNone/>
            </a:pPr>
            <a:r>
              <a:rPr lang="en-US" sz="1000" dirty="0">
                <a:solidFill>
                  <a:srgbClr val="5C6B63"/>
                </a:solidFill>
                <a:latin typeface="Asap" pitchFamily="34" charset="0"/>
                <a:ea typeface="Asap" pitchFamily="34" charset="-122"/>
                <a:cs typeface="Asap" pitchFamily="34" charset="-120"/>
              </a:rPr>
              <a:t>Quantity and time data is already captured — only unit prices are missing</a:t>
            </a:r>
            <a:endParaRPr lang="en-US" sz="1000" dirty="0"/>
          </a:p>
        </p:txBody>
      </p:sp>
      <p:sp>
        <p:nvSpPr>
          <p:cNvPr id="33" name="Shape 31"/>
          <p:cNvSpPr/>
          <p:nvPr/>
        </p:nvSpPr>
        <p:spPr>
          <a:xfrm>
            <a:off x="7031736" y="4206240"/>
            <a:ext cx="365760" cy="365760"/>
          </a:xfrm>
          <a:prstGeom prst="roundRect">
            <a:avLst>
              <a:gd name="adj" fmla="val 17500"/>
            </a:avLst>
          </a:prstGeom>
          <a:solidFill>
            <a:srgbClr val="134074"/>
          </a:solidFill>
          <a:ln w="6350">
            <a:solidFill>
              <a:srgbClr val="134074"/>
            </a:solidFill>
            <a:prstDash val="solid"/>
          </a:ln>
        </p:spPr>
      </p:sp>
      <p:sp>
        <p:nvSpPr>
          <p:cNvPr id="34" name="Text 32"/>
          <p:cNvSpPr/>
          <p:nvPr/>
        </p:nvSpPr>
        <p:spPr>
          <a:xfrm>
            <a:off x="7031736" y="42062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sap" pitchFamily="34" charset="0"/>
                <a:ea typeface="Asap" pitchFamily="34" charset="-122"/>
                <a:cs typeface="Asap" pitchFamily="34" charset="-120"/>
              </a:rPr>
              <a:t>4</a:t>
            </a:r>
            <a:endParaRPr lang="en-US" sz="1400" dirty="0"/>
          </a:p>
        </p:txBody>
      </p:sp>
      <p:sp>
        <p:nvSpPr>
          <p:cNvPr id="35" name="Text 33"/>
          <p:cNvSpPr/>
          <p:nvPr/>
        </p:nvSpPr>
        <p:spPr>
          <a:xfrm>
            <a:off x="7525512" y="4178808"/>
            <a:ext cx="3788359" cy="274320"/>
          </a:xfrm>
          <a:prstGeom prst="rect">
            <a:avLst/>
          </a:prstGeom>
          <a:noFill/>
          <a:ln/>
        </p:spPr>
        <p:txBody>
          <a:bodyPr wrap="square" lIns="0" tIns="0" rIns="0" bIns="0" rtlCol="0" anchor="ctr"/>
          <a:lstStyle/>
          <a:p>
            <a:pPr indent="0" marL="0">
              <a:buNone/>
            </a:pPr>
            <a:r>
              <a:rPr lang="en-US" sz="1200" b="1" dirty="0">
                <a:solidFill>
                  <a:srgbClr val="134074"/>
                </a:solidFill>
                <a:latin typeface="Asap" pitchFamily="34" charset="0"/>
                <a:ea typeface="Asap" pitchFamily="34" charset="-122"/>
                <a:cs typeface="Asap" pitchFamily="34" charset="-120"/>
              </a:rPr>
              <a:t>Deeper quality management</a:t>
            </a:r>
            <a:endParaRPr lang="en-US" sz="1200" dirty="0"/>
          </a:p>
        </p:txBody>
      </p:sp>
      <p:sp>
        <p:nvSpPr>
          <p:cNvPr id="36" name="Text 34"/>
          <p:cNvSpPr/>
          <p:nvPr/>
        </p:nvSpPr>
        <p:spPr>
          <a:xfrm>
            <a:off x="7525512" y="4443984"/>
            <a:ext cx="3788359" cy="384048"/>
          </a:xfrm>
          <a:prstGeom prst="rect">
            <a:avLst/>
          </a:prstGeom>
          <a:noFill/>
          <a:ln/>
        </p:spPr>
        <p:txBody>
          <a:bodyPr wrap="square" lIns="0" tIns="0" rIns="0" bIns="0" rtlCol="0" anchor="ctr"/>
          <a:lstStyle/>
          <a:p>
            <a:pPr indent="0" marL="0">
              <a:lnSpc>
                <a:spcPct val="110000"/>
              </a:lnSpc>
              <a:buNone/>
            </a:pPr>
            <a:r>
              <a:rPr lang="en-US" sz="1000" dirty="0">
                <a:solidFill>
                  <a:srgbClr val="5C6B63"/>
                </a:solidFill>
                <a:latin typeface="Asap" pitchFamily="34" charset="0"/>
                <a:ea typeface="Asap" pitchFamily="34" charset="-122"/>
                <a:cs typeface="Asap" pitchFamily="34" charset="-120"/>
              </a:rPr>
              <a:t>A dedicated QC role and inspection sheets, extending today’s gate</a:t>
            </a:r>
            <a:endParaRPr lang="en-US" sz="1000" dirty="0"/>
          </a:p>
        </p:txBody>
      </p:sp>
      <p:sp>
        <p:nvSpPr>
          <p:cNvPr id="37" name="Shape 35"/>
          <p:cNvSpPr/>
          <p:nvPr/>
        </p:nvSpPr>
        <p:spPr>
          <a:xfrm>
            <a:off x="7031736" y="4864608"/>
            <a:ext cx="365760" cy="365760"/>
          </a:xfrm>
          <a:prstGeom prst="roundRect">
            <a:avLst>
              <a:gd name="adj" fmla="val 17500"/>
            </a:avLst>
          </a:prstGeom>
          <a:solidFill>
            <a:srgbClr val="134074"/>
          </a:solidFill>
          <a:ln w="6350">
            <a:solidFill>
              <a:srgbClr val="134074"/>
            </a:solidFill>
            <a:prstDash val="solid"/>
          </a:ln>
        </p:spPr>
      </p:sp>
      <p:sp>
        <p:nvSpPr>
          <p:cNvPr id="38" name="Text 36"/>
          <p:cNvSpPr/>
          <p:nvPr/>
        </p:nvSpPr>
        <p:spPr>
          <a:xfrm>
            <a:off x="7031736" y="486460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sap" pitchFamily="34" charset="0"/>
                <a:ea typeface="Asap" pitchFamily="34" charset="-122"/>
                <a:cs typeface="Asap" pitchFamily="34" charset="-120"/>
              </a:rPr>
              <a:t>5</a:t>
            </a:r>
            <a:endParaRPr lang="en-US" sz="1400" dirty="0"/>
          </a:p>
        </p:txBody>
      </p:sp>
      <p:sp>
        <p:nvSpPr>
          <p:cNvPr id="39" name="Text 37"/>
          <p:cNvSpPr/>
          <p:nvPr/>
        </p:nvSpPr>
        <p:spPr>
          <a:xfrm>
            <a:off x="7525512" y="4837176"/>
            <a:ext cx="3788359" cy="274320"/>
          </a:xfrm>
          <a:prstGeom prst="rect">
            <a:avLst/>
          </a:prstGeom>
          <a:noFill/>
          <a:ln/>
        </p:spPr>
        <p:txBody>
          <a:bodyPr wrap="square" lIns="0" tIns="0" rIns="0" bIns="0" rtlCol="0" anchor="ctr"/>
          <a:lstStyle/>
          <a:p>
            <a:pPr indent="0" marL="0">
              <a:buNone/>
            </a:pPr>
            <a:r>
              <a:rPr lang="en-US" sz="1200" b="1" dirty="0">
                <a:solidFill>
                  <a:srgbClr val="134074"/>
                </a:solidFill>
                <a:latin typeface="Asap" pitchFamily="34" charset="0"/>
                <a:ea typeface="Asap" pitchFamily="34" charset="-122"/>
                <a:cs typeface="Asap" pitchFamily="34" charset="-120"/>
              </a:rPr>
              <a:t>Machine integration, OEE, auto-scheduling</a:t>
            </a:r>
            <a:endParaRPr lang="en-US" sz="1200" dirty="0"/>
          </a:p>
        </p:txBody>
      </p:sp>
      <p:sp>
        <p:nvSpPr>
          <p:cNvPr id="40" name="Text 38"/>
          <p:cNvSpPr/>
          <p:nvPr/>
        </p:nvSpPr>
        <p:spPr>
          <a:xfrm>
            <a:off x="7525512" y="5102352"/>
            <a:ext cx="3788359" cy="384048"/>
          </a:xfrm>
          <a:prstGeom prst="rect">
            <a:avLst/>
          </a:prstGeom>
          <a:noFill/>
          <a:ln/>
        </p:spPr>
        <p:txBody>
          <a:bodyPr wrap="square" lIns="0" tIns="0" rIns="0" bIns="0" rtlCol="0" anchor="ctr"/>
          <a:lstStyle/>
          <a:p>
            <a:pPr indent="0" marL="0">
              <a:lnSpc>
                <a:spcPct val="110000"/>
              </a:lnSpc>
              <a:buNone/>
            </a:pPr>
            <a:r>
              <a:rPr lang="en-US" sz="1000" dirty="0">
                <a:solidFill>
                  <a:srgbClr val="5C6B63"/>
                </a:solidFill>
                <a:latin typeface="Asap" pitchFamily="34" charset="0"/>
                <a:ea typeface="Asap" pitchFamily="34" charset="-122"/>
                <a:cs typeface="Asap" pitchFamily="34" charset="-120"/>
              </a:rPr>
              <a:t>Built on a document layer that is already stable</a:t>
            </a:r>
            <a:endParaRPr lang="en-US" sz="1000" dirty="0"/>
          </a:p>
        </p:txBody>
      </p:sp>
      <p:sp>
        <p:nvSpPr>
          <p:cNvPr id="41" name="Shape 39"/>
          <p:cNvSpPr/>
          <p:nvPr/>
        </p:nvSpPr>
        <p:spPr>
          <a:xfrm>
            <a:off x="566928" y="5870448"/>
            <a:ext cx="11057839" cy="548640"/>
          </a:xfrm>
          <a:prstGeom prst="roundRect">
            <a:avLst>
              <a:gd name="adj" fmla="val 6667"/>
            </a:avLst>
          </a:prstGeom>
          <a:solidFill>
            <a:srgbClr val="134074"/>
          </a:solidFill>
          <a:ln w="6350">
            <a:solidFill>
              <a:srgbClr val="134074"/>
            </a:solidFill>
            <a:prstDash val="solid"/>
          </a:ln>
        </p:spPr>
      </p:sp>
      <p:sp>
        <p:nvSpPr>
          <p:cNvPr id="42" name="Text 40"/>
          <p:cNvSpPr/>
          <p:nvPr/>
        </p:nvSpPr>
        <p:spPr>
          <a:xfrm>
            <a:off x="841248" y="5870448"/>
            <a:ext cx="10509199" cy="548640"/>
          </a:xfrm>
          <a:prstGeom prst="rect">
            <a:avLst/>
          </a:prstGeom>
          <a:noFill/>
          <a:ln/>
        </p:spPr>
        <p:txBody>
          <a:bodyPr wrap="square" lIns="0" tIns="0" rIns="0" bIns="0" rtlCol="0" anchor="ctr"/>
          <a:lstStyle/>
          <a:p>
            <a:pPr indent="0" marL="0">
              <a:buNone/>
            </a:pPr>
            <a:r>
              <a:rPr lang="en-US" sz="1050" b="1" spc="140" kern="0" dirty="0">
                <a:solidFill>
                  <a:srgbClr val="8DA9C4"/>
                </a:solidFill>
                <a:latin typeface="Asap" pitchFamily="34" charset="0"/>
                <a:ea typeface="Asap" pitchFamily="34" charset="-122"/>
                <a:cs typeface="Asap" pitchFamily="34" charset="-120"/>
              </a:rPr>
              <a:t>NOW PLAYING   </a:t>
            </a:r>
            <a:pPr indent="0" marL="0">
              <a:buNone/>
            </a:pPr>
            <a:r>
              <a:rPr lang="en-US" sz="1300" dirty="0">
                <a:solidFill>
                  <a:srgbClr val="FFFFFF"/>
                </a:solidFill>
                <a:latin typeface="Asap" pitchFamily="34" charset="0"/>
                <a:ea typeface="Asap" pitchFamily="34" charset="-122"/>
                <a:cs typeface="Asap" pitchFamily="34" charset="-120"/>
              </a:rPr>
              <a:t>A 5-minute demo clip — the full run from a customer order to a quality-cleared finished lot.</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34074"/>
        </a:solidFill>
      </p:bgPr>
    </p:bg>
    <p:spTree>
      <p:nvGrpSpPr>
        <p:cNvPr id="1" name=""/>
        <p:cNvGrpSpPr/>
        <p:nvPr/>
      </p:nvGrpSpPr>
      <p:grpSpPr>
        <a:xfrm>
          <a:off x="0" y="0"/>
          <a:ext cx="0" cy="0"/>
          <a:chOff x="0" y="0"/>
          <a:chExt cx="0" cy="0"/>
        </a:xfrm>
      </p:grpSpPr>
      <p:sp>
        <p:nvSpPr>
          <p:cNvPr id="2" name="Text 0"/>
          <p:cNvSpPr/>
          <p:nvPr/>
        </p:nvSpPr>
        <p:spPr>
          <a:xfrm>
            <a:off x="1371600" y="1371600"/>
            <a:ext cx="9509760" cy="1143000"/>
          </a:xfrm>
          <a:prstGeom prst="rect">
            <a:avLst/>
          </a:prstGeom>
          <a:noFill/>
          <a:ln/>
        </p:spPr>
        <p:txBody>
          <a:bodyPr wrap="square" lIns="0" tIns="0" rIns="0" bIns="0" rtlCol="0" anchor="ctr"/>
          <a:lstStyle/>
          <a:p>
            <a:pPr indent="0" marL="0">
              <a:buNone/>
            </a:pPr>
            <a:r>
              <a:rPr lang="en-US" sz="5600" b="1" dirty="0">
                <a:solidFill>
                  <a:srgbClr val="FFFFFF"/>
                </a:solidFill>
                <a:latin typeface="Asap" pitchFamily="34" charset="0"/>
                <a:ea typeface="Asap" pitchFamily="34" charset="-122"/>
                <a:cs typeface="Asap" pitchFamily="34" charset="-120"/>
              </a:rPr>
              <a:t>Thank you</a:t>
            </a:r>
            <a:endParaRPr lang="en-US" sz="5600" dirty="0"/>
          </a:p>
        </p:txBody>
      </p:sp>
      <p:sp>
        <p:nvSpPr>
          <p:cNvPr id="3" name="Text 1"/>
          <p:cNvSpPr/>
          <p:nvPr/>
        </p:nvSpPr>
        <p:spPr>
          <a:xfrm>
            <a:off x="1371600" y="2514600"/>
            <a:ext cx="9509760" cy="411480"/>
          </a:xfrm>
          <a:prstGeom prst="rect">
            <a:avLst/>
          </a:prstGeom>
          <a:noFill/>
          <a:ln/>
        </p:spPr>
        <p:txBody>
          <a:bodyPr wrap="square" lIns="0" tIns="0" rIns="0" bIns="0" rtlCol="0" anchor="ctr"/>
          <a:lstStyle/>
          <a:p>
            <a:pPr indent="0" marL="0">
              <a:buNone/>
            </a:pPr>
            <a:r>
              <a:rPr lang="en-US" sz="1800" i="1" dirty="0">
                <a:solidFill>
                  <a:srgbClr val="8DA9C4"/>
                </a:solidFill>
                <a:latin typeface="Asap" pitchFamily="34" charset="0"/>
                <a:ea typeface="Asap" pitchFamily="34" charset="-122"/>
                <a:cs typeface="Asap" pitchFamily="34" charset="-120"/>
              </a:rPr>
              <a:t>OmniPlant — Manufacturing ERP  ·  Capstone 2</a:t>
            </a:r>
            <a:endParaRPr lang="en-US" sz="1800" dirty="0"/>
          </a:p>
        </p:txBody>
      </p:sp>
      <p:sp>
        <p:nvSpPr>
          <p:cNvPr id="4" name="Shape 2"/>
          <p:cNvSpPr/>
          <p:nvPr/>
        </p:nvSpPr>
        <p:spPr>
          <a:xfrm>
            <a:off x="1371600" y="3520440"/>
            <a:ext cx="365760" cy="365760"/>
          </a:xfrm>
          <a:prstGeom prst="roundRect">
            <a:avLst>
              <a:gd name="adj" fmla="val 17500"/>
            </a:avLst>
          </a:prstGeom>
          <a:solidFill>
            <a:srgbClr val="8DA9C4"/>
          </a:solidFill>
          <a:ln w="6350">
            <a:solidFill>
              <a:srgbClr val="8DA9C4"/>
            </a:solidFill>
            <a:prstDash val="solid"/>
          </a:ln>
        </p:spPr>
      </p:sp>
      <p:sp>
        <p:nvSpPr>
          <p:cNvPr id="5" name="Text 3"/>
          <p:cNvSpPr/>
          <p:nvPr/>
        </p:nvSpPr>
        <p:spPr>
          <a:xfrm>
            <a:off x="1371600" y="3520440"/>
            <a:ext cx="365760" cy="365760"/>
          </a:xfrm>
          <a:prstGeom prst="rect">
            <a:avLst/>
          </a:prstGeom>
          <a:noFill/>
          <a:ln/>
        </p:spPr>
        <p:txBody>
          <a:bodyPr wrap="square" lIns="0" tIns="0" rIns="0" bIns="0" rtlCol="0" anchor="ctr"/>
          <a:lstStyle/>
          <a:p>
            <a:pPr algn="ctr" indent="0" marL="0">
              <a:buNone/>
            </a:pPr>
            <a:r>
              <a:rPr lang="en-US" sz="1400" b="1" dirty="0">
                <a:solidFill>
                  <a:srgbClr val="134074"/>
                </a:solidFill>
                <a:latin typeface="Asap" pitchFamily="34" charset="0"/>
                <a:ea typeface="Asap" pitchFamily="34" charset="-122"/>
                <a:cs typeface="Asap" pitchFamily="34" charset="-120"/>
              </a:rPr>
              <a:t>1</a:t>
            </a:r>
            <a:endParaRPr lang="en-US" sz="1400" dirty="0"/>
          </a:p>
        </p:txBody>
      </p:sp>
      <p:sp>
        <p:nvSpPr>
          <p:cNvPr id="6" name="Text 4"/>
          <p:cNvSpPr/>
          <p:nvPr/>
        </p:nvSpPr>
        <p:spPr>
          <a:xfrm>
            <a:off x="1901952" y="3511296"/>
            <a:ext cx="8778240" cy="384048"/>
          </a:xfrm>
          <a:prstGeom prst="rect">
            <a:avLst/>
          </a:prstGeom>
          <a:noFill/>
          <a:ln/>
        </p:spPr>
        <p:txBody>
          <a:bodyPr wrap="square" lIns="0" tIns="0" rIns="0" bIns="0" rtlCol="0" anchor="ctr"/>
          <a:lstStyle/>
          <a:p>
            <a:pPr indent="0" marL="0">
              <a:buNone/>
            </a:pPr>
            <a:r>
              <a:rPr lang="en-US" sz="1600" dirty="0">
                <a:solidFill>
                  <a:srgbClr val="FFFFFF"/>
                </a:solidFill>
                <a:latin typeface="Asap" pitchFamily="34" charset="0"/>
                <a:ea typeface="Asap" pitchFamily="34" charset="-122"/>
                <a:cs typeface="Asap" pitchFamily="34" charset="-120"/>
              </a:rPr>
              <a:t>One complete production loop that actually runs</a:t>
            </a:r>
            <a:endParaRPr lang="en-US" sz="1600" dirty="0"/>
          </a:p>
        </p:txBody>
      </p:sp>
      <p:sp>
        <p:nvSpPr>
          <p:cNvPr id="7" name="Shape 5"/>
          <p:cNvSpPr/>
          <p:nvPr/>
        </p:nvSpPr>
        <p:spPr>
          <a:xfrm>
            <a:off x="1371600" y="4178808"/>
            <a:ext cx="365760" cy="365760"/>
          </a:xfrm>
          <a:prstGeom prst="roundRect">
            <a:avLst>
              <a:gd name="adj" fmla="val 17500"/>
            </a:avLst>
          </a:prstGeom>
          <a:solidFill>
            <a:srgbClr val="8DA9C4"/>
          </a:solidFill>
          <a:ln w="6350">
            <a:solidFill>
              <a:srgbClr val="8DA9C4"/>
            </a:solidFill>
            <a:prstDash val="solid"/>
          </a:ln>
        </p:spPr>
      </p:sp>
      <p:sp>
        <p:nvSpPr>
          <p:cNvPr id="8" name="Text 6"/>
          <p:cNvSpPr/>
          <p:nvPr/>
        </p:nvSpPr>
        <p:spPr>
          <a:xfrm>
            <a:off x="1371600" y="4178808"/>
            <a:ext cx="365760" cy="365760"/>
          </a:xfrm>
          <a:prstGeom prst="rect">
            <a:avLst/>
          </a:prstGeom>
          <a:noFill/>
          <a:ln/>
        </p:spPr>
        <p:txBody>
          <a:bodyPr wrap="square" lIns="0" tIns="0" rIns="0" bIns="0" rtlCol="0" anchor="ctr"/>
          <a:lstStyle/>
          <a:p>
            <a:pPr algn="ctr" indent="0" marL="0">
              <a:buNone/>
            </a:pPr>
            <a:r>
              <a:rPr lang="en-US" sz="1400" b="1" dirty="0">
                <a:solidFill>
                  <a:srgbClr val="134074"/>
                </a:solidFill>
                <a:latin typeface="Asap" pitchFamily="34" charset="0"/>
                <a:ea typeface="Asap" pitchFamily="34" charset="-122"/>
                <a:cs typeface="Asap" pitchFamily="34" charset="-120"/>
              </a:rPr>
              <a:t>2</a:t>
            </a:r>
            <a:endParaRPr lang="en-US" sz="1400" dirty="0"/>
          </a:p>
        </p:txBody>
      </p:sp>
      <p:sp>
        <p:nvSpPr>
          <p:cNvPr id="9" name="Text 7"/>
          <p:cNvSpPr/>
          <p:nvPr/>
        </p:nvSpPr>
        <p:spPr>
          <a:xfrm>
            <a:off x="1901952" y="4169664"/>
            <a:ext cx="8778240" cy="384048"/>
          </a:xfrm>
          <a:prstGeom prst="rect">
            <a:avLst/>
          </a:prstGeom>
          <a:noFill/>
          <a:ln/>
        </p:spPr>
        <p:txBody>
          <a:bodyPr wrap="square" lIns="0" tIns="0" rIns="0" bIns="0" rtlCol="0" anchor="ctr"/>
          <a:lstStyle/>
          <a:p>
            <a:pPr indent="0" marL="0">
              <a:buNone/>
            </a:pPr>
            <a:r>
              <a:rPr lang="en-US" sz="1600" dirty="0">
                <a:solidFill>
                  <a:srgbClr val="FFFFFF"/>
                </a:solidFill>
                <a:latin typeface="Asap" pitchFamily="34" charset="0"/>
                <a:ea typeface="Asap" pitchFamily="34" charset="-122"/>
                <a:cs typeface="Asap" pitchFamily="34" charset="-120"/>
              </a:rPr>
              <a:t>Enterprise-grade safeguards at small-factory scale</a:t>
            </a:r>
            <a:endParaRPr lang="en-US" sz="1600" dirty="0"/>
          </a:p>
        </p:txBody>
      </p:sp>
      <p:sp>
        <p:nvSpPr>
          <p:cNvPr id="10" name="Shape 8"/>
          <p:cNvSpPr/>
          <p:nvPr/>
        </p:nvSpPr>
        <p:spPr>
          <a:xfrm>
            <a:off x="1371600" y="4837176"/>
            <a:ext cx="365760" cy="365760"/>
          </a:xfrm>
          <a:prstGeom prst="roundRect">
            <a:avLst>
              <a:gd name="adj" fmla="val 17500"/>
            </a:avLst>
          </a:prstGeom>
          <a:solidFill>
            <a:srgbClr val="8DA9C4"/>
          </a:solidFill>
          <a:ln w="6350">
            <a:solidFill>
              <a:srgbClr val="8DA9C4"/>
            </a:solidFill>
            <a:prstDash val="solid"/>
          </a:ln>
        </p:spPr>
      </p:sp>
      <p:sp>
        <p:nvSpPr>
          <p:cNvPr id="11" name="Text 9"/>
          <p:cNvSpPr/>
          <p:nvPr/>
        </p:nvSpPr>
        <p:spPr>
          <a:xfrm>
            <a:off x="1371600" y="4837176"/>
            <a:ext cx="365760" cy="365760"/>
          </a:xfrm>
          <a:prstGeom prst="rect">
            <a:avLst/>
          </a:prstGeom>
          <a:noFill/>
          <a:ln/>
        </p:spPr>
        <p:txBody>
          <a:bodyPr wrap="square" lIns="0" tIns="0" rIns="0" bIns="0" rtlCol="0" anchor="ctr"/>
          <a:lstStyle/>
          <a:p>
            <a:pPr algn="ctr" indent="0" marL="0">
              <a:buNone/>
            </a:pPr>
            <a:r>
              <a:rPr lang="en-US" sz="1400" b="1" dirty="0">
                <a:solidFill>
                  <a:srgbClr val="134074"/>
                </a:solidFill>
                <a:latin typeface="Asap" pitchFamily="34" charset="0"/>
                <a:ea typeface="Asap" pitchFamily="34" charset="-122"/>
                <a:cs typeface="Asap" pitchFamily="34" charset="-120"/>
              </a:rPr>
              <a:t>3</a:t>
            </a:r>
            <a:endParaRPr lang="en-US" sz="1400" dirty="0"/>
          </a:p>
        </p:txBody>
      </p:sp>
      <p:sp>
        <p:nvSpPr>
          <p:cNvPr id="12" name="Text 10"/>
          <p:cNvSpPr/>
          <p:nvPr/>
        </p:nvSpPr>
        <p:spPr>
          <a:xfrm>
            <a:off x="1901952" y="4828032"/>
            <a:ext cx="8778240" cy="384048"/>
          </a:xfrm>
          <a:prstGeom prst="rect">
            <a:avLst/>
          </a:prstGeom>
          <a:noFill/>
          <a:ln/>
        </p:spPr>
        <p:txBody>
          <a:bodyPr wrap="square" lIns="0" tIns="0" rIns="0" bIns="0" rtlCol="0" anchor="ctr"/>
          <a:lstStyle/>
          <a:p>
            <a:pPr indent="0" marL="0">
              <a:buNone/>
            </a:pPr>
            <a:r>
              <a:rPr lang="en-US" sz="1600" dirty="0">
                <a:solidFill>
                  <a:srgbClr val="FFFFFF"/>
                </a:solidFill>
                <a:latin typeface="Asap" pitchFamily="34" charset="0"/>
                <a:ea typeface="Asap" pitchFamily="34" charset="-122"/>
                <a:cs typeface="Asap" pitchFamily="34" charset="-120"/>
              </a:rPr>
              <a:t>An unbroken chain of evidence from customer order to finished lot</a:t>
            </a:r>
            <a:endParaRPr lang="en-US" sz="1600" dirty="0"/>
          </a:p>
        </p:txBody>
      </p:sp>
      <p:sp>
        <p:nvSpPr>
          <p:cNvPr id="13" name="Text 11"/>
          <p:cNvSpPr/>
          <p:nvPr/>
        </p:nvSpPr>
        <p:spPr>
          <a:xfrm>
            <a:off x="1371600" y="5760720"/>
            <a:ext cx="9509760" cy="411480"/>
          </a:xfrm>
          <a:prstGeom prst="rect">
            <a:avLst/>
          </a:prstGeom>
          <a:noFill/>
          <a:ln/>
        </p:spPr>
        <p:txBody>
          <a:bodyPr wrap="square" lIns="0" tIns="0" rIns="0" bIns="0" rtlCol="0" anchor="ctr"/>
          <a:lstStyle/>
          <a:p>
            <a:pPr indent="0" marL="0">
              <a:buNone/>
            </a:pPr>
            <a:r>
              <a:rPr lang="en-US" sz="1500" b="1" dirty="0">
                <a:solidFill>
                  <a:srgbClr val="8DA9C4"/>
                </a:solidFill>
                <a:latin typeface="Asap" pitchFamily="34" charset="0"/>
                <a:ea typeface="Asap" pitchFamily="34" charset="-122"/>
                <a:cs typeface="Asap" pitchFamily="34" charset="-120"/>
              </a:rPr>
              <a:t>We are ready for your questions.</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OmniPlant Manufacturing ERP - Capstone 2</dc:title>
  <dc:subject>PptxGenJS Presentation</dc:subject>
  <dc:creator>OmniPlant Team</dc:creator>
  <cp:lastModifiedBy>OmniPlant Team</cp:lastModifiedBy>
  <cp:revision>1</cp:revision>
  <dcterms:created xsi:type="dcterms:W3CDTF">2026-08-22T09:56:51Z</dcterms:created>
  <dcterms:modified xsi:type="dcterms:W3CDTF">2026-08-22T09:56:51Z</dcterms:modified>
</cp:coreProperties>
</file>